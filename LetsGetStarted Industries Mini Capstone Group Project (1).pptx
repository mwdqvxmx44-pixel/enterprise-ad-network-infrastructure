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62" r:id="rId9"/>
    <p:sldId id="263" r:id="rId10"/>
    <p:sldId id="264" r:id="rId11"/>
    <p:sldId id="279" r:id="rId12"/>
    <p:sldId id="277" r:id="rId13"/>
    <p:sldId id="282" r:id="rId14"/>
    <p:sldId id="289" r:id="rId15"/>
    <p:sldId id="290" r:id="rId16"/>
    <p:sldId id="291" r:id="rId17"/>
    <p:sldId id="292" r:id="rId18"/>
    <p:sldId id="265" r:id="rId19"/>
    <p:sldId id="266" r:id="rId20"/>
    <p:sldId id="267" r:id="rId21"/>
    <p:sldId id="268" r:id="rId22"/>
    <p:sldId id="287" r:id="rId23"/>
    <p:sldId id="269" r:id="rId24"/>
    <p:sldId id="270" r:id="rId25"/>
    <p:sldId id="283" r:id="rId26"/>
    <p:sldId id="271" r:id="rId27"/>
    <p:sldId id="272" r:id="rId28"/>
    <p:sldId id="278" r:id="rId29"/>
    <p:sldId id="273" r:id="rId30"/>
    <p:sldId id="274" r:id="rId31"/>
    <p:sldId id="280" r:id="rId32"/>
    <p:sldId id="284" r:id="rId33"/>
    <p:sldId id="285" r:id="rId34"/>
    <p:sldId id="275" r:id="rId35"/>
    <p:sldId id="276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3BE98-481D-2D1D-736F-39A64AB10A0E}" v="3" dt="2026-05-05T23:26:08.399"/>
    <p1510:client id="{42896266-B95D-98B0-17D0-FCEB501559EA}" v="7" dt="2026-05-06T00:02:24.987"/>
    <p1510:client id="{92C92EAF-E37B-CDAB-6013-F06A34E6023B}" v="1" dt="2026-05-05T19:19:49.967"/>
    <p1510:client id="{B424A867-A50D-7583-F06F-6DAC7FEE1C92}" v="8" dt="2026-05-05T18:20:02.543"/>
    <p1510:client id="{D1A29526-397A-E6DF-FF4A-7F6548ED6D2F}" v="5" dt="2026-05-05T22:38:15.083"/>
    <p1510:client id="{DF9C3E5C-2302-FDB4-6285-6945DEC71CD1}" v="173" dt="2026-05-05T23:05:53.752"/>
    <p1510:client id="{E0CFEA31-D286-7AD3-1B35-EB55466C51B3}" v="97" dt="2026-05-05T23:00:00.415"/>
    <p1510:client id="{E925862C-2894-0E0D-7A46-4F3D1C21A955}" v="14" dt="2026-05-05T23:04:55.524"/>
    <p1510:client id="{F6C04A9B-5050-4AB9-949A-125CC7A8BE04}" v="42" dt="2026-05-05T18:01:31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76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7E77-EA3D-53D6-C83D-8142ABD0F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461FF-9CF2-5061-AD5A-840659CAF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D21A7-B1A8-B9EE-3736-3A3A988F8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40D42-06F2-FC78-404F-0581CD057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45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9F1E-811F-FC35-FA1E-DDDB0F820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3FC03-7148-F348-B0B0-26380AE90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DF724-1857-50FB-19F1-DA1F83953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AFFFC-ABB4-4ACD-061C-02E33738A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36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D166-DF65-B2DF-AEBF-631FAD82D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E69A3-F699-A1A9-5A8D-2AA4430B3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C35DC-720C-2926-B66C-779D6DFF6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66D45-7733-CCFB-A26A-C00318BEF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99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929E6-2355-827D-85D7-0CBBBEA2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883BC-F6D0-E7A9-C842-8451AFFF4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C484D-2039-6626-F459-ADA02F818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CCA31-48D0-D345-FD77-889DBD2D6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17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903C5-1B5C-2991-1583-D69E70F5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1F98D-8948-B3A4-BD5C-F055EBCA1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E2EC0-4706-FEDE-619C-B5C1CE394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33B79-3A6B-BBBC-2347-33361FD29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03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F9EE-B681-87B7-30FE-0BB05D63B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EECAB-79A9-96F1-9849-72E4B1A4A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6B3A5-88CD-78E7-4D67-EC6F373E4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C226A-FE16-7A5C-EF52-3C04E0940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47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B6BF7-9436-082E-0E67-4A264AEA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4B78B-30AD-7CC2-6CE2-1EC04C3E1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AB82D-65D7-7BA0-70A9-69075A845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795A7-A9EC-AAB5-AC70-8BC0494E9B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71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75F0-6757-1F5F-5F99-6F573E85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8962F-D262-A3CC-7775-D24F4F7C0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1A631-7D15-0730-76C7-BC6AB940E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7C79A-2D73-8E97-1094-62D9C04A50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49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3C3D1-65AB-B5FC-5645-68DCEA0BE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187A8-9D78-CDD9-2401-AA399F07F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DD4CC-3099-C958-D11D-813AC36C3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7A867-D15A-BCE8-FA45-2C10B063E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824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2B76E-ECE0-896D-F13E-50E8C6A1F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1C2D5-FF6B-BA6C-2367-7B9C3D75B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27C01-63E1-C742-AB45-C0A077024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7F89-2753-8B73-3FCC-EA0C0B1AA1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440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5ACA8-5180-D3D7-7086-1F71A30C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9C126-32E8-1160-F6AE-A97E86CF7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19FD9-0DD8-E14F-88E6-C2D1A0108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BEC98-4A49-7DBA-95C1-8B05124DF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959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6B6E4-7BC7-8C7C-592D-C358B28E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F8A4B-418C-8980-41EC-023CD1479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EFD3E-522A-A02C-748E-D46CBC8B2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43CB6-D93D-C80D-53D5-A26816B79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402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308F2-0120-2183-C09E-D8671768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D41C5-D003-3692-E60A-FF141163D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68086-D759-ED67-64C6-65B9E8D89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5FF3E-4999-05D7-7436-DE6C19D256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075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6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12" Type="http://schemas.openxmlformats.org/officeDocument/2006/relationships/image" Target="../media/image3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5" Type="http://schemas.openxmlformats.org/officeDocument/2006/relationships/image" Target="../media/image38.sv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Relationship Id="rId14" Type="http://schemas.openxmlformats.org/officeDocument/2006/relationships/image" Target="../media/image3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svg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svg"/><Relationship Id="rId4" Type="http://schemas.openxmlformats.org/officeDocument/2006/relationships/image" Target="../media/image65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67.svg"/><Relationship Id="rId7" Type="http://schemas.openxmlformats.org/officeDocument/2006/relationships/image" Target="../media/image7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5" Type="http://schemas.openxmlformats.org/officeDocument/2006/relationships/image" Target="../media/image69.svg"/><Relationship Id="rId4" Type="http://schemas.openxmlformats.org/officeDocument/2006/relationships/image" Target="../media/image6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svg"/><Relationship Id="rId5" Type="http://schemas.openxmlformats.org/officeDocument/2006/relationships/image" Target="../media/image77.svg"/><Relationship Id="rId10" Type="http://schemas.openxmlformats.org/officeDocument/2006/relationships/image" Target="../media/image82.svg"/><Relationship Id="rId4" Type="http://schemas.openxmlformats.org/officeDocument/2006/relationships/image" Target="../media/image76.svg"/><Relationship Id="rId9" Type="http://schemas.openxmlformats.org/officeDocument/2006/relationships/image" Target="../media/image8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3" Type="http://schemas.openxmlformats.org/officeDocument/2006/relationships/image" Target="../media/image85.svg"/><Relationship Id="rId7" Type="http://schemas.openxmlformats.org/officeDocument/2006/relationships/image" Target="../media/image8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svg"/><Relationship Id="rId11" Type="http://schemas.openxmlformats.org/officeDocument/2006/relationships/image" Target="../media/image93.svg"/><Relationship Id="rId5" Type="http://schemas.openxmlformats.org/officeDocument/2006/relationships/image" Target="../media/image87.svg"/><Relationship Id="rId10" Type="http://schemas.openxmlformats.org/officeDocument/2006/relationships/image" Target="../media/image92.svg"/><Relationship Id="rId4" Type="http://schemas.openxmlformats.org/officeDocument/2006/relationships/image" Target="../media/image86.svg"/><Relationship Id="rId9" Type="http://schemas.openxmlformats.org/officeDocument/2006/relationships/image" Target="../media/image9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svg"/><Relationship Id="rId13" Type="http://schemas.openxmlformats.org/officeDocument/2006/relationships/image" Target="../media/image104.svg"/><Relationship Id="rId3" Type="http://schemas.openxmlformats.org/officeDocument/2006/relationships/image" Target="../media/image94.svg"/><Relationship Id="rId7" Type="http://schemas.openxmlformats.org/officeDocument/2006/relationships/image" Target="../media/image98.svg"/><Relationship Id="rId12" Type="http://schemas.openxmlformats.org/officeDocument/2006/relationships/image" Target="../media/image103.svg"/><Relationship Id="rId17" Type="http://schemas.openxmlformats.org/officeDocument/2006/relationships/image" Target="../media/image108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0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svg"/><Relationship Id="rId11" Type="http://schemas.openxmlformats.org/officeDocument/2006/relationships/image" Target="../media/image102.svg"/><Relationship Id="rId5" Type="http://schemas.openxmlformats.org/officeDocument/2006/relationships/image" Target="../media/image96.svg"/><Relationship Id="rId15" Type="http://schemas.openxmlformats.org/officeDocument/2006/relationships/image" Target="../media/image106.svg"/><Relationship Id="rId10" Type="http://schemas.openxmlformats.org/officeDocument/2006/relationships/image" Target="../media/image101.svg"/><Relationship Id="rId4" Type="http://schemas.openxmlformats.org/officeDocument/2006/relationships/image" Target="../media/image95.svg"/><Relationship Id="rId9" Type="http://schemas.openxmlformats.org/officeDocument/2006/relationships/image" Target="../media/image100.svg"/><Relationship Id="rId14" Type="http://schemas.openxmlformats.org/officeDocument/2006/relationships/image" Target="../media/image10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sv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svg"/><Relationship Id="rId5" Type="http://schemas.openxmlformats.org/officeDocument/2006/relationships/image" Target="../media/image111.svg"/><Relationship Id="rId4" Type="http://schemas.openxmlformats.org/officeDocument/2006/relationships/image" Target="../media/image110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svg"/><Relationship Id="rId13" Type="http://schemas.openxmlformats.org/officeDocument/2006/relationships/image" Target="../media/image112.svg"/><Relationship Id="rId3" Type="http://schemas.openxmlformats.org/officeDocument/2006/relationships/image" Target="../media/image109.svg"/><Relationship Id="rId7" Type="http://schemas.openxmlformats.org/officeDocument/2006/relationships/image" Target="../media/image117.svg"/><Relationship Id="rId12" Type="http://schemas.openxmlformats.org/officeDocument/2006/relationships/image" Target="../media/image111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svg"/><Relationship Id="rId11" Type="http://schemas.openxmlformats.org/officeDocument/2006/relationships/image" Target="../media/image110.svg"/><Relationship Id="rId5" Type="http://schemas.openxmlformats.org/officeDocument/2006/relationships/image" Target="../media/image115.svg"/><Relationship Id="rId10" Type="http://schemas.openxmlformats.org/officeDocument/2006/relationships/image" Target="../media/image120.svg"/><Relationship Id="rId4" Type="http://schemas.openxmlformats.org/officeDocument/2006/relationships/image" Target="../media/image114.svg"/><Relationship Id="rId9" Type="http://schemas.openxmlformats.org/officeDocument/2006/relationships/image" Target="../media/image11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svg"/><Relationship Id="rId5" Type="http://schemas.openxmlformats.org/officeDocument/2006/relationships/image" Target="../media/image123.svg"/><Relationship Id="rId4" Type="http://schemas.openxmlformats.org/officeDocument/2006/relationships/image" Target="../media/image12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svg"/><Relationship Id="rId3" Type="http://schemas.openxmlformats.org/officeDocument/2006/relationships/image" Target="../media/image126.svg"/><Relationship Id="rId7" Type="http://schemas.openxmlformats.org/officeDocument/2006/relationships/image" Target="../media/image13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svg"/><Relationship Id="rId5" Type="http://schemas.openxmlformats.org/officeDocument/2006/relationships/image" Target="../media/image128.svg"/><Relationship Id="rId4" Type="http://schemas.openxmlformats.org/officeDocument/2006/relationships/image" Target="../media/image127.svg"/><Relationship Id="rId9" Type="http://schemas.openxmlformats.org/officeDocument/2006/relationships/image" Target="../media/image13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svg"/><Relationship Id="rId7" Type="http://schemas.openxmlformats.org/officeDocument/2006/relationships/image" Target="../media/image137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svg"/><Relationship Id="rId5" Type="http://schemas.openxmlformats.org/officeDocument/2006/relationships/image" Target="../media/image135.svg"/><Relationship Id="rId4" Type="http://schemas.openxmlformats.org/officeDocument/2006/relationships/image" Target="../media/image134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svg"/><Relationship Id="rId13" Type="http://schemas.openxmlformats.org/officeDocument/2006/relationships/image" Target="../media/image151.svg"/><Relationship Id="rId3" Type="http://schemas.openxmlformats.org/officeDocument/2006/relationships/image" Target="../media/image141.svg"/><Relationship Id="rId7" Type="http://schemas.openxmlformats.org/officeDocument/2006/relationships/image" Target="../media/image145.svg"/><Relationship Id="rId12" Type="http://schemas.openxmlformats.org/officeDocument/2006/relationships/image" Target="../media/image150.svg"/><Relationship Id="rId17" Type="http://schemas.openxmlformats.org/officeDocument/2006/relationships/image" Target="../media/image155.sv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5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svg"/><Relationship Id="rId11" Type="http://schemas.openxmlformats.org/officeDocument/2006/relationships/image" Target="../media/image149.svg"/><Relationship Id="rId5" Type="http://schemas.openxmlformats.org/officeDocument/2006/relationships/image" Target="../media/image143.svg"/><Relationship Id="rId15" Type="http://schemas.openxmlformats.org/officeDocument/2006/relationships/image" Target="../media/image153.svg"/><Relationship Id="rId10" Type="http://schemas.openxmlformats.org/officeDocument/2006/relationships/image" Target="../media/image148.svg"/><Relationship Id="rId4" Type="http://schemas.openxmlformats.org/officeDocument/2006/relationships/image" Target="../media/image142.svg"/><Relationship Id="rId9" Type="http://schemas.openxmlformats.org/officeDocument/2006/relationships/image" Target="../media/image147.svg"/><Relationship Id="rId14" Type="http://schemas.openxmlformats.org/officeDocument/2006/relationships/image" Target="../media/image152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svg"/><Relationship Id="rId3" Type="http://schemas.openxmlformats.org/officeDocument/2006/relationships/image" Target="../media/image156.svg"/><Relationship Id="rId7" Type="http://schemas.openxmlformats.org/officeDocument/2006/relationships/image" Target="../media/image160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svg"/><Relationship Id="rId5" Type="http://schemas.openxmlformats.org/officeDocument/2006/relationships/image" Target="../media/image158.svg"/><Relationship Id="rId4" Type="http://schemas.openxmlformats.org/officeDocument/2006/relationships/image" Target="../media/image15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628">
                  <a:alpha val="92000"/>
                </a:srgbClr>
              </a:gs>
              <a:gs pos="40000">
                <a:srgbClr val="0A1628">
                  <a:alpha val="70000"/>
                </a:srgbClr>
              </a:gs>
              <a:gs pos="60000">
                <a:srgbClr val="0A1628">
                  <a:alpha val="50000"/>
                </a:srgbClr>
              </a:gs>
              <a:gs pos="100000">
                <a:srgbClr val="0A1628">
                  <a:alpha val="75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15220" cy="2715220"/>
          </a:xfrm>
          <a:prstGeom prst="rect">
            <a:avLst/>
          </a:prstGeom>
          <a:gradFill rotWithShape="1">
            <a:gsLst>
              <a:gs pos="0">
                <a:srgbClr val="00B4D8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644729" y="2644229"/>
            <a:ext cx="2499271" cy="2499271"/>
          </a:xfrm>
          <a:prstGeom prst="rect">
            <a:avLst/>
          </a:prstGeom>
          <a:gradFill rotWithShape="1">
            <a:gsLst>
              <a:gs pos="0">
                <a:srgbClr val="00B4D8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alphaModFix amt="3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0280" y="571500"/>
            <a:ext cx="1572220" cy="15722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491" y="1618506"/>
            <a:ext cx="2002304" cy="205680"/>
          </a:xfrm>
          <a:prstGeom prst="roundRect">
            <a:avLst>
              <a:gd name="adj" fmla="val 14202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30000"/>
              </a:srgbClr>
            </a:solidFill>
          </a:ln>
        </p:spPr>
        <p:txBody>
          <a:bodyPr wrap="none" lIns="271760" tIns="43180" rIns="114300" bIns="43180" rtlCol="0" anchor="ctr"/>
          <a:lstStyle/>
          <a:p>
            <a:pPr marL="0" indent="0" algn="l">
              <a:buNone/>
            </a:pPr>
            <a:r>
              <a:rPr lang="en-US" sz="680" kern="0" spc="17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 PROJECT</a:t>
            </a:r>
            <a:endParaRPr lang="en-US" sz="68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177" y="1655052"/>
            <a:ext cx="132588" cy="132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491" y="2024807"/>
            <a:ext cx="8016198" cy="1023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839"/>
              </a:lnSpc>
              <a:buNone/>
            </a:pPr>
            <a:r>
              <a:rPr lang="en-US" sz="3490" kern="0" spc="-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LetsGetStarted</a:t>
            </a:r>
            <a:br/>
            <a:r>
              <a:rPr lang="en-US" sz="3490" kern="0" spc="-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Industries</a:t>
            </a:r>
            <a:endParaRPr lang="en-US" sz="3490"/>
          </a:p>
        </p:txBody>
      </p:sp>
      <p:sp>
        <p:nvSpPr>
          <p:cNvPr id="9" name="Text 5"/>
          <p:cNvSpPr/>
          <p:nvPr/>
        </p:nvSpPr>
        <p:spPr>
          <a:xfrm>
            <a:off x="642491" y="3242072"/>
            <a:ext cx="571500" cy="13841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2491" y="3427363"/>
            <a:ext cx="534352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>
                <a:solidFill>
                  <a:srgbClr val="8899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Infrastructure Design &amp; Implementation</a:t>
            </a:r>
            <a:endParaRPr lang="en-US" sz="1350"/>
          </a:p>
        </p:txBody>
      </p:sp>
      <p:sp>
        <p:nvSpPr>
          <p:cNvPr id="11" name="Text 7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80000">
                <a:srgbClr val="00B4D8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0" y="0"/>
            <a:ext cx="29170" cy="228600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0" y="4800600"/>
            <a:ext cx="9144000" cy="9525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2491" y="4924425"/>
            <a:ext cx="521010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 kern="0" spc="8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1772</a:t>
            </a:r>
            <a:r>
              <a:rPr lang="en-US" sz="730" kern="0" spc="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NETWORKING I | COLUMBUS STATE COMMUNITY COLLEGE | MAY 5, 2026</a:t>
            </a:r>
            <a:endParaRPr lang="en-US" sz="730"/>
          </a:p>
        </p:txBody>
      </p:sp>
      <p:sp>
        <p:nvSpPr>
          <p:cNvPr id="16" name="Text 12"/>
          <p:cNvSpPr/>
          <p:nvPr/>
        </p:nvSpPr>
        <p:spPr>
          <a:xfrm>
            <a:off x="8199388" y="4955232"/>
            <a:ext cx="43160" cy="43160"/>
          </a:xfrm>
          <a:prstGeom prst="ellipse">
            <a:avLst/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85708" y="4955232"/>
            <a:ext cx="43160" cy="43160"/>
          </a:xfrm>
          <a:prstGeom prst="ellipse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372029" y="4955232"/>
            <a:ext cx="43160" cy="43160"/>
          </a:xfrm>
          <a:prstGeom prst="ellipse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8458349" y="4955232"/>
            <a:ext cx="43160" cy="43160"/>
          </a:xfrm>
          <a:prstGeom prst="ellipse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0"/>
            <a:ext cx="2857500" cy="2857500"/>
          </a:xfrm>
          <a:prstGeom prst="ellipse">
            <a:avLst/>
          </a:prstGeom>
          <a:gradFill rotWithShape="1">
            <a:gsLst>
              <a:gs pos="0">
                <a:srgbClr val="00B4D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3001118"/>
            <a:ext cx="2499230" cy="2142382"/>
          </a:xfrm>
          <a:prstGeom prst="ellipse">
            <a:avLst/>
          </a:prstGeom>
          <a:gradFill rotWithShape="1">
            <a:gsLst>
              <a:gs pos="0">
                <a:srgbClr val="00B4D8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23875" y="1159818"/>
            <a:ext cx="29170" cy="628353"/>
          </a:xfrm>
          <a:custGeom>
            <a:avLst/>
            <a:gdLst/>
            <a:ahLst/>
            <a:cxnLst/>
            <a:rect l="l" t="t" r="r" b="b"/>
            <a:pathLst>
              <a:path w="29170" h="628353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598751"/>
                </a:lnTo>
                <a:lnTo>
                  <a:pt x="25524" y="594882"/>
                </a:lnTo>
                <a:lnTo>
                  <a:pt x="21878" y="590564"/>
                </a:lnTo>
                <a:lnTo>
                  <a:pt x="18231" y="585694"/>
                </a:lnTo>
                <a:lnTo>
                  <a:pt x="14585" y="580118"/>
                </a:lnTo>
                <a:lnTo>
                  <a:pt x="10939" y="573579"/>
                </a:lnTo>
                <a:lnTo>
                  <a:pt x="7293" y="565575"/>
                </a:lnTo>
                <a:lnTo>
                  <a:pt x="3646" y="554825"/>
                </a:lnTo>
                <a:lnTo>
                  <a:pt x="0" y="528023"/>
                </a:lnTo>
                <a:close/>
              </a:path>
            </a:pathLst>
          </a:custGeom>
          <a:solidFill>
            <a:srgbClr val="00B4D8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3875" y="1907530"/>
            <a:ext cx="29170" cy="628353"/>
          </a:xfrm>
          <a:custGeom>
            <a:avLst/>
            <a:gdLst/>
            <a:ahLst/>
            <a:cxnLst/>
            <a:rect l="l" t="t" r="r" b="b"/>
            <a:pathLst>
              <a:path w="29170" h="628353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598751"/>
                </a:lnTo>
                <a:lnTo>
                  <a:pt x="25524" y="594882"/>
                </a:lnTo>
                <a:lnTo>
                  <a:pt x="21878" y="590564"/>
                </a:lnTo>
                <a:lnTo>
                  <a:pt x="18231" y="585694"/>
                </a:lnTo>
                <a:lnTo>
                  <a:pt x="14585" y="580118"/>
                </a:lnTo>
                <a:lnTo>
                  <a:pt x="10939" y="573579"/>
                </a:lnTo>
                <a:lnTo>
                  <a:pt x="7293" y="565575"/>
                </a:lnTo>
                <a:lnTo>
                  <a:pt x="3646" y="554825"/>
                </a:lnTo>
                <a:lnTo>
                  <a:pt x="0" y="528023"/>
                </a:lnTo>
                <a:close/>
              </a:path>
            </a:pathLst>
          </a:custGeom>
          <a:solidFill>
            <a:srgbClr val="00B4D8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3875" y="2655243"/>
            <a:ext cx="29170" cy="628353"/>
          </a:xfrm>
          <a:custGeom>
            <a:avLst/>
            <a:gdLst/>
            <a:ahLst/>
            <a:cxnLst/>
            <a:rect l="l" t="t" r="r" b="b"/>
            <a:pathLst>
              <a:path w="29170" h="628353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598751"/>
                </a:lnTo>
                <a:lnTo>
                  <a:pt x="25524" y="594882"/>
                </a:lnTo>
                <a:lnTo>
                  <a:pt x="21878" y="590564"/>
                </a:lnTo>
                <a:lnTo>
                  <a:pt x="18231" y="585694"/>
                </a:lnTo>
                <a:lnTo>
                  <a:pt x="14585" y="580118"/>
                </a:lnTo>
                <a:lnTo>
                  <a:pt x="10939" y="573579"/>
                </a:lnTo>
                <a:lnTo>
                  <a:pt x="7293" y="565575"/>
                </a:lnTo>
                <a:lnTo>
                  <a:pt x="3646" y="554825"/>
                </a:lnTo>
                <a:lnTo>
                  <a:pt x="0" y="528023"/>
                </a:lnTo>
                <a:close/>
              </a:path>
            </a:pathLst>
          </a:custGeom>
          <a:solidFill>
            <a:srgbClr val="00B4D8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3875" y="3402955"/>
            <a:ext cx="29170" cy="628353"/>
          </a:xfrm>
          <a:custGeom>
            <a:avLst/>
            <a:gdLst/>
            <a:ahLst/>
            <a:cxnLst/>
            <a:rect l="l" t="t" r="r" b="b"/>
            <a:pathLst>
              <a:path w="29170" h="628353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598751"/>
                </a:lnTo>
                <a:lnTo>
                  <a:pt x="25524" y="594882"/>
                </a:lnTo>
                <a:lnTo>
                  <a:pt x="21878" y="590564"/>
                </a:lnTo>
                <a:lnTo>
                  <a:pt x="18231" y="585694"/>
                </a:lnTo>
                <a:lnTo>
                  <a:pt x="14585" y="580118"/>
                </a:lnTo>
                <a:lnTo>
                  <a:pt x="10939" y="573579"/>
                </a:lnTo>
                <a:lnTo>
                  <a:pt x="7293" y="565575"/>
                </a:lnTo>
                <a:lnTo>
                  <a:pt x="3646" y="554825"/>
                </a:lnTo>
                <a:lnTo>
                  <a:pt x="0" y="528023"/>
                </a:lnTo>
                <a:close/>
              </a:path>
            </a:pathLst>
          </a:custGeom>
          <a:solidFill>
            <a:srgbClr val="00B4D8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3875" y="4150668"/>
            <a:ext cx="29170" cy="628353"/>
          </a:xfrm>
          <a:custGeom>
            <a:avLst/>
            <a:gdLst/>
            <a:ahLst/>
            <a:cxnLst/>
            <a:rect l="l" t="t" r="r" b="b"/>
            <a:pathLst>
              <a:path w="29170" h="628353">
                <a:moveTo>
                  <a:pt x="0" y="100330"/>
                </a:moveTo>
                <a:lnTo>
                  <a:pt x="3646" y="73527"/>
                </a:lnTo>
                <a:lnTo>
                  <a:pt x="7293" y="62778"/>
                </a:lnTo>
                <a:lnTo>
                  <a:pt x="10939" y="54774"/>
                </a:lnTo>
                <a:lnTo>
                  <a:pt x="14585" y="48234"/>
                </a:lnTo>
                <a:lnTo>
                  <a:pt x="18231" y="42659"/>
                </a:lnTo>
                <a:lnTo>
                  <a:pt x="21878" y="37789"/>
                </a:lnTo>
                <a:lnTo>
                  <a:pt x="25524" y="33470"/>
                </a:lnTo>
                <a:lnTo>
                  <a:pt x="29170" y="29602"/>
                </a:lnTo>
                <a:lnTo>
                  <a:pt x="29170" y="598751"/>
                </a:lnTo>
                <a:lnTo>
                  <a:pt x="25524" y="594882"/>
                </a:lnTo>
                <a:lnTo>
                  <a:pt x="21878" y="590564"/>
                </a:lnTo>
                <a:lnTo>
                  <a:pt x="18231" y="585694"/>
                </a:lnTo>
                <a:lnTo>
                  <a:pt x="14585" y="580118"/>
                </a:lnTo>
                <a:lnTo>
                  <a:pt x="10939" y="573579"/>
                </a:lnTo>
                <a:lnTo>
                  <a:pt x="7293" y="565575"/>
                </a:lnTo>
                <a:lnTo>
                  <a:pt x="3646" y="554825"/>
                </a:lnTo>
                <a:lnTo>
                  <a:pt x="0" y="528023"/>
                </a:lnTo>
                <a:close/>
              </a:path>
            </a:pathLst>
          </a:custGeom>
          <a:solidFill>
            <a:srgbClr val="00B4D8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4350" y="400050"/>
            <a:ext cx="892683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 kern="0" spc="17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730"/>
          </a:p>
        </p:txBody>
      </p:sp>
      <p:sp>
        <p:nvSpPr>
          <p:cNvPr id="10" name="Text 8"/>
          <p:cNvSpPr/>
          <p:nvPr/>
        </p:nvSpPr>
        <p:spPr>
          <a:xfrm>
            <a:off x="514350" y="575816"/>
            <a:ext cx="8683371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buNone/>
            </a:pPr>
            <a:r>
              <a:rPr lang="en-US" sz="2140" kern="0" spc="-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Company Overview</a:t>
            </a:r>
            <a:endParaRPr lang="en-US" sz="2140"/>
          </a:p>
        </p:txBody>
      </p:sp>
      <p:sp>
        <p:nvSpPr>
          <p:cNvPr id="11" name="Text 9"/>
          <p:cNvSpPr/>
          <p:nvPr/>
        </p:nvSpPr>
        <p:spPr>
          <a:xfrm>
            <a:off x="514350" y="988516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4350" y="1150293"/>
            <a:ext cx="8115300" cy="647402"/>
          </a:xfrm>
          <a:prstGeom prst="roundRect">
            <a:avLst>
              <a:gd name="adj" fmla="val 1549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4495" y="1287959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811" y="1381274"/>
            <a:ext cx="185291" cy="18529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54026" y="1383804"/>
            <a:ext cx="4192965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21"/>
              </a:lnSpc>
              <a:buNone/>
            </a:pP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company generating </a:t>
            </a:r>
            <a:r>
              <a:rPr lang="en-US" sz="98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million</a:t>
            </a: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gross annual revenues</a:t>
            </a:r>
            <a:endParaRPr lang="en-US" sz="980"/>
          </a:p>
        </p:txBody>
      </p:sp>
      <p:sp>
        <p:nvSpPr>
          <p:cNvPr id="16" name="Text 13"/>
          <p:cNvSpPr/>
          <p:nvPr/>
        </p:nvSpPr>
        <p:spPr>
          <a:xfrm>
            <a:off x="514350" y="1898005"/>
            <a:ext cx="8115300" cy="647402"/>
          </a:xfrm>
          <a:prstGeom prst="roundRect">
            <a:avLst>
              <a:gd name="adj" fmla="val 1549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4495" y="2035671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11" y="2128986"/>
            <a:ext cx="185291" cy="18529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54026" y="2131516"/>
            <a:ext cx="4207699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21"/>
              </a:lnSpc>
              <a:buNone/>
            </a:pP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sells </a:t>
            </a:r>
            <a:r>
              <a:rPr lang="en-US" sz="98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systems, chips, parts,</a:t>
            </a: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8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</a:t>
            </a:r>
            <a:endParaRPr lang="en-US" sz="980"/>
          </a:p>
        </p:txBody>
      </p:sp>
      <p:sp>
        <p:nvSpPr>
          <p:cNvPr id="20" name="Text 16"/>
          <p:cNvSpPr/>
          <p:nvPr/>
        </p:nvSpPr>
        <p:spPr>
          <a:xfrm>
            <a:off x="514350" y="2645718"/>
            <a:ext cx="8115300" cy="647402"/>
          </a:xfrm>
          <a:prstGeom prst="roundRect">
            <a:avLst>
              <a:gd name="adj" fmla="val 1549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24495" y="2783384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811" y="2876699"/>
            <a:ext cx="185291" cy="18529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54026" y="2879229"/>
            <a:ext cx="489004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21"/>
              </a:lnSpc>
              <a:buNone/>
            </a:pP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major </a:t>
            </a:r>
            <a:r>
              <a:rPr lang="en-US" sz="98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</a:t>
            </a: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8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</a:t>
            </a: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companies to purchase parts</a:t>
            </a:r>
            <a:endParaRPr lang="en-US" sz="980"/>
          </a:p>
        </p:txBody>
      </p:sp>
      <p:sp>
        <p:nvSpPr>
          <p:cNvPr id="24" name="Text 19"/>
          <p:cNvSpPr/>
          <p:nvPr/>
        </p:nvSpPr>
        <p:spPr>
          <a:xfrm>
            <a:off x="514350" y="3393430"/>
            <a:ext cx="8115300" cy="647402"/>
          </a:xfrm>
          <a:prstGeom prst="roundRect">
            <a:avLst>
              <a:gd name="adj" fmla="val 1549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24495" y="3531096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7811" y="3624411"/>
            <a:ext cx="185291" cy="18529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54026" y="3626941"/>
            <a:ext cx="5562734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21"/>
              </a:lnSpc>
              <a:buNone/>
            </a:pP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headquarters in </a:t>
            </a:r>
            <a:r>
              <a:rPr lang="en-US" sz="98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Dallas, Texas</a:t>
            </a: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r>
              <a:rPr lang="en-US" sz="98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satellite offices</a:t>
            </a: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United States</a:t>
            </a:r>
            <a:endParaRPr lang="en-US" sz="980"/>
          </a:p>
        </p:txBody>
      </p:sp>
      <p:sp>
        <p:nvSpPr>
          <p:cNvPr id="28" name="Text 22"/>
          <p:cNvSpPr/>
          <p:nvPr/>
        </p:nvSpPr>
        <p:spPr>
          <a:xfrm>
            <a:off x="514350" y="4141143"/>
            <a:ext cx="8115300" cy="647402"/>
          </a:xfrm>
          <a:prstGeom prst="roundRect">
            <a:avLst>
              <a:gd name="adj" fmla="val 1549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24495" y="4278809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811" y="4372124"/>
            <a:ext cx="185291" cy="18529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54026" y="4374654"/>
            <a:ext cx="5871165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21"/>
              </a:lnSpc>
              <a:buNone/>
            </a:pPr>
            <a:r>
              <a:rPr lang="en-US" sz="98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employees</a:t>
            </a:r>
            <a:r>
              <a:rPr lang="en-US" sz="980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7 locations — each user is unique to their office with no duplication</a:t>
            </a:r>
            <a:endParaRPr lang="en-US" sz="9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90000" t="80000" r="1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3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10000" t="20000" r="9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6266" y="781645"/>
            <a:ext cx="4132059" cy="21580"/>
          </a:xfrm>
          <a:custGeom>
            <a:avLst/>
            <a:gdLst/>
            <a:ahLst/>
            <a:cxnLst/>
            <a:rect l="l" t="t" r="r" b="b"/>
            <a:pathLst>
              <a:path w="4132059" h="21580">
                <a:moveTo>
                  <a:pt x="100330" y="0"/>
                </a:moveTo>
                <a:lnTo>
                  <a:pt x="4031730" y="0"/>
                </a:lnTo>
                <a:lnTo>
                  <a:pt x="4054838" y="2698"/>
                </a:lnTo>
                <a:lnTo>
                  <a:pt x="4064187" y="5395"/>
                </a:lnTo>
                <a:lnTo>
                  <a:pt x="4071206" y="8093"/>
                </a:lnTo>
                <a:lnTo>
                  <a:pt x="4076992" y="10790"/>
                </a:lnTo>
                <a:lnTo>
                  <a:pt x="4081974" y="13488"/>
                </a:lnTo>
                <a:lnTo>
                  <a:pt x="4086371" y="16185"/>
                </a:lnTo>
                <a:lnTo>
                  <a:pt x="4090316" y="18883"/>
                </a:lnTo>
                <a:lnTo>
                  <a:pt x="4093895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45521" y="781645"/>
            <a:ext cx="4132212" cy="21580"/>
          </a:xfrm>
          <a:custGeom>
            <a:avLst/>
            <a:gdLst/>
            <a:ahLst/>
            <a:cxnLst/>
            <a:rect l="l" t="t" r="r" b="b"/>
            <a:pathLst>
              <a:path w="4132212" h="21580">
                <a:moveTo>
                  <a:pt x="100330" y="0"/>
                </a:moveTo>
                <a:lnTo>
                  <a:pt x="4031882" y="0"/>
                </a:lnTo>
                <a:lnTo>
                  <a:pt x="4054991" y="2698"/>
                </a:lnTo>
                <a:lnTo>
                  <a:pt x="4064339" y="5395"/>
                </a:lnTo>
                <a:lnTo>
                  <a:pt x="4071358" y="8093"/>
                </a:lnTo>
                <a:lnTo>
                  <a:pt x="4077145" y="10790"/>
                </a:lnTo>
                <a:lnTo>
                  <a:pt x="4082126" y="13488"/>
                </a:lnTo>
                <a:lnTo>
                  <a:pt x="4086524" y="16185"/>
                </a:lnTo>
                <a:lnTo>
                  <a:pt x="4090469" y="18883"/>
                </a:lnTo>
                <a:lnTo>
                  <a:pt x="4094047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6266" y="2902446"/>
            <a:ext cx="4132059" cy="21580"/>
          </a:xfrm>
          <a:custGeom>
            <a:avLst/>
            <a:gdLst/>
            <a:ahLst/>
            <a:cxnLst/>
            <a:rect l="l" t="t" r="r" b="b"/>
            <a:pathLst>
              <a:path w="4132059" h="21580">
                <a:moveTo>
                  <a:pt x="100330" y="0"/>
                </a:moveTo>
                <a:lnTo>
                  <a:pt x="4031730" y="0"/>
                </a:lnTo>
                <a:lnTo>
                  <a:pt x="4054838" y="2698"/>
                </a:lnTo>
                <a:lnTo>
                  <a:pt x="4064187" y="5395"/>
                </a:lnTo>
                <a:lnTo>
                  <a:pt x="4071206" y="8093"/>
                </a:lnTo>
                <a:lnTo>
                  <a:pt x="4076992" y="10790"/>
                </a:lnTo>
                <a:lnTo>
                  <a:pt x="4081974" y="13488"/>
                </a:lnTo>
                <a:lnTo>
                  <a:pt x="4086371" y="16185"/>
                </a:lnTo>
                <a:lnTo>
                  <a:pt x="4090316" y="18883"/>
                </a:lnTo>
                <a:lnTo>
                  <a:pt x="4093895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45521" y="2902446"/>
            <a:ext cx="4132212" cy="21580"/>
          </a:xfrm>
          <a:custGeom>
            <a:avLst/>
            <a:gdLst/>
            <a:ahLst/>
            <a:cxnLst/>
            <a:rect l="l" t="t" r="r" b="b"/>
            <a:pathLst>
              <a:path w="4132212" h="21580">
                <a:moveTo>
                  <a:pt x="100330" y="0"/>
                </a:moveTo>
                <a:lnTo>
                  <a:pt x="4031882" y="0"/>
                </a:lnTo>
                <a:lnTo>
                  <a:pt x="4054991" y="2698"/>
                </a:lnTo>
                <a:lnTo>
                  <a:pt x="4064339" y="5395"/>
                </a:lnTo>
                <a:lnTo>
                  <a:pt x="4071358" y="8093"/>
                </a:lnTo>
                <a:lnTo>
                  <a:pt x="4077145" y="10790"/>
                </a:lnTo>
                <a:lnTo>
                  <a:pt x="4082126" y="13488"/>
                </a:lnTo>
                <a:lnTo>
                  <a:pt x="4086524" y="16185"/>
                </a:lnTo>
                <a:lnTo>
                  <a:pt x="4090469" y="18883"/>
                </a:lnTo>
                <a:lnTo>
                  <a:pt x="4094047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741" y="285750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248" y="362257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6791" y="304800"/>
            <a:ext cx="33580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90" kern="0" spc="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Office </a:t>
            </a:r>
            <a:r>
              <a:rPr lang="en-US" sz="1690" kern="0" spc="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Locations</a:t>
            </a:r>
            <a:r>
              <a:rPr lang="en-US" sz="1690" kern="0" spc="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Departments</a:t>
            </a:r>
            <a:endParaRPr lang="en-US" sz="1690"/>
          </a:p>
        </p:txBody>
      </p:sp>
      <p:sp>
        <p:nvSpPr>
          <p:cNvPr id="11" name="Text 8"/>
          <p:cNvSpPr/>
          <p:nvPr/>
        </p:nvSpPr>
        <p:spPr>
          <a:xfrm>
            <a:off x="356741" y="772120"/>
            <a:ext cx="4151114" cy="1992660"/>
          </a:xfrm>
          <a:prstGeom prst="roundRect">
            <a:avLst>
              <a:gd name="adj" fmla="val 5035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7716" y="946696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143" y="1030123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37617" y="939105"/>
            <a:ext cx="372818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Dallas, TX</a:t>
            </a:r>
            <a:r>
              <a:rPr lang="en-US" sz="93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Corporate Headquarters</a:t>
            </a:r>
            <a:endParaRPr lang="en-US" sz="930"/>
          </a:p>
        </p:txBody>
      </p:sp>
      <p:sp>
        <p:nvSpPr>
          <p:cNvPr id="15" name="Text 11"/>
          <p:cNvSpPr/>
          <p:nvPr/>
        </p:nvSpPr>
        <p:spPr>
          <a:xfrm>
            <a:off x="537716" y="1332607"/>
            <a:ext cx="1493151" cy="122932"/>
          </a:xfrm>
          <a:prstGeom prst="roundRect">
            <a:avLst>
              <a:gd name="adj" fmla="val 35125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193000" tIns="13970" rIns="71120" bIns="1397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Users — Executive Office</a:t>
            </a:r>
            <a:endParaRPr lang="en-US" sz="7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573" y="1327779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7716" y="1541711"/>
            <a:ext cx="864394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</a:t>
            </a:r>
            <a:endParaRPr lang="en-US" sz="590"/>
          </a:p>
        </p:txBody>
      </p:sp>
      <p:sp>
        <p:nvSpPr>
          <p:cNvPr id="18" name="Text 13"/>
          <p:cNvSpPr/>
          <p:nvPr/>
        </p:nvSpPr>
        <p:spPr>
          <a:xfrm>
            <a:off x="1437531" y="1541711"/>
            <a:ext cx="414933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590"/>
          </a:p>
        </p:txBody>
      </p:sp>
      <p:sp>
        <p:nvSpPr>
          <p:cNvPr id="19" name="Text 14"/>
          <p:cNvSpPr/>
          <p:nvPr/>
        </p:nvSpPr>
        <p:spPr>
          <a:xfrm>
            <a:off x="1887885" y="1541711"/>
            <a:ext cx="256729" cy="174843"/>
          </a:xfrm>
          <a:prstGeom prst="ellipse">
            <a:avLst/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590"/>
          </a:p>
        </p:txBody>
      </p:sp>
      <p:sp>
        <p:nvSpPr>
          <p:cNvPr id="20" name="Text 15"/>
          <p:cNvSpPr/>
          <p:nvPr/>
        </p:nvSpPr>
        <p:spPr>
          <a:xfrm>
            <a:off x="2180034" y="1541711"/>
            <a:ext cx="704701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Administration</a:t>
            </a:r>
            <a:endParaRPr lang="en-US" sz="590"/>
          </a:p>
        </p:txBody>
      </p:sp>
      <p:sp>
        <p:nvSpPr>
          <p:cNvPr id="21" name="Text 16"/>
          <p:cNvSpPr/>
          <p:nvPr/>
        </p:nvSpPr>
        <p:spPr>
          <a:xfrm>
            <a:off x="537716" y="2461617"/>
            <a:ext cx="3864947" cy="150168"/>
          </a:xfrm>
          <a:prstGeom prst="rect">
            <a:avLst/>
          </a:prstGeom>
          <a:noFill/>
          <a:ln/>
        </p:spPr>
        <p:txBody>
          <a:bodyPr wrap="none" lIns="0" tIns="2921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b="1" i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r>
              <a:rPr lang="en-US" sz="650" i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ALL resources across the entire organization</a:t>
            </a:r>
            <a:endParaRPr lang="en-US" sz="650"/>
          </a:p>
        </p:txBody>
      </p:sp>
      <p:sp>
        <p:nvSpPr>
          <p:cNvPr id="22" name="Text 17"/>
          <p:cNvSpPr/>
          <p:nvPr/>
        </p:nvSpPr>
        <p:spPr>
          <a:xfrm>
            <a:off x="537716" y="2461617"/>
            <a:ext cx="3789164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635996" y="772120"/>
            <a:ext cx="4151263" cy="1992660"/>
          </a:xfrm>
          <a:prstGeom prst="roundRect">
            <a:avLst>
              <a:gd name="adj" fmla="val 5035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816971" y="946696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0398" y="1030123"/>
            <a:ext cx="132588" cy="132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16872" y="939105"/>
            <a:ext cx="37283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Chicago, IL</a:t>
            </a:r>
            <a:r>
              <a:rPr lang="en-US" sz="93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</a:t>
            </a:r>
            <a:r>
              <a:rPr lang="en-US" sz="930" b="1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Milwaukee, WI</a:t>
            </a:r>
            <a:r>
              <a:rPr lang="en-US" sz="93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Shipping &amp; Receiving</a:t>
            </a:r>
            <a:endParaRPr lang="en-US" sz="930"/>
          </a:p>
        </p:txBody>
      </p:sp>
      <p:sp>
        <p:nvSpPr>
          <p:cNvPr id="27" name="Text 21"/>
          <p:cNvSpPr/>
          <p:nvPr/>
        </p:nvSpPr>
        <p:spPr>
          <a:xfrm>
            <a:off x="4816971" y="1332607"/>
            <a:ext cx="1365483" cy="122932"/>
          </a:xfrm>
          <a:prstGeom prst="roundRect">
            <a:avLst>
              <a:gd name="adj" fmla="val 35125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193000" tIns="13970" rIns="71120" bIns="1397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Users Each — 20 Total</a:t>
            </a:r>
            <a:endParaRPr lang="en-US" sz="70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4828" y="1327779"/>
            <a:ext cx="132588" cy="132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816971" y="1541711"/>
            <a:ext cx="686693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Ops</a:t>
            </a:r>
            <a:endParaRPr lang="en-US" sz="590"/>
          </a:p>
        </p:txBody>
      </p:sp>
      <p:sp>
        <p:nvSpPr>
          <p:cNvPr id="30" name="Text 23"/>
          <p:cNvSpPr/>
          <p:nvPr/>
        </p:nvSpPr>
        <p:spPr>
          <a:xfrm>
            <a:off x="5539085" y="1541711"/>
            <a:ext cx="439936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590"/>
          </a:p>
        </p:txBody>
      </p:sp>
      <p:sp>
        <p:nvSpPr>
          <p:cNvPr id="31" name="Text 24"/>
          <p:cNvSpPr/>
          <p:nvPr/>
        </p:nvSpPr>
        <p:spPr>
          <a:xfrm>
            <a:off x="6014442" y="1541711"/>
            <a:ext cx="477292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</a:t>
            </a:r>
            <a:endParaRPr lang="en-US" sz="590"/>
          </a:p>
        </p:txBody>
      </p:sp>
      <p:sp>
        <p:nvSpPr>
          <p:cNvPr id="32" name="Text 25"/>
          <p:cNvSpPr/>
          <p:nvPr/>
        </p:nvSpPr>
        <p:spPr>
          <a:xfrm>
            <a:off x="6527155" y="1541711"/>
            <a:ext cx="664518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Mgmt</a:t>
            </a:r>
            <a:endParaRPr lang="en-US" sz="590"/>
          </a:p>
        </p:txBody>
      </p:sp>
      <p:sp>
        <p:nvSpPr>
          <p:cNvPr id="33" name="Text 26"/>
          <p:cNvSpPr/>
          <p:nvPr/>
        </p:nvSpPr>
        <p:spPr>
          <a:xfrm>
            <a:off x="7227094" y="1541711"/>
            <a:ext cx="593824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590"/>
          </a:p>
        </p:txBody>
      </p:sp>
      <p:sp>
        <p:nvSpPr>
          <p:cNvPr id="34" name="Text 27"/>
          <p:cNvSpPr/>
          <p:nvPr/>
        </p:nvSpPr>
        <p:spPr>
          <a:xfrm>
            <a:off x="4816971" y="2461617"/>
            <a:ext cx="3865099" cy="150168"/>
          </a:xfrm>
          <a:prstGeom prst="rect">
            <a:avLst/>
          </a:prstGeom>
          <a:noFill/>
          <a:ln/>
        </p:spPr>
        <p:txBody>
          <a:bodyPr wrap="none" lIns="0" tIns="2921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b="1" i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all network resources</a:t>
            </a:r>
            <a:r>
              <a:rPr lang="en-US" sz="650" i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inventory tracking &amp; supply chain</a:t>
            </a:r>
            <a:endParaRPr lang="en-US" sz="650"/>
          </a:p>
        </p:txBody>
      </p:sp>
      <p:sp>
        <p:nvSpPr>
          <p:cNvPr id="35" name="Text 28"/>
          <p:cNvSpPr/>
          <p:nvPr/>
        </p:nvSpPr>
        <p:spPr>
          <a:xfrm>
            <a:off x="4816971" y="2461617"/>
            <a:ext cx="3789313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356741" y="2892921"/>
            <a:ext cx="4151114" cy="1992809"/>
          </a:xfrm>
          <a:prstGeom prst="roundRect">
            <a:avLst>
              <a:gd name="adj" fmla="val 5035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537716" y="3067496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143" y="3150924"/>
            <a:ext cx="132588" cy="132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37617" y="3059906"/>
            <a:ext cx="372818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Atlanta, GA</a:t>
            </a:r>
            <a:r>
              <a:rPr lang="en-US" sz="93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</a:t>
            </a:r>
            <a:r>
              <a:rPr lang="en-US" sz="930" b="1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San Francisco, CA</a:t>
            </a:r>
            <a:r>
              <a:rPr lang="en-US" sz="93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Sales &amp; Service</a:t>
            </a:r>
            <a:endParaRPr lang="en-US" sz="930"/>
          </a:p>
        </p:txBody>
      </p:sp>
      <p:sp>
        <p:nvSpPr>
          <p:cNvPr id="40" name="Text 32"/>
          <p:cNvSpPr/>
          <p:nvPr/>
        </p:nvSpPr>
        <p:spPr>
          <a:xfrm>
            <a:off x="537716" y="3453408"/>
            <a:ext cx="1722983" cy="122932"/>
          </a:xfrm>
          <a:prstGeom prst="roundRect">
            <a:avLst>
              <a:gd name="adj" fmla="val 35125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193000" tIns="13970" rIns="71120" bIns="1397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Remote Users Each — 20 Total</a:t>
            </a:r>
            <a:endParaRPr lang="en-US" sz="70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573" y="3448580"/>
            <a:ext cx="132588" cy="1325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37716" y="3662511"/>
            <a:ext cx="335905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590"/>
          </a:p>
        </p:txBody>
      </p:sp>
      <p:sp>
        <p:nvSpPr>
          <p:cNvPr id="43" name="Text 34"/>
          <p:cNvSpPr/>
          <p:nvPr/>
        </p:nvSpPr>
        <p:spPr>
          <a:xfrm>
            <a:off x="909042" y="3662511"/>
            <a:ext cx="743545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590"/>
          </a:p>
        </p:txBody>
      </p:sp>
      <p:sp>
        <p:nvSpPr>
          <p:cNvPr id="44" name="Text 35"/>
          <p:cNvSpPr/>
          <p:nvPr/>
        </p:nvSpPr>
        <p:spPr>
          <a:xfrm>
            <a:off x="1688009" y="3662511"/>
            <a:ext cx="627013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Mgmt</a:t>
            </a:r>
            <a:endParaRPr lang="en-US" sz="590"/>
          </a:p>
        </p:txBody>
      </p:sp>
      <p:sp>
        <p:nvSpPr>
          <p:cNvPr id="45" name="Text 36"/>
          <p:cNvSpPr/>
          <p:nvPr/>
        </p:nvSpPr>
        <p:spPr>
          <a:xfrm>
            <a:off x="630287" y="3864620"/>
            <a:ext cx="2560439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3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also serves as a  (+20 DC users)</a:t>
            </a:r>
            <a:endParaRPr lang="en-US" sz="730"/>
          </a:p>
        </p:txBody>
      </p:sp>
      <p:sp>
        <p:nvSpPr>
          <p:cNvPr id="46" name="Text 37"/>
          <p:cNvSpPr/>
          <p:nvPr/>
        </p:nvSpPr>
        <p:spPr>
          <a:xfrm>
            <a:off x="537716" y="3909417"/>
            <a:ext cx="35421" cy="35421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7" name="Text 38"/>
          <p:cNvSpPr/>
          <p:nvPr/>
        </p:nvSpPr>
        <p:spPr>
          <a:xfrm>
            <a:off x="537716" y="4582567"/>
            <a:ext cx="3864947" cy="150168"/>
          </a:xfrm>
          <a:prstGeom prst="rect">
            <a:avLst/>
          </a:prstGeom>
          <a:noFill/>
          <a:ln/>
        </p:spPr>
        <p:txBody>
          <a:bodyPr wrap="none" lIns="0" tIns="29210" rIns="0" bIns="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workforce supporting customer-facing operations</a:t>
            </a:r>
            <a:endParaRPr lang="en-US" sz="650"/>
          </a:p>
        </p:txBody>
      </p:sp>
      <p:sp>
        <p:nvSpPr>
          <p:cNvPr id="48" name="Text 39"/>
          <p:cNvSpPr/>
          <p:nvPr/>
        </p:nvSpPr>
        <p:spPr>
          <a:xfrm>
            <a:off x="537716" y="4582567"/>
            <a:ext cx="3789164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9" name="Text 40"/>
          <p:cNvSpPr/>
          <p:nvPr/>
        </p:nvSpPr>
        <p:spPr>
          <a:xfrm>
            <a:off x="4635996" y="2892921"/>
            <a:ext cx="4151263" cy="1992809"/>
          </a:xfrm>
          <a:prstGeom prst="roundRect">
            <a:avLst>
              <a:gd name="adj" fmla="val 5035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0" name="Text 41"/>
          <p:cNvSpPr/>
          <p:nvPr/>
        </p:nvSpPr>
        <p:spPr>
          <a:xfrm>
            <a:off x="4816971" y="3067496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0398" y="3150924"/>
            <a:ext cx="132588" cy="13258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216872" y="3059906"/>
            <a:ext cx="37283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Austin, TX</a:t>
            </a:r>
            <a:r>
              <a:rPr lang="en-US" sz="93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</a:t>
            </a:r>
            <a:r>
              <a:rPr lang="en-US" sz="930" b="1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Seattle, WA</a:t>
            </a:r>
            <a:r>
              <a:rPr lang="en-US" sz="93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Distribution &amp; DC</a:t>
            </a:r>
            <a:endParaRPr lang="en-US" sz="930"/>
          </a:p>
        </p:txBody>
      </p:sp>
      <p:sp>
        <p:nvSpPr>
          <p:cNvPr id="53" name="Text 43"/>
          <p:cNvSpPr/>
          <p:nvPr/>
        </p:nvSpPr>
        <p:spPr>
          <a:xfrm>
            <a:off x="6118771" y="3462933"/>
            <a:ext cx="156769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3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 users, all network resources</a:t>
            </a:r>
            <a:endParaRPr lang="en-US" sz="730"/>
          </a:p>
        </p:txBody>
      </p:sp>
      <p:sp>
        <p:nvSpPr>
          <p:cNvPr id="54" name="Text 44"/>
          <p:cNvSpPr/>
          <p:nvPr/>
        </p:nvSpPr>
        <p:spPr>
          <a:xfrm>
            <a:off x="4816971" y="3498205"/>
            <a:ext cx="35421" cy="35421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5" name="Text 45"/>
          <p:cNvSpPr/>
          <p:nvPr/>
        </p:nvSpPr>
        <p:spPr>
          <a:xfrm>
            <a:off x="5815608" y="3631257"/>
            <a:ext cx="159028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3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 users, DC-scoped resources</a:t>
            </a:r>
            <a:endParaRPr lang="en-US" sz="730"/>
          </a:p>
        </p:txBody>
      </p:sp>
      <p:sp>
        <p:nvSpPr>
          <p:cNvPr id="56" name="Text 46"/>
          <p:cNvSpPr/>
          <p:nvPr/>
        </p:nvSpPr>
        <p:spPr>
          <a:xfrm>
            <a:off x="4816971" y="3666530"/>
            <a:ext cx="35421" cy="35421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7" name="Text 47"/>
          <p:cNvSpPr/>
          <p:nvPr/>
        </p:nvSpPr>
        <p:spPr>
          <a:xfrm>
            <a:off x="4816971" y="3819227"/>
            <a:ext cx="681186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Ops</a:t>
            </a:r>
            <a:endParaRPr lang="en-US" sz="590"/>
          </a:p>
        </p:txBody>
      </p:sp>
      <p:sp>
        <p:nvSpPr>
          <p:cNvPr id="58" name="Text 48"/>
          <p:cNvSpPr/>
          <p:nvPr/>
        </p:nvSpPr>
        <p:spPr>
          <a:xfrm>
            <a:off x="5533579" y="3819227"/>
            <a:ext cx="710357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Ops</a:t>
            </a:r>
            <a:endParaRPr lang="en-US" sz="590"/>
          </a:p>
        </p:txBody>
      </p:sp>
      <p:sp>
        <p:nvSpPr>
          <p:cNvPr id="59" name="Text 49"/>
          <p:cNvSpPr/>
          <p:nvPr/>
        </p:nvSpPr>
        <p:spPr>
          <a:xfrm>
            <a:off x="6279356" y="3819227"/>
            <a:ext cx="843558" cy="174843"/>
          </a:xfrm>
          <a:prstGeom prst="roundRect">
            <a:avLst>
              <a:gd name="adj" fmla="val 8208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Engineering</a:t>
            </a:r>
            <a:endParaRPr lang="en-US" sz="590"/>
          </a:p>
        </p:txBody>
      </p:sp>
      <p:sp>
        <p:nvSpPr>
          <p:cNvPr id="60" name="Text 50"/>
          <p:cNvSpPr/>
          <p:nvPr/>
        </p:nvSpPr>
        <p:spPr>
          <a:xfrm>
            <a:off x="4816971" y="4582567"/>
            <a:ext cx="3865099" cy="150168"/>
          </a:xfrm>
          <a:prstGeom prst="rect">
            <a:avLst/>
          </a:prstGeom>
          <a:noFill/>
          <a:ln/>
        </p:spPr>
        <p:txBody>
          <a:bodyPr wrap="none" lIns="0" tIns="2921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50" i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Austin: </a:t>
            </a:r>
            <a:r>
              <a:rPr lang="en-US" sz="650" b="1" i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network resources</a:t>
            </a:r>
            <a:r>
              <a:rPr lang="en-US" sz="650" i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Seattle: </a:t>
            </a:r>
            <a:r>
              <a:rPr lang="en-US" sz="650" b="1" i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DC-scoped access</a:t>
            </a:r>
            <a:endParaRPr lang="en-US" sz="650"/>
          </a:p>
        </p:txBody>
      </p:sp>
      <p:sp>
        <p:nvSpPr>
          <p:cNvPr id="61" name="Text 51"/>
          <p:cNvSpPr/>
          <p:nvPr/>
        </p:nvSpPr>
        <p:spPr>
          <a:xfrm>
            <a:off x="4816971" y="4582567"/>
            <a:ext cx="3789313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96763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00B4D8"/>
              </a:gs>
              <a:gs pos="100000">
                <a:srgbClr val="0090B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407" y="373270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960" y="257770"/>
            <a:ext cx="189264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58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Organization Chart</a:t>
            </a:r>
            <a:endParaRPr lang="en-US" sz="1580"/>
          </a:p>
        </p:txBody>
      </p:sp>
      <p:sp>
        <p:nvSpPr>
          <p:cNvPr id="5" name="Text 2"/>
          <p:cNvSpPr/>
          <p:nvPr/>
        </p:nvSpPr>
        <p:spPr>
          <a:xfrm>
            <a:off x="728960" y="492175"/>
            <a:ext cx="194570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spcBef>
                <a:spcPts val="110"/>
              </a:spcBef>
              <a:buNone/>
            </a:pPr>
            <a:r>
              <a:rPr lang="en-US" sz="680" kern="0" spc="34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LEADERSHIP HIERARCHY</a:t>
            </a:r>
            <a:endParaRPr lang="en-US" sz="680"/>
          </a:p>
        </p:txBody>
      </p:sp>
      <p:sp>
        <p:nvSpPr>
          <p:cNvPr id="6" name="Text 3"/>
          <p:cNvSpPr/>
          <p:nvPr/>
        </p:nvSpPr>
        <p:spPr>
          <a:xfrm>
            <a:off x="4010620" y="765125"/>
            <a:ext cx="1122759" cy="185812"/>
          </a:xfrm>
          <a:prstGeom prst="roundRect">
            <a:avLst>
              <a:gd name="adj" fmla="val 77234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EXECUTIVE</a:t>
            </a:r>
            <a:endParaRPr lang="en-US" sz="560"/>
          </a:p>
        </p:txBody>
      </p:sp>
      <p:sp>
        <p:nvSpPr>
          <p:cNvPr id="7" name="Text 4"/>
          <p:cNvSpPr/>
          <p:nvPr/>
        </p:nvSpPr>
        <p:spPr>
          <a:xfrm>
            <a:off x="3785890" y="963216"/>
            <a:ext cx="1572220" cy="650230"/>
          </a:xfrm>
          <a:prstGeom prst="roundRect">
            <a:avLst>
              <a:gd name="adj" fmla="val 10938"/>
            </a:avLst>
          </a:prstGeom>
          <a:gradFill rotWithShape="1">
            <a:gsLst>
              <a:gs pos="0">
                <a:srgbClr val="0E2A4A"/>
              </a:gs>
              <a:gs pos="100000">
                <a:srgbClr val="162032"/>
              </a:gs>
            </a:gsLst>
            <a:lin ang="2700000" scaled="1"/>
          </a:gradFill>
          <a:ln w="9525">
            <a:solidFill>
              <a:srgbClr val="00B4D8"/>
            </a:solidFill>
          </a:ln>
          <a:effectLst>
            <a:outerShdw blurRad="171450" dist="50800" dir="16200000" algn="bl" rotWithShape="0">
              <a:srgbClr val="00B4D8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5361" y="1057358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05809" y="1043732"/>
            <a:ext cx="26111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kern="0" spc="17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CEO</a:t>
            </a:r>
            <a:endParaRPr lang="en-US" sz="840"/>
          </a:p>
        </p:txBody>
      </p:sp>
      <p:sp>
        <p:nvSpPr>
          <p:cNvPr id="10" name="Text 6"/>
          <p:cNvSpPr/>
          <p:nvPr/>
        </p:nvSpPr>
        <p:spPr>
          <a:xfrm>
            <a:off x="3828098" y="1217563"/>
            <a:ext cx="1487805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85"/>
              </a:lnSpc>
              <a:buNone/>
            </a:pPr>
            <a:r>
              <a:rPr lang="en-US" sz="59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Dallas, TX</a:t>
            </a:r>
            <a:endParaRPr lang="en-US" sz="590"/>
          </a:p>
        </p:txBody>
      </p:sp>
      <p:sp>
        <p:nvSpPr>
          <p:cNvPr id="11" name="Text 7"/>
          <p:cNvSpPr/>
          <p:nvPr/>
        </p:nvSpPr>
        <p:spPr>
          <a:xfrm>
            <a:off x="3882200" y="1351359"/>
            <a:ext cx="1379601" cy="190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15"/>
              </a:lnSpc>
              <a:buNone/>
            </a:pPr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all company operations</a:t>
            </a:r>
            <a:br/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corporate headquarters</a:t>
            </a:r>
            <a:endParaRPr lang="en-US" sz="530"/>
          </a:p>
        </p:txBody>
      </p:sp>
      <p:sp>
        <p:nvSpPr>
          <p:cNvPr id="12" name="Text 8"/>
          <p:cNvSpPr/>
          <p:nvPr/>
        </p:nvSpPr>
        <p:spPr>
          <a:xfrm>
            <a:off x="4565079" y="1537246"/>
            <a:ext cx="13841" cy="21461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428750" y="1750516"/>
            <a:ext cx="6286500" cy="13841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421829" y="1622375"/>
            <a:ext cx="13841" cy="128141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230362" y="1750516"/>
            <a:ext cx="396776" cy="145703"/>
          </a:xfrm>
          <a:prstGeom prst="roundRect">
            <a:avLst>
              <a:gd name="adj" fmla="val 98495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450"/>
          </a:p>
        </p:txBody>
      </p:sp>
      <p:sp>
        <p:nvSpPr>
          <p:cNvPr id="16" name="Text 12"/>
          <p:cNvSpPr/>
          <p:nvPr/>
        </p:nvSpPr>
        <p:spPr>
          <a:xfrm>
            <a:off x="714375" y="1904554"/>
            <a:ext cx="1428750" cy="648123"/>
          </a:xfrm>
          <a:prstGeom prst="roundRect">
            <a:avLst>
              <a:gd name="adj" fmla="val 10973"/>
            </a:avLst>
          </a:prstGeom>
          <a:gradFill rotWithShape="1">
            <a:gsLst>
              <a:gs pos="0">
                <a:srgbClr val="12253E"/>
              </a:gs>
              <a:gs pos="100000">
                <a:srgbClr val="162032"/>
              </a:gs>
            </a:gsLst>
            <a:lin ang="2700000" scaled="1"/>
          </a:gradFill>
          <a:ln w="9525">
            <a:solidFill>
              <a:srgbClr val="00B4D8">
                <a:alpha val="40000"/>
              </a:srgbClr>
            </a:solidFill>
          </a:ln>
          <a:effectLst>
            <a:outerShdw blurRad="86360" dist="13970" dir="5400000" algn="bl" rotWithShape="0">
              <a:srgbClr val="000000">
                <a:alpha val="25000"/>
              </a:srgbClr>
            </a:outerShdw>
          </a:effectLst>
        </p:spPr>
        <p:txBody>
          <a:bodyPr wrap="square" lIns="100330" tIns="71120" rIns="100330" bIns="71120" rtlCol="0" anchor="t"/>
          <a:lstStyle/>
          <a:p>
            <a:pPr marL="0" indent="0" algn="ctr">
              <a:buNone/>
            </a:pPr>
            <a:r>
              <a:rPr lang="en-US" sz="730" b="1" kern="0" spc="15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 Sales</a:t>
            </a:r>
            <a:endParaRPr lang="en-US" sz="730"/>
          </a:p>
          <a:p>
            <a:pPr marL="0" indent="0" algn="ctr">
              <a:buNone/>
            </a:pPr>
            <a:r>
              <a:rPr lang="en-US" sz="59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&amp; San Francisco</a:t>
            </a:r>
            <a:endParaRPr lang="en-US" sz="730"/>
          </a:p>
          <a:p>
            <a:pPr marL="0" indent="0" algn="ctr">
              <a:buNone/>
            </a:pPr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sales teams across</a:t>
            </a:r>
            <a:br/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regional offices</a:t>
            </a:r>
            <a:endParaRPr lang="en-US" sz="730"/>
          </a:p>
        </p:txBody>
      </p:sp>
      <p:sp>
        <p:nvSpPr>
          <p:cNvPr id="17" name="Text 13"/>
          <p:cNvSpPr/>
          <p:nvPr/>
        </p:nvSpPr>
        <p:spPr>
          <a:xfrm>
            <a:off x="3514651" y="1622375"/>
            <a:ext cx="13841" cy="128141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323183" y="1750516"/>
            <a:ext cx="396776" cy="145703"/>
          </a:xfrm>
          <a:prstGeom prst="roundRect">
            <a:avLst>
              <a:gd name="adj" fmla="val 98495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450"/>
          </a:p>
        </p:txBody>
      </p:sp>
      <p:sp>
        <p:nvSpPr>
          <p:cNvPr id="19" name="Text 15"/>
          <p:cNvSpPr/>
          <p:nvPr/>
        </p:nvSpPr>
        <p:spPr>
          <a:xfrm>
            <a:off x="2807196" y="1904554"/>
            <a:ext cx="1428750" cy="648123"/>
          </a:xfrm>
          <a:prstGeom prst="roundRect">
            <a:avLst>
              <a:gd name="adj" fmla="val 10973"/>
            </a:avLst>
          </a:prstGeom>
          <a:gradFill rotWithShape="1">
            <a:gsLst>
              <a:gs pos="0">
                <a:srgbClr val="12253E"/>
              </a:gs>
              <a:gs pos="100000">
                <a:srgbClr val="162032"/>
              </a:gs>
            </a:gsLst>
            <a:lin ang="2700000" scaled="1"/>
          </a:gradFill>
          <a:ln w="9525">
            <a:solidFill>
              <a:srgbClr val="00B4D8">
                <a:alpha val="40000"/>
              </a:srgbClr>
            </a:solidFill>
          </a:ln>
          <a:effectLst>
            <a:outerShdw blurRad="86360" dist="13970" dir="5400000" algn="bl" rotWithShape="0">
              <a:srgbClr val="000000">
                <a:alpha val="25000"/>
              </a:srgbClr>
            </a:outerShdw>
          </a:effectLst>
        </p:spPr>
        <p:txBody>
          <a:bodyPr wrap="square" lIns="100330" tIns="71120" rIns="100330" bIns="71120" rtlCol="0" anchor="t"/>
          <a:lstStyle/>
          <a:p>
            <a:pPr marL="0" indent="0" algn="ctr">
              <a:buNone/>
            </a:pPr>
            <a:r>
              <a:rPr lang="en-US" sz="730" b="1" kern="0" spc="15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 Operations</a:t>
            </a:r>
            <a:endParaRPr lang="en-US" sz="730"/>
          </a:p>
          <a:p>
            <a:pPr marL="0" indent="0" algn="ctr">
              <a:buNone/>
            </a:pPr>
            <a:r>
              <a:rPr lang="en-US" sz="59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Chicago, Milwaukee &amp; Austin</a:t>
            </a:r>
            <a:endParaRPr lang="en-US" sz="730"/>
          </a:p>
          <a:p>
            <a:pPr marL="0" indent="0" algn="ctr">
              <a:buNone/>
            </a:pPr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shipping centers</a:t>
            </a:r>
            <a:br/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distribution operations</a:t>
            </a:r>
            <a:endParaRPr lang="en-US" sz="730"/>
          </a:p>
        </p:txBody>
      </p:sp>
      <p:sp>
        <p:nvSpPr>
          <p:cNvPr id="20" name="Text 16"/>
          <p:cNvSpPr/>
          <p:nvPr/>
        </p:nvSpPr>
        <p:spPr>
          <a:xfrm>
            <a:off x="5615360" y="1622375"/>
            <a:ext cx="13841" cy="128141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423892" y="1750516"/>
            <a:ext cx="396776" cy="145703"/>
          </a:xfrm>
          <a:prstGeom prst="roundRect">
            <a:avLst>
              <a:gd name="adj" fmla="val 98495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450"/>
          </a:p>
        </p:txBody>
      </p:sp>
      <p:sp>
        <p:nvSpPr>
          <p:cNvPr id="22" name="Text 18"/>
          <p:cNvSpPr/>
          <p:nvPr/>
        </p:nvSpPr>
        <p:spPr>
          <a:xfrm>
            <a:off x="4907905" y="1904554"/>
            <a:ext cx="1428750" cy="648123"/>
          </a:xfrm>
          <a:prstGeom prst="roundRect">
            <a:avLst>
              <a:gd name="adj" fmla="val 10973"/>
            </a:avLst>
          </a:prstGeom>
          <a:gradFill rotWithShape="1">
            <a:gsLst>
              <a:gs pos="0">
                <a:srgbClr val="12253E"/>
              </a:gs>
              <a:gs pos="100000">
                <a:srgbClr val="162032"/>
              </a:gs>
            </a:gsLst>
            <a:lin ang="2700000" scaled="1"/>
          </a:gradFill>
          <a:ln w="9525">
            <a:solidFill>
              <a:srgbClr val="00B4D8">
                <a:alpha val="40000"/>
              </a:srgbClr>
            </a:solidFill>
          </a:ln>
          <a:effectLst>
            <a:outerShdw blurRad="86360" dist="13970" dir="5400000" algn="bl" rotWithShape="0">
              <a:srgbClr val="000000">
                <a:alpha val="25000"/>
              </a:srgbClr>
            </a:outerShdw>
          </a:effectLst>
        </p:spPr>
        <p:txBody>
          <a:bodyPr wrap="square" lIns="100330" tIns="71120" rIns="100330" bIns="71120" rtlCol="0" anchor="t"/>
          <a:lstStyle/>
          <a:p>
            <a:pPr marL="0" indent="0" algn="ctr">
              <a:buNone/>
            </a:pPr>
            <a:r>
              <a:rPr lang="en-US" sz="730" b="1" kern="0" spc="15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 IT / CTO</a:t>
            </a:r>
            <a:endParaRPr lang="en-US" sz="730"/>
          </a:p>
          <a:p>
            <a:pPr marL="0" indent="0" algn="ctr">
              <a:buNone/>
            </a:pPr>
            <a:r>
              <a:rPr lang="en-US" sz="59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&amp; Atlanta</a:t>
            </a:r>
            <a:endParaRPr lang="en-US" sz="730"/>
          </a:p>
          <a:p>
            <a:pPr marL="0" indent="0" algn="ctr">
              <a:buNone/>
            </a:pPr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data centers and</a:t>
            </a:r>
            <a:br/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IT infrastructure</a:t>
            </a:r>
            <a:endParaRPr lang="en-US" sz="730"/>
          </a:p>
        </p:txBody>
      </p:sp>
      <p:sp>
        <p:nvSpPr>
          <p:cNvPr id="23" name="Text 19"/>
          <p:cNvSpPr/>
          <p:nvPr/>
        </p:nvSpPr>
        <p:spPr>
          <a:xfrm>
            <a:off x="7708329" y="1622375"/>
            <a:ext cx="13841" cy="128141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516862" y="1750516"/>
            <a:ext cx="396776" cy="145703"/>
          </a:xfrm>
          <a:prstGeom prst="roundRect">
            <a:avLst>
              <a:gd name="adj" fmla="val 98495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450"/>
          </a:p>
        </p:txBody>
      </p:sp>
      <p:sp>
        <p:nvSpPr>
          <p:cNvPr id="25" name="Text 21"/>
          <p:cNvSpPr/>
          <p:nvPr/>
        </p:nvSpPr>
        <p:spPr>
          <a:xfrm>
            <a:off x="7000875" y="1904554"/>
            <a:ext cx="1428750" cy="648123"/>
          </a:xfrm>
          <a:prstGeom prst="roundRect">
            <a:avLst>
              <a:gd name="adj" fmla="val 10973"/>
            </a:avLst>
          </a:prstGeom>
          <a:gradFill rotWithShape="1">
            <a:gsLst>
              <a:gs pos="0">
                <a:srgbClr val="12253E"/>
              </a:gs>
              <a:gs pos="100000">
                <a:srgbClr val="162032"/>
              </a:gs>
            </a:gsLst>
            <a:lin ang="2700000" scaled="1"/>
          </a:gradFill>
          <a:ln w="9525">
            <a:solidFill>
              <a:srgbClr val="00B4D8">
                <a:alpha val="40000"/>
              </a:srgbClr>
            </a:solidFill>
          </a:ln>
          <a:effectLst>
            <a:outerShdw blurRad="86360" dist="13970" dir="5400000" algn="bl" rotWithShape="0">
              <a:srgbClr val="000000">
                <a:alpha val="25000"/>
              </a:srgbClr>
            </a:outerShdw>
          </a:effectLst>
        </p:spPr>
        <p:txBody>
          <a:bodyPr wrap="square" lIns="100330" tIns="71120" rIns="100330" bIns="71120" rtlCol="0" anchor="t"/>
          <a:lstStyle/>
          <a:p>
            <a:pPr marL="0" indent="0" algn="ctr">
              <a:buNone/>
            </a:pPr>
            <a:r>
              <a:rPr lang="en-US" sz="730" b="1" kern="0" spc="15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CFO</a:t>
            </a:r>
            <a:endParaRPr lang="en-US" sz="730"/>
          </a:p>
          <a:p>
            <a:pPr marL="0" indent="0" algn="ctr">
              <a:buNone/>
            </a:pPr>
            <a:r>
              <a:rPr lang="en-US" sz="59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Dallas, TX (HQ)</a:t>
            </a:r>
            <a:endParaRPr lang="en-US" sz="730"/>
          </a:p>
          <a:p>
            <a:pPr marL="0" indent="0" algn="ctr">
              <a:buNone/>
            </a:pPr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Finance and</a:t>
            </a:r>
            <a:br/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departments</a:t>
            </a:r>
            <a:endParaRPr lang="en-US" sz="730"/>
          </a:p>
        </p:txBody>
      </p:sp>
      <p:sp>
        <p:nvSpPr>
          <p:cNvPr id="26" name="Text 22"/>
          <p:cNvSpPr/>
          <p:nvPr/>
        </p:nvSpPr>
        <p:spPr>
          <a:xfrm>
            <a:off x="1428750" y="2637086"/>
            <a:ext cx="13841" cy="17145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521571" y="2637086"/>
            <a:ext cx="13841" cy="17145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622280" y="2637086"/>
            <a:ext cx="13841" cy="17145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715250" y="2637086"/>
            <a:ext cx="13841" cy="17145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1428750" y="2808536"/>
            <a:ext cx="6286500" cy="13841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1022835" y="2836366"/>
            <a:ext cx="1129579" cy="399604"/>
          </a:xfrm>
          <a:prstGeom prst="roundRect">
            <a:avLst>
              <a:gd name="adj" fmla="val 17798"/>
            </a:avLst>
          </a:prstGeom>
          <a:solidFill>
            <a:srgbClr val="162032"/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650" b="1" kern="0" spc="13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Manager</a:t>
            </a:r>
            <a:endParaRPr lang="en-US" sz="650"/>
          </a:p>
          <a:p>
            <a:pPr marL="0" indent="0" algn="ctr">
              <a:buNone/>
            </a:pPr>
            <a:r>
              <a:rPr lang="en-US" sz="5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</a:t>
            </a:r>
            <a:endParaRPr lang="en-US" sz="650"/>
          </a:p>
        </p:txBody>
      </p:sp>
      <p:sp>
        <p:nvSpPr>
          <p:cNvPr id="32" name="Text 28"/>
          <p:cNvSpPr/>
          <p:nvPr/>
        </p:nvSpPr>
        <p:spPr>
          <a:xfrm>
            <a:off x="2216585" y="2836366"/>
            <a:ext cx="1129579" cy="399604"/>
          </a:xfrm>
          <a:prstGeom prst="roundRect">
            <a:avLst>
              <a:gd name="adj" fmla="val 17798"/>
            </a:avLst>
          </a:prstGeom>
          <a:solidFill>
            <a:srgbClr val="162032"/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650" b="1" kern="0" spc="13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Manager</a:t>
            </a:r>
            <a:endParaRPr lang="en-US" sz="650"/>
          </a:p>
          <a:p>
            <a:pPr marL="0" indent="0" algn="ctr">
              <a:buNone/>
            </a:pPr>
            <a:r>
              <a:rPr lang="en-US" sz="5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</a:t>
            </a:r>
            <a:endParaRPr lang="en-US" sz="650"/>
          </a:p>
        </p:txBody>
      </p:sp>
      <p:sp>
        <p:nvSpPr>
          <p:cNvPr id="33" name="Text 29"/>
          <p:cNvSpPr/>
          <p:nvPr/>
        </p:nvSpPr>
        <p:spPr>
          <a:xfrm>
            <a:off x="3410335" y="2836366"/>
            <a:ext cx="1129579" cy="399604"/>
          </a:xfrm>
          <a:prstGeom prst="roundRect">
            <a:avLst>
              <a:gd name="adj" fmla="val 17798"/>
            </a:avLst>
          </a:prstGeom>
          <a:solidFill>
            <a:srgbClr val="162032"/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650" b="1" kern="0" spc="13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Shipping Manager</a:t>
            </a:r>
            <a:endParaRPr lang="en-US" sz="650"/>
          </a:p>
          <a:p>
            <a:pPr marL="0" indent="0" algn="ctr">
              <a:buNone/>
            </a:pPr>
            <a:r>
              <a:rPr lang="en-US" sz="5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</a:t>
            </a:r>
            <a:endParaRPr lang="en-US" sz="650"/>
          </a:p>
        </p:txBody>
      </p:sp>
      <p:sp>
        <p:nvSpPr>
          <p:cNvPr id="34" name="Text 30"/>
          <p:cNvSpPr/>
          <p:nvPr/>
        </p:nvSpPr>
        <p:spPr>
          <a:xfrm>
            <a:off x="4604086" y="2836366"/>
            <a:ext cx="1129579" cy="399604"/>
          </a:xfrm>
          <a:prstGeom prst="roundRect">
            <a:avLst>
              <a:gd name="adj" fmla="val 17798"/>
            </a:avLst>
          </a:prstGeom>
          <a:solidFill>
            <a:srgbClr val="162032"/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650" b="1" kern="0" spc="13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Shipping Manager</a:t>
            </a:r>
            <a:endParaRPr lang="en-US" sz="650"/>
          </a:p>
          <a:p>
            <a:pPr marL="0" indent="0" algn="ctr">
              <a:buNone/>
            </a:pPr>
            <a:r>
              <a:rPr lang="en-US" sz="5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Milwaukee</a:t>
            </a:r>
            <a:endParaRPr lang="en-US" sz="650"/>
          </a:p>
        </p:txBody>
      </p:sp>
      <p:sp>
        <p:nvSpPr>
          <p:cNvPr id="35" name="Text 31"/>
          <p:cNvSpPr/>
          <p:nvPr/>
        </p:nvSpPr>
        <p:spPr>
          <a:xfrm>
            <a:off x="5797836" y="2836366"/>
            <a:ext cx="1129579" cy="399604"/>
          </a:xfrm>
          <a:prstGeom prst="roundRect">
            <a:avLst>
              <a:gd name="adj" fmla="val 17798"/>
            </a:avLst>
          </a:prstGeom>
          <a:solidFill>
            <a:srgbClr val="162032"/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650" b="1" kern="0" spc="13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Distribution Mgr</a:t>
            </a:r>
            <a:endParaRPr lang="en-US" sz="650"/>
          </a:p>
          <a:p>
            <a:pPr marL="0" indent="0" algn="ctr">
              <a:buNone/>
            </a:pPr>
            <a:r>
              <a:rPr lang="en-US" sz="5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</a:t>
            </a:r>
            <a:endParaRPr lang="en-US" sz="650"/>
          </a:p>
        </p:txBody>
      </p:sp>
      <p:sp>
        <p:nvSpPr>
          <p:cNvPr id="36" name="Text 32"/>
          <p:cNvSpPr/>
          <p:nvPr/>
        </p:nvSpPr>
        <p:spPr>
          <a:xfrm>
            <a:off x="6991587" y="2836366"/>
            <a:ext cx="1129579" cy="399604"/>
          </a:xfrm>
          <a:prstGeom prst="roundRect">
            <a:avLst>
              <a:gd name="adj" fmla="val 17798"/>
            </a:avLst>
          </a:prstGeom>
          <a:solidFill>
            <a:srgbClr val="162032"/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650" b="1" kern="0" spc="13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Center Mgr</a:t>
            </a:r>
            <a:endParaRPr lang="en-US" sz="650"/>
          </a:p>
          <a:p>
            <a:pPr marL="0" indent="0" algn="ctr">
              <a:buNone/>
            </a:pPr>
            <a:r>
              <a:rPr lang="en-US" sz="5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</a:t>
            </a:r>
            <a:endParaRPr lang="en-US" sz="650"/>
          </a:p>
        </p:txBody>
      </p:sp>
      <p:sp>
        <p:nvSpPr>
          <p:cNvPr id="37" name="Text 33"/>
          <p:cNvSpPr/>
          <p:nvPr/>
        </p:nvSpPr>
        <p:spPr>
          <a:xfrm>
            <a:off x="2813460" y="3308896"/>
            <a:ext cx="1129579" cy="399604"/>
          </a:xfrm>
          <a:prstGeom prst="roundRect">
            <a:avLst>
              <a:gd name="adj" fmla="val 17798"/>
            </a:avLst>
          </a:prstGeom>
          <a:solidFill>
            <a:srgbClr val="162032"/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650" b="1" kern="0" spc="13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Center Mgr</a:t>
            </a:r>
            <a:endParaRPr lang="en-US" sz="650"/>
          </a:p>
          <a:p>
            <a:pPr marL="0" indent="0" algn="ctr">
              <a:buNone/>
            </a:pPr>
            <a:r>
              <a:rPr lang="en-US" sz="5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</a:t>
            </a:r>
            <a:endParaRPr lang="en-US" sz="650"/>
          </a:p>
        </p:txBody>
      </p:sp>
      <p:sp>
        <p:nvSpPr>
          <p:cNvPr id="38" name="Text 34"/>
          <p:cNvSpPr/>
          <p:nvPr/>
        </p:nvSpPr>
        <p:spPr>
          <a:xfrm>
            <a:off x="4007211" y="3308896"/>
            <a:ext cx="1129579" cy="399604"/>
          </a:xfrm>
          <a:prstGeom prst="roundRect">
            <a:avLst>
              <a:gd name="adj" fmla="val 17798"/>
            </a:avLst>
          </a:prstGeom>
          <a:solidFill>
            <a:srgbClr val="162032"/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650" b="1" kern="0" spc="13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Finance Manager</a:t>
            </a:r>
            <a:endParaRPr lang="en-US" sz="650"/>
          </a:p>
          <a:p>
            <a:pPr marL="0" indent="0" algn="ctr">
              <a:buNone/>
            </a:pPr>
            <a:r>
              <a:rPr lang="en-US" sz="5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</a:t>
            </a:r>
            <a:endParaRPr lang="en-US" sz="650"/>
          </a:p>
        </p:txBody>
      </p:sp>
      <p:sp>
        <p:nvSpPr>
          <p:cNvPr id="39" name="Text 35"/>
          <p:cNvSpPr/>
          <p:nvPr/>
        </p:nvSpPr>
        <p:spPr>
          <a:xfrm>
            <a:off x="5200961" y="3308896"/>
            <a:ext cx="1129579" cy="399604"/>
          </a:xfrm>
          <a:prstGeom prst="roundRect">
            <a:avLst>
              <a:gd name="adj" fmla="val 17798"/>
            </a:avLst>
          </a:prstGeom>
          <a:solidFill>
            <a:srgbClr val="162032"/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ctr">
              <a:buNone/>
            </a:pPr>
            <a:r>
              <a:rPr lang="en-US" sz="650" b="1" kern="0" spc="13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HR Manager</a:t>
            </a:r>
            <a:endParaRPr lang="en-US" sz="650"/>
          </a:p>
          <a:p>
            <a:pPr marL="0" indent="0" algn="ctr">
              <a:buNone/>
            </a:pPr>
            <a:r>
              <a:rPr lang="en-US" sz="5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</a:t>
            </a:r>
            <a:endParaRPr lang="en-US" sz="650"/>
          </a:p>
        </p:txBody>
      </p:sp>
      <p:sp>
        <p:nvSpPr>
          <p:cNvPr id="40" name="Text 36"/>
          <p:cNvSpPr/>
          <p:nvPr/>
        </p:nvSpPr>
        <p:spPr>
          <a:xfrm>
            <a:off x="571500" y="2879675"/>
            <a:ext cx="507504" cy="185812"/>
          </a:xfrm>
          <a:prstGeom prst="roundRect">
            <a:avLst>
              <a:gd name="adj" fmla="val 77234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560"/>
          </a:p>
        </p:txBody>
      </p:sp>
      <p:sp>
        <p:nvSpPr>
          <p:cNvPr id="41" name="Text 37"/>
          <p:cNvSpPr/>
          <p:nvPr/>
        </p:nvSpPr>
        <p:spPr>
          <a:xfrm>
            <a:off x="571500" y="3070175"/>
            <a:ext cx="558254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Managers</a:t>
            </a:r>
            <a:endParaRPr lang="en-US" sz="530"/>
          </a:p>
        </p:txBody>
      </p:sp>
      <p:sp>
        <p:nvSpPr>
          <p:cNvPr id="42" name="Text 38"/>
          <p:cNvSpPr/>
          <p:nvPr/>
        </p:nvSpPr>
        <p:spPr>
          <a:xfrm>
            <a:off x="4572000" y="3750766"/>
            <a:ext cx="13841" cy="15746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571500" y="3908375"/>
            <a:ext cx="1585317" cy="185812"/>
          </a:xfrm>
          <a:prstGeom prst="roundRect">
            <a:avLst>
              <a:gd name="adj" fmla="val 77234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STAFF &amp; SPECIALISTS</a:t>
            </a:r>
            <a:endParaRPr lang="en-US" sz="560"/>
          </a:p>
        </p:txBody>
      </p:sp>
      <p:sp>
        <p:nvSpPr>
          <p:cNvPr id="44" name="Text 40"/>
          <p:cNvSpPr/>
          <p:nvPr/>
        </p:nvSpPr>
        <p:spPr>
          <a:xfrm>
            <a:off x="2243138" y="3989040"/>
            <a:ext cx="6557963" cy="759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1077367" y="4148286"/>
            <a:ext cx="1024074" cy="189607"/>
          </a:xfrm>
          <a:prstGeom prst="roundRect">
            <a:avLst>
              <a:gd name="adj" fmla="val 22773"/>
            </a:avLst>
          </a:prstGeom>
          <a:solidFill>
            <a:srgbClr val="00B4D8">
              <a:alpha val="6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none" lIns="165070" tIns="29210" rIns="71120" bIns="29210" rtlCol="0" anchor="ctr"/>
          <a:lstStyle/>
          <a:p>
            <a:pPr marL="0" indent="0" algn="l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Representatives</a:t>
            </a:r>
            <a:endParaRPr lang="en-US" sz="590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3959" y="4176721"/>
            <a:ext cx="132588" cy="132588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2138511" y="4148286"/>
            <a:ext cx="1121685" cy="189607"/>
          </a:xfrm>
          <a:prstGeom prst="roundRect">
            <a:avLst>
              <a:gd name="adj" fmla="val 22773"/>
            </a:avLst>
          </a:prstGeom>
          <a:solidFill>
            <a:srgbClr val="00B4D8">
              <a:alpha val="6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none" lIns="165070" tIns="29210" rIns="71120" bIns="29210" rtlCol="0" anchor="ctr"/>
          <a:lstStyle/>
          <a:p>
            <a:pPr marL="0" indent="0" algn="l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Agents</a:t>
            </a:r>
            <a:endParaRPr lang="en-US" sz="590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85103" y="4176721"/>
            <a:ext cx="132588" cy="13258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3295352" y="4148286"/>
            <a:ext cx="824603" cy="189607"/>
          </a:xfrm>
          <a:prstGeom prst="roundRect">
            <a:avLst>
              <a:gd name="adj" fmla="val 22773"/>
            </a:avLst>
          </a:prstGeom>
          <a:solidFill>
            <a:srgbClr val="00B4D8">
              <a:alpha val="6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none" lIns="165070" tIns="29210" rIns="71120" bIns="29210" rtlCol="0" anchor="ctr"/>
          <a:lstStyle/>
          <a:p>
            <a:pPr marL="0" indent="0" algn="l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Staff</a:t>
            </a:r>
            <a:endParaRPr lang="en-US" sz="59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41944" y="4176721"/>
            <a:ext cx="132588" cy="13258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4160937" y="4148286"/>
            <a:ext cx="905211" cy="189607"/>
          </a:xfrm>
          <a:prstGeom prst="roundRect">
            <a:avLst>
              <a:gd name="adj" fmla="val 22773"/>
            </a:avLst>
          </a:prstGeom>
          <a:solidFill>
            <a:srgbClr val="00B4D8">
              <a:alpha val="6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none" lIns="165070" tIns="29210" rIns="71120" bIns="29210" rtlCol="0" anchor="ctr"/>
          <a:lstStyle/>
          <a:p>
            <a:pPr marL="0" indent="0" algn="l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Engineers</a:t>
            </a:r>
            <a:endParaRPr lang="en-US" sz="59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07529" y="4176721"/>
            <a:ext cx="132588" cy="132588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5105549" y="4148286"/>
            <a:ext cx="1057775" cy="189607"/>
          </a:xfrm>
          <a:prstGeom prst="roundRect">
            <a:avLst>
              <a:gd name="adj" fmla="val 22773"/>
            </a:avLst>
          </a:prstGeom>
          <a:solidFill>
            <a:srgbClr val="00B4D8">
              <a:alpha val="6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none" lIns="165070" tIns="29210" rIns="71120" bIns="29210" rtlCol="0" anchor="ctr"/>
          <a:lstStyle/>
          <a:p>
            <a:pPr marL="0" indent="0" algn="l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Administrators</a:t>
            </a:r>
            <a:endParaRPr lang="en-US" sz="59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52141" y="4176721"/>
            <a:ext cx="132588" cy="13258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6199733" y="4148286"/>
            <a:ext cx="1031209" cy="189607"/>
          </a:xfrm>
          <a:prstGeom prst="roundRect">
            <a:avLst>
              <a:gd name="adj" fmla="val 22773"/>
            </a:avLst>
          </a:prstGeom>
          <a:solidFill>
            <a:srgbClr val="00B4D8">
              <a:alpha val="6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none" lIns="165070" tIns="29210" rIns="71120" bIns="29210" rtlCol="0" anchor="ctr"/>
          <a:lstStyle/>
          <a:p>
            <a:pPr marL="0" indent="0" algn="l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 Technicians</a:t>
            </a:r>
            <a:endParaRPr lang="en-US" sz="59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6325" y="4176721"/>
            <a:ext cx="132588" cy="132588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7267873" y="4148286"/>
            <a:ext cx="814736" cy="189607"/>
          </a:xfrm>
          <a:prstGeom prst="roundRect">
            <a:avLst>
              <a:gd name="adj" fmla="val 22773"/>
            </a:avLst>
          </a:prstGeom>
          <a:solidFill>
            <a:srgbClr val="00B4D8">
              <a:alpha val="6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none" lIns="165070" tIns="29210" rIns="71120" bIns="29210" rtlCol="0" anchor="ctr"/>
          <a:lstStyle/>
          <a:p>
            <a:pPr marL="0" indent="0" algn="l">
              <a:buNone/>
            </a:pPr>
            <a:r>
              <a:rPr lang="en-US" sz="5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Staff</a:t>
            </a:r>
            <a:endParaRPr lang="en-US" sz="59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14465" y="4176721"/>
            <a:ext cx="132588" cy="132588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4572000" y="765125"/>
            <a:ext cx="9525" cy="4143970"/>
          </a:xfrm>
          <a:prstGeom prst="rect">
            <a:avLst/>
          </a:prstGeom>
          <a:solidFill>
            <a:srgbClr val="00B4D8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6000"/>
                </a:srgbClr>
              </a:gs>
              <a:gs pos="45000">
                <a:srgbClr val="000000">
                  <a:alpha val="0"/>
                </a:srgbClr>
              </a:gs>
            </a:gsLst>
            <a:path path="circle">
              <a:fillToRect l="85000" t="15000" r="15000" b="85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4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10000" t="80000" r="9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52425" y="696516"/>
            <a:ext cx="2009775" cy="21580"/>
          </a:xfrm>
          <a:custGeom>
            <a:avLst/>
            <a:gdLst/>
            <a:ahLst/>
            <a:cxnLst/>
            <a:rect l="l" t="t" r="r" b="b"/>
            <a:pathLst>
              <a:path w="2009775" h="21580">
                <a:moveTo>
                  <a:pt x="86360" y="0"/>
                </a:moveTo>
                <a:lnTo>
                  <a:pt x="1923415" y="0"/>
                </a:lnTo>
                <a:lnTo>
                  <a:pt x="1944831" y="2698"/>
                </a:lnTo>
                <a:lnTo>
                  <a:pt x="1953460" y="5395"/>
                </a:lnTo>
                <a:lnTo>
                  <a:pt x="1959915" y="8093"/>
                </a:lnTo>
                <a:lnTo>
                  <a:pt x="1965215" y="10790"/>
                </a:lnTo>
                <a:lnTo>
                  <a:pt x="1969758" y="13488"/>
                </a:lnTo>
                <a:lnTo>
                  <a:pt x="1973749" y="16185"/>
                </a:lnTo>
                <a:lnTo>
                  <a:pt x="1977312" y="18883"/>
                </a:lnTo>
                <a:lnTo>
                  <a:pt x="19805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0B4D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495550" y="696516"/>
            <a:ext cx="2009775" cy="21580"/>
          </a:xfrm>
          <a:custGeom>
            <a:avLst/>
            <a:gdLst/>
            <a:ahLst/>
            <a:cxnLst/>
            <a:rect l="l" t="t" r="r" b="b"/>
            <a:pathLst>
              <a:path w="2009775" h="21580">
                <a:moveTo>
                  <a:pt x="86360" y="0"/>
                </a:moveTo>
                <a:lnTo>
                  <a:pt x="1923415" y="0"/>
                </a:lnTo>
                <a:lnTo>
                  <a:pt x="1944831" y="2698"/>
                </a:lnTo>
                <a:lnTo>
                  <a:pt x="1953460" y="5395"/>
                </a:lnTo>
                <a:lnTo>
                  <a:pt x="1959915" y="8093"/>
                </a:lnTo>
                <a:lnTo>
                  <a:pt x="1965215" y="10790"/>
                </a:lnTo>
                <a:lnTo>
                  <a:pt x="1969758" y="13488"/>
                </a:lnTo>
                <a:lnTo>
                  <a:pt x="1973749" y="16185"/>
                </a:lnTo>
                <a:lnTo>
                  <a:pt x="1977312" y="18883"/>
                </a:lnTo>
                <a:lnTo>
                  <a:pt x="19805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6366F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38675" y="696516"/>
            <a:ext cx="2009775" cy="21580"/>
          </a:xfrm>
          <a:custGeom>
            <a:avLst/>
            <a:gdLst/>
            <a:ahLst/>
            <a:cxnLst/>
            <a:rect l="l" t="t" r="r" b="b"/>
            <a:pathLst>
              <a:path w="2009775" h="21580">
                <a:moveTo>
                  <a:pt x="86360" y="0"/>
                </a:moveTo>
                <a:lnTo>
                  <a:pt x="1923415" y="0"/>
                </a:lnTo>
                <a:lnTo>
                  <a:pt x="1944831" y="2698"/>
                </a:lnTo>
                <a:lnTo>
                  <a:pt x="1953460" y="5395"/>
                </a:lnTo>
                <a:lnTo>
                  <a:pt x="1959915" y="8093"/>
                </a:lnTo>
                <a:lnTo>
                  <a:pt x="1965215" y="10790"/>
                </a:lnTo>
                <a:lnTo>
                  <a:pt x="1969758" y="13488"/>
                </a:lnTo>
                <a:lnTo>
                  <a:pt x="1973749" y="16185"/>
                </a:lnTo>
                <a:lnTo>
                  <a:pt x="1977312" y="18883"/>
                </a:lnTo>
                <a:lnTo>
                  <a:pt x="19805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10B98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81800" y="696516"/>
            <a:ext cx="2009775" cy="21580"/>
          </a:xfrm>
          <a:custGeom>
            <a:avLst/>
            <a:gdLst/>
            <a:ahLst/>
            <a:cxnLst/>
            <a:rect l="l" t="t" r="r" b="b"/>
            <a:pathLst>
              <a:path w="2009775" h="21580">
                <a:moveTo>
                  <a:pt x="86360" y="0"/>
                </a:moveTo>
                <a:lnTo>
                  <a:pt x="1923415" y="0"/>
                </a:lnTo>
                <a:lnTo>
                  <a:pt x="1944831" y="2698"/>
                </a:lnTo>
                <a:lnTo>
                  <a:pt x="1953460" y="5395"/>
                </a:lnTo>
                <a:lnTo>
                  <a:pt x="1959915" y="8093"/>
                </a:lnTo>
                <a:lnTo>
                  <a:pt x="1965215" y="10790"/>
                </a:lnTo>
                <a:lnTo>
                  <a:pt x="1969758" y="13488"/>
                </a:lnTo>
                <a:lnTo>
                  <a:pt x="1973749" y="16185"/>
                </a:lnTo>
                <a:lnTo>
                  <a:pt x="1977312" y="18883"/>
                </a:lnTo>
                <a:lnTo>
                  <a:pt x="1980525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F59E0B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3660" y="1820987"/>
            <a:ext cx="6427441" cy="7590"/>
          </a:xfrm>
          <a:prstGeom prst="rect">
            <a:avLst/>
          </a:prstGeom>
          <a:gradFill rotWithShape="1">
            <a:gsLst>
              <a:gs pos="0">
                <a:srgbClr val="00B4D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" y="257770"/>
            <a:ext cx="271760" cy="271760"/>
          </a:xfrm>
          <a:prstGeom prst="roundRect">
            <a:avLst>
              <a:gd name="adj" fmla="val 26170"/>
            </a:avLst>
          </a:prstGeom>
          <a:gradFill rotWithShape="1">
            <a:gsLst>
              <a:gs pos="0">
                <a:srgbClr val="00B4D8"/>
              </a:gs>
              <a:gs pos="100000">
                <a:srgbClr val="0090B0"/>
              </a:gs>
            </a:gsLst>
            <a:lin ang="27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045" y="321915"/>
            <a:ext cx="143470" cy="14347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8960" y="279350"/>
            <a:ext cx="28485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kern="0" spc="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Breakdown </a:t>
            </a:r>
            <a:r>
              <a:rPr lang="en-US" sz="1580" kern="0" spc="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by Location</a:t>
            </a:r>
            <a:endParaRPr lang="en-US" sz="1580"/>
          </a:p>
        </p:txBody>
      </p:sp>
      <p:sp>
        <p:nvSpPr>
          <p:cNvPr id="12" name="Text 9"/>
          <p:cNvSpPr/>
          <p:nvPr/>
        </p:nvSpPr>
        <p:spPr>
          <a:xfrm>
            <a:off x="342900" y="686991"/>
            <a:ext cx="2028825" cy="981075"/>
          </a:xfrm>
          <a:prstGeom prst="roundRect">
            <a:avLst>
              <a:gd name="adj" fmla="val 8803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lIns="128270" tIns="128270" rIns="128270" bIns="100330" rtlCol="0" anchor="t"/>
          <a:lstStyle/>
          <a:p>
            <a:pPr marL="0" indent="0" algn="l">
              <a:buNone/>
            </a:pPr>
            <a:r>
              <a:rPr lang="en-US" sz="236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120</a:t>
            </a:r>
            <a:endParaRPr lang="en-US" sz="2360"/>
          </a:p>
          <a:p>
            <a:pPr marL="0" indent="0" algn="l">
              <a:buNone/>
            </a:pPr>
            <a:r>
              <a:rPr lang="en-US" sz="730" b="1" kern="0" spc="2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2360"/>
          </a:p>
          <a:p>
            <a:pPr marL="0" indent="0" algn="l">
              <a:buNone/>
            </a:pPr>
            <a:endParaRPr lang="en-US" sz="2360"/>
          </a:p>
          <a:p>
            <a:pPr marL="0" indent="0" algn="l"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 across 7 locations — no duplication</a:t>
            </a:r>
            <a:endParaRPr lang="en-US" sz="2360"/>
          </a:p>
        </p:txBody>
      </p:sp>
      <p:sp>
        <p:nvSpPr>
          <p:cNvPr id="13" name="Text 10"/>
          <p:cNvSpPr/>
          <p:nvPr/>
        </p:nvSpPr>
        <p:spPr>
          <a:xfrm>
            <a:off x="2486025" y="686991"/>
            <a:ext cx="2028825" cy="981075"/>
          </a:xfrm>
          <a:prstGeom prst="roundRect">
            <a:avLst>
              <a:gd name="adj" fmla="val 8803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lIns="128270" tIns="128270" rIns="128270" bIns="100330" rtlCol="0" anchor="t"/>
          <a:lstStyle/>
          <a:p>
            <a:pPr marL="0" indent="0" algn="l">
              <a:buNone/>
            </a:pPr>
            <a:r>
              <a:rPr lang="en-US" sz="2360">
                <a:solidFill>
                  <a:srgbClr val="6366F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2360"/>
          </a:p>
          <a:p>
            <a:pPr marL="0" indent="0" algn="l">
              <a:buNone/>
            </a:pPr>
            <a:r>
              <a:rPr lang="en-US" sz="730" b="1" kern="0" spc="2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Users (Dallas)</a:t>
            </a:r>
            <a:endParaRPr lang="en-US" sz="2360"/>
          </a:p>
          <a:p>
            <a:pPr marL="0" indent="0" algn="l">
              <a:buNone/>
            </a:pPr>
            <a:endParaRPr lang="en-US" sz="2360"/>
          </a:p>
          <a:p>
            <a:pPr marL="0" indent="0" algn="l"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resources organization-wide</a:t>
            </a:r>
            <a:endParaRPr lang="en-US" sz="2360"/>
          </a:p>
        </p:txBody>
      </p:sp>
      <p:sp>
        <p:nvSpPr>
          <p:cNvPr id="14" name="Text 11"/>
          <p:cNvSpPr/>
          <p:nvPr/>
        </p:nvSpPr>
        <p:spPr>
          <a:xfrm>
            <a:off x="4629150" y="686991"/>
            <a:ext cx="2028825" cy="981075"/>
          </a:xfrm>
          <a:prstGeom prst="roundRect">
            <a:avLst>
              <a:gd name="adj" fmla="val 8803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lIns="128270" tIns="128270" rIns="128270" bIns="100330" rtlCol="0" anchor="t"/>
          <a:lstStyle/>
          <a:p>
            <a:pPr marL="0" indent="0" algn="l">
              <a:buNone/>
            </a:pPr>
            <a:r>
              <a:rPr lang="en-US" sz="236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</a:t>
            </a:r>
            <a:endParaRPr lang="en-US" sz="2360"/>
          </a:p>
          <a:p>
            <a:pPr marL="0" indent="0" algn="l">
              <a:buNone/>
            </a:pPr>
            <a:r>
              <a:rPr lang="en-US" sz="730" b="1" kern="0" spc="2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Receiving &amp; Distribution</a:t>
            </a:r>
            <a:endParaRPr lang="en-US" sz="2360"/>
          </a:p>
          <a:p>
            <a:pPr marL="0" indent="0" algn="l">
              <a:buNone/>
            </a:pPr>
            <a:endParaRPr lang="en-US" sz="2360"/>
          </a:p>
          <a:p>
            <a:pPr marL="0" indent="0" algn="l"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10 + Milwaukee 10 + Austin 10 — full network access</a:t>
            </a:r>
            <a:endParaRPr lang="en-US" sz="2360"/>
          </a:p>
        </p:txBody>
      </p:sp>
      <p:sp>
        <p:nvSpPr>
          <p:cNvPr id="15" name="Text 12"/>
          <p:cNvSpPr/>
          <p:nvPr/>
        </p:nvSpPr>
        <p:spPr>
          <a:xfrm>
            <a:off x="6772275" y="686991"/>
            <a:ext cx="2028825" cy="981075"/>
          </a:xfrm>
          <a:prstGeom prst="roundRect">
            <a:avLst>
              <a:gd name="adj" fmla="val 8803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lIns="128270" tIns="128270" rIns="128270" bIns="100330" rtlCol="0" anchor="t"/>
          <a:lstStyle/>
          <a:p>
            <a:pPr marL="0" indent="0" algn="l">
              <a:buNone/>
            </a:pPr>
            <a:r>
              <a:rPr lang="en-US" sz="236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</a:t>
            </a:r>
            <a:endParaRPr lang="en-US" sz="2360"/>
          </a:p>
          <a:p>
            <a:pPr marL="0" indent="0" algn="l">
              <a:buNone/>
            </a:pPr>
            <a:r>
              <a:rPr lang="en-US" sz="730" b="1" kern="0" spc="2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Sales/CS &amp; Data Center Users</a:t>
            </a:r>
            <a:endParaRPr lang="en-US" sz="2360"/>
          </a:p>
          <a:p>
            <a:pPr marL="0" indent="0" algn="l">
              <a:buNone/>
            </a:pPr>
            <a:endParaRPr lang="en-US" sz="2360"/>
          </a:p>
          <a:p>
            <a:pPr marL="0" indent="0" algn="l"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30 (10 Sales + 20 DC) | SF 10 (Sales) | Seattle 20 (DC)</a:t>
            </a:r>
            <a:endParaRPr lang="en-US" sz="2360"/>
          </a:p>
        </p:txBody>
      </p:sp>
      <p:sp>
        <p:nvSpPr>
          <p:cNvPr id="16" name="Text 13"/>
          <p:cNvSpPr/>
          <p:nvPr/>
        </p:nvSpPr>
        <p:spPr>
          <a:xfrm>
            <a:off x="342900" y="1767632"/>
            <a:ext cx="21709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kern="0" spc="80">
                <a:solidFill>
                  <a:srgbClr val="8899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DETAILED LOCATION BREAKDOWN</a:t>
            </a:r>
            <a:endParaRPr lang="en-US" sz="790"/>
          </a:p>
        </p:txBody>
      </p:sp>
      <p:sp>
        <p:nvSpPr>
          <p:cNvPr id="17" name="Text 14"/>
          <p:cNvSpPr/>
          <p:nvPr/>
        </p:nvSpPr>
        <p:spPr>
          <a:xfrm>
            <a:off x="342900" y="1981498"/>
            <a:ext cx="2426446" cy="181570"/>
          </a:xfrm>
          <a:prstGeom prst="rect">
            <a:avLst/>
          </a:prstGeom>
          <a:noFill/>
          <a:ln/>
        </p:spPr>
        <p:txBody>
          <a:bodyPr wrap="none" lIns="100330" tIns="43180" rIns="100330" bIns="43180" rtlCol="0" anchor="t"/>
          <a:lstStyle/>
          <a:p>
            <a:pPr marL="0" indent="0" algn="l">
              <a:buNone/>
            </a:pPr>
            <a:r>
              <a:rPr lang="en-US" sz="620" b="1" kern="0" spc="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20"/>
          </a:p>
        </p:txBody>
      </p:sp>
      <p:sp>
        <p:nvSpPr>
          <p:cNvPr id="18" name="Text 15"/>
          <p:cNvSpPr/>
          <p:nvPr/>
        </p:nvSpPr>
        <p:spPr>
          <a:xfrm>
            <a:off x="342900" y="2153543"/>
            <a:ext cx="2378869" cy="9525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721769" y="1981498"/>
            <a:ext cx="2228341" cy="181570"/>
          </a:xfrm>
          <a:prstGeom prst="rect">
            <a:avLst/>
          </a:prstGeom>
          <a:noFill/>
          <a:ln/>
        </p:spPr>
        <p:txBody>
          <a:bodyPr wrap="none" lIns="100330" tIns="43180" rIns="100330" bIns="43180" rtlCol="0" anchor="t"/>
          <a:lstStyle/>
          <a:p>
            <a:pPr marL="0" indent="0" algn="l">
              <a:buNone/>
            </a:pPr>
            <a:r>
              <a:rPr lang="en-US" sz="620" b="1" kern="0" spc="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620"/>
          </a:p>
        </p:txBody>
      </p:sp>
      <p:sp>
        <p:nvSpPr>
          <p:cNvPr id="20" name="Text 17"/>
          <p:cNvSpPr/>
          <p:nvPr/>
        </p:nvSpPr>
        <p:spPr>
          <a:xfrm>
            <a:off x="2721769" y="2153543"/>
            <a:ext cx="2184648" cy="9525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06417" y="1981498"/>
            <a:ext cx="3389647" cy="181570"/>
          </a:xfrm>
          <a:prstGeom prst="rect">
            <a:avLst/>
          </a:prstGeom>
          <a:noFill/>
          <a:ln/>
        </p:spPr>
        <p:txBody>
          <a:bodyPr wrap="none" lIns="100330" tIns="43180" rIns="100330" bIns="43180" rtlCol="0" anchor="t"/>
          <a:lstStyle/>
          <a:p>
            <a:pPr marL="0" indent="0" algn="l">
              <a:buNone/>
            </a:pPr>
            <a:r>
              <a:rPr lang="en-US" sz="620" b="1" kern="0" spc="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620"/>
          </a:p>
        </p:txBody>
      </p:sp>
      <p:sp>
        <p:nvSpPr>
          <p:cNvPr id="22" name="Text 19"/>
          <p:cNvSpPr/>
          <p:nvPr/>
        </p:nvSpPr>
        <p:spPr>
          <a:xfrm>
            <a:off x="4906417" y="2153543"/>
            <a:ext cx="3323183" cy="9525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23885" y="1981498"/>
            <a:ext cx="582930" cy="181570"/>
          </a:xfrm>
          <a:prstGeom prst="rect">
            <a:avLst/>
          </a:prstGeom>
          <a:noFill/>
          <a:ln/>
        </p:spPr>
        <p:txBody>
          <a:bodyPr wrap="none" lIns="100330" tIns="43180" rIns="100330" bIns="43180" rtlCol="0" anchor="t"/>
          <a:lstStyle/>
          <a:p>
            <a:pPr marL="0" indent="0" algn="ctr">
              <a:buNone/>
            </a:pPr>
            <a:r>
              <a:rPr lang="en-US" sz="620" b="1" kern="0" spc="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620"/>
          </a:p>
        </p:txBody>
      </p:sp>
      <p:sp>
        <p:nvSpPr>
          <p:cNvPr id="24" name="Text 21"/>
          <p:cNvSpPr/>
          <p:nvPr/>
        </p:nvSpPr>
        <p:spPr>
          <a:xfrm>
            <a:off x="8229600" y="2153543"/>
            <a:ext cx="571500" cy="9525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42900" y="2191643"/>
            <a:ext cx="8458200" cy="257175"/>
          </a:xfrm>
          <a:prstGeom prst="rect">
            <a:avLst/>
          </a:prstGeom>
          <a:solidFill>
            <a:srgbClr val="1620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721769" y="2191643"/>
            <a:ext cx="2228341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700"/>
          </a:p>
        </p:txBody>
      </p:sp>
      <p:sp>
        <p:nvSpPr>
          <p:cNvPr id="27" name="Text 24"/>
          <p:cNvSpPr/>
          <p:nvPr/>
        </p:nvSpPr>
        <p:spPr>
          <a:xfrm>
            <a:off x="4906417" y="2191643"/>
            <a:ext cx="3389647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All-access, organization-wide privileges</a:t>
            </a:r>
            <a:endParaRPr lang="en-US" sz="700"/>
          </a:p>
        </p:txBody>
      </p:sp>
      <p:sp>
        <p:nvSpPr>
          <p:cNvPr id="28" name="Text 25"/>
          <p:cNvSpPr/>
          <p:nvPr/>
        </p:nvSpPr>
        <p:spPr>
          <a:xfrm>
            <a:off x="8223885" y="2191643"/>
            <a:ext cx="582930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1010"/>
          </a:p>
        </p:txBody>
      </p:sp>
      <p:sp>
        <p:nvSpPr>
          <p:cNvPr id="29" name="Text 26"/>
          <p:cNvSpPr/>
          <p:nvPr/>
        </p:nvSpPr>
        <p:spPr>
          <a:xfrm>
            <a:off x="342900" y="2477393"/>
            <a:ext cx="8458200" cy="257175"/>
          </a:xfrm>
          <a:prstGeom prst="rect">
            <a:avLst/>
          </a:prstGeom>
          <a:solidFill>
            <a:srgbClr val="1620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21769" y="2477393"/>
            <a:ext cx="2228341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/ Receiving</a:t>
            </a:r>
            <a:endParaRPr lang="en-US" sz="700"/>
          </a:p>
        </p:txBody>
      </p:sp>
      <p:sp>
        <p:nvSpPr>
          <p:cNvPr id="31" name="Text 28"/>
          <p:cNvSpPr/>
          <p:nvPr/>
        </p:nvSpPr>
        <p:spPr>
          <a:xfrm>
            <a:off x="4906417" y="2477393"/>
            <a:ext cx="3389647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operations</a:t>
            </a:r>
            <a:endParaRPr lang="en-US" sz="700"/>
          </a:p>
        </p:txBody>
      </p:sp>
      <p:sp>
        <p:nvSpPr>
          <p:cNvPr id="32" name="Text 29"/>
          <p:cNvSpPr/>
          <p:nvPr/>
        </p:nvSpPr>
        <p:spPr>
          <a:xfrm>
            <a:off x="8223885" y="2477393"/>
            <a:ext cx="582930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1010"/>
          </a:p>
        </p:txBody>
      </p:sp>
      <p:sp>
        <p:nvSpPr>
          <p:cNvPr id="33" name="Text 30"/>
          <p:cNvSpPr/>
          <p:nvPr/>
        </p:nvSpPr>
        <p:spPr>
          <a:xfrm>
            <a:off x="342900" y="2763143"/>
            <a:ext cx="8458200" cy="257175"/>
          </a:xfrm>
          <a:prstGeom prst="rect">
            <a:avLst/>
          </a:prstGeom>
          <a:solidFill>
            <a:srgbClr val="1620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21769" y="2763143"/>
            <a:ext cx="2228341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/ Receiving</a:t>
            </a:r>
            <a:endParaRPr lang="en-US" sz="700"/>
          </a:p>
        </p:txBody>
      </p:sp>
      <p:sp>
        <p:nvSpPr>
          <p:cNvPr id="35" name="Text 32"/>
          <p:cNvSpPr/>
          <p:nvPr/>
        </p:nvSpPr>
        <p:spPr>
          <a:xfrm>
            <a:off x="4906417" y="2763143"/>
            <a:ext cx="3389647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operations</a:t>
            </a:r>
            <a:endParaRPr lang="en-US" sz="700"/>
          </a:p>
        </p:txBody>
      </p:sp>
      <p:sp>
        <p:nvSpPr>
          <p:cNvPr id="36" name="Text 33"/>
          <p:cNvSpPr/>
          <p:nvPr/>
        </p:nvSpPr>
        <p:spPr>
          <a:xfrm>
            <a:off x="8223885" y="2763143"/>
            <a:ext cx="582930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1010"/>
          </a:p>
        </p:txBody>
      </p:sp>
      <p:sp>
        <p:nvSpPr>
          <p:cNvPr id="37" name="Text 34"/>
          <p:cNvSpPr/>
          <p:nvPr/>
        </p:nvSpPr>
        <p:spPr>
          <a:xfrm>
            <a:off x="342900" y="3048893"/>
            <a:ext cx="8458200" cy="257175"/>
          </a:xfrm>
          <a:prstGeom prst="rect">
            <a:avLst/>
          </a:prstGeom>
          <a:solidFill>
            <a:srgbClr val="1620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721769" y="3048893"/>
            <a:ext cx="2228341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Sales/CS + Data Center</a:t>
            </a:r>
            <a:endParaRPr lang="en-US" sz="700"/>
          </a:p>
        </p:txBody>
      </p:sp>
      <p:sp>
        <p:nvSpPr>
          <p:cNvPr id="39" name="Text 36"/>
          <p:cNvSpPr/>
          <p:nvPr/>
        </p:nvSpPr>
        <p:spPr>
          <a:xfrm>
            <a:off x="4906417" y="3048893"/>
            <a:ext cx="3389647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Sales/CS remote + 20 Data Center</a:t>
            </a:r>
            <a:endParaRPr lang="en-US" sz="700"/>
          </a:p>
        </p:txBody>
      </p:sp>
      <p:sp>
        <p:nvSpPr>
          <p:cNvPr id="40" name="Text 37"/>
          <p:cNvSpPr/>
          <p:nvPr/>
        </p:nvSpPr>
        <p:spPr>
          <a:xfrm>
            <a:off x="8223885" y="3048893"/>
            <a:ext cx="582930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1010"/>
          </a:p>
        </p:txBody>
      </p:sp>
      <p:sp>
        <p:nvSpPr>
          <p:cNvPr id="41" name="Text 38"/>
          <p:cNvSpPr/>
          <p:nvPr/>
        </p:nvSpPr>
        <p:spPr>
          <a:xfrm>
            <a:off x="342900" y="3334643"/>
            <a:ext cx="8458200" cy="257175"/>
          </a:xfrm>
          <a:prstGeom prst="rect">
            <a:avLst/>
          </a:prstGeom>
          <a:solidFill>
            <a:srgbClr val="1620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721769" y="3334643"/>
            <a:ext cx="2228341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CS Remote</a:t>
            </a:r>
            <a:endParaRPr lang="en-US" sz="700"/>
          </a:p>
        </p:txBody>
      </p:sp>
      <p:sp>
        <p:nvSpPr>
          <p:cNvPr id="43" name="Text 40"/>
          <p:cNvSpPr/>
          <p:nvPr/>
        </p:nvSpPr>
        <p:spPr>
          <a:xfrm>
            <a:off x="4906417" y="3334643"/>
            <a:ext cx="3389647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customer-facing team</a:t>
            </a:r>
            <a:endParaRPr lang="en-US" sz="700"/>
          </a:p>
        </p:txBody>
      </p:sp>
      <p:sp>
        <p:nvSpPr>
          <p:cNvPr id="44" name="Text 41"/>
          <p:cNvSpPr/>
          <p:nvPr/>
        </p:nvSpPr>
        <p:spPr>
          <a:xfrm>
            <a:off x="8223885" y="3334643"/>
            <a:ext cx="582930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1010"/>
          </a:p>
        </p:txBody>
      </p:sp>
      <p:sp>
        <p:nvSpPr>
          <p:cNvPr id="45" name="Text 42"/>
          <p:cNvSpPr/>
          <p:nvPr/>
        </p:nvSpPr>
        <p:spPr>
          <a:xfrm>
            <a:off x="342900" y="3620393"/>
            <a:ext cx="8458200" cy="257175"/>
          </a:xfrm>
          <a:prstGeom prst="rect">
            <a:avLst/>
          </a:prstGeom>
          <a:solidFill>
            <a:srgbClr val="1620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2721769" y="3620393"/>
            <a:ext cx="2228341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</a:t>
            </a:r>
            <a:endParaRPr lang="en-US" sz="700"/>
          </a:p>
        </p:txBody>
      </p:sp>
      <p:sp>
        <p:nvSpPr>
          <p:cNvPr id="47" name="Text 44"/>
          <p:cNvSpPr/>
          <p:nvPr/>
        </p:nvSpPr>
        <p:spPr>
          <a:xfrm>
            <a:off x="4906417" y="3620393"/>
            <a:ext cx="3389647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distribution hub</a:t>
            </a:r>
            <a:endParaRPr lang="en-US" sz="700"/>
          </a:p>
        </p:txBody>
      </p:sp>
      <p:sp>
        <p:nvSpPr>
          <p:cNvPr id="48" name="Text 45"/>
          <p:cNvSpPr/>
          <p:nvPr/>
        </p:nvSpPr>
        <p:spPr>
          <a:xfrm>
            <a:off x="8223885" y="3620393"/>
            <a:ext cx="582930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1010"/>
          </a:p>
        </p:txBody>
      </p:sp>
      <p:sp>
        <p:nvSpPr>
          <p:cNvPr id="49" name="Text 46"/>
          <p:cNvSpPr/>
          <p:nvPr/>
        </p:nvSpPr>
        <p:spPr>
          <a:xfrm>
            <a:off x="342900" y="3906143"/>
            <a:ext cx="8458200" cy="257175"/>
          </a:xfrm>
          <a:prstGeom prst="rect">
            <a:avLst/>
          </a:prstGeom>
          <a:solidFill>
            <a:srgbClr val="1620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2721769" y="3906143"/>
            <a:ext cx="2228341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700"/>
          </a:p>
        </p:txBody>
      </p:sp>
      <p:sp>
        <p:nvSpPr>
          <p:cNvPr id="51" name="Text 48"/>
          <p:cNvSpPr/>
          <p:nvPr/>
        </p:nvSpPr>
        <p:spPr>
          <a:xfrm>
            <a:off x="4906417" y="3906143"/>
            <a:ext cx="3389647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operations</a:t>
            </a:r>
            <a:endParaRPr lang="en-US" sz="700"/>
          </a:p>
        </p:txBody>
      </p:sp>
      <p:sp>
        <p:nvSpPr>
          <p:cNvPr id="52" name="Text 49"/>
          <p:cNvSpPr/>
          <p:nvPr/>
        </p:nvSpPr>
        <p:spPr>
          <a:xfrm>
            <a:off x="8223885" y="3906143"/>
            <a:ext cx="582930" cy="270034"/>
          </a:xfrm>
          <a:prstGeom prst="rect">
            <a:avLst/>
          </a:prstGeom>
          <a:noFill/>
          <a:ln/>
        </p:spPr>
        <p:txBody>
          <a:bodyPr wrap="square" lIns="100330" tIns="57150" rIns="100330" bIns="57150" rtlCol="0" anchor="t"/>
          <a:lstStyle/>
          <a:p>
            <a:pPr marL="0" indent="0" algn="ctr">
              <a:lnSpc>
                <a:spcPts val="1010"/>
              </a:lnSpc>
              <a:buNone/>
            </a:pPr>
            <a:r>
              <a:rPr lang="en-US" sz="10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</a:t>
            </a:r>
            <a:endParaRPr lang="en-US" sz="101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050" y="393650"/>
            <a:ext cx="181868" cy="1818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2228" y="342900"/>
            <a:ext cx="3773655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3"/>
              </a:lnSpc>
              <a:buNone/>
            </a:pPr>
            <a:r>
              <a:rPr lang="en-US" sz="2030" kern="0" spc="-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Segmentation Strategy</a:t>
            </a:r>
            <a:endParaRPr lang="en-US" sz="2030"/>
          </a:p>
        </p:txBody>
      </p:sp>
      <p:sp>
        <p:nvSpPr>
          <p:cNvPr id="4" name="Text 1"/>
          <p:cNvSpPr/>
          <p:nvPr/>
        </p:nvSpPr>
        <p:spPr>
          <a:xfrm>
            <a:off x="742950" y="669578"/>
            <a:ext cx="34290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42950" y="762149"/>
            <a:ext cx="880110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architecture, VPN connectivity, QoS enforcement &amp; monitoring across all sites</a:t>
            </a:r>
            <a:endParaRPr lang="en-US" sz="840"/>
          </a:p>
        </p:txBody>
      </p:sp>
      <p:sp>
        <p:nvSpPr>
          <p:cNvPr id="6" name="Text 3"/>
          <p:cNvSpPr/>
          <p:nvPr/>
        </p:nvSpPr>
        <p:spPr>
          <a:xfrm>
            <a:off x="400050" y="1122759"/>
            <a:ext cx="4093220" cy="1123206"/>
          </a:xfrm>
          <a:prstGeom prst="roundRect">
            <a:avLst>
              <a:gd name="adj" fmla="val 6332"/>
            </a:avLst>
          </a:prstGeom>
          <a:solidFill>
            <a:srgbClr val="162032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7510" y="122307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240" y="1301800"/>
            <a:ext cx="157460" cy="157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0571" y="1223070"/>
            <a:ext cx="366876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VLAN-Based Segmentation</a:t>
            </a:r>
            <a:endParaRPr lang="en-US" sz="930"/>
          </a:p>
        </p:txBody>
      </p:sp>
      <p:sp>
        <p:nvSpPr>
          <p:cNvPr id="10" name="Text 6"/>
          <p:cNvSpPr/>
          <p:nvPr/>
        </p:nvSpPr>
        <p:spPr>
          <a:xfrm>
            <a:off x="1000571" y="1384548"/>
            <a:ext cx="340194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VLANs per site isolate traffic by function: Management, Servers, Staff, Guest, VoIP, and DMZ</a:t>
            </a:r>
            <a:endParaRPr lang="en-US" sz="820"/>
          </a:p>
        </p:txBody>
      </p:sp>
      <p:sp>
        <p:nvSpPr>
          <p:cNvPr id="11" name="Text 7"/>
          <p:cNvSpPr/>
          <p:nvPr/>
        </p:nvSpPr>
        <p:spPr>
          <a:xfrm>
            <a:off x="4650730" y="1122759"/>
            <a:ext cx="4093220" cy="1123206"/>
          </a:xfrm>
          <a:prstGeom prst="roundRect">
            <a:avLst>
              <a:gd name="adj" fmla="val 6332"/>
            </a:avLst>
          </a:prstGeom>
          <a:solidFill>
            <a:srgbClr val="162032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08190" y="122307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6920" y="1301800"/>
            <a:ext cx="157460" cy="157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1252" y="1223070"/>
            <a:ext cx="366876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Inter-VLAN Routing with ACLs</a:t>
            </a:r>
            <a:endParaRPr lang="en-US" sz="930"/>
          </a:p>
        </p:txBody>
      </p:sp>
      <p:sp>
        <p:nvSpPr>
          <p:cNvPr id="15" name="Text 10"/>
          <p:cNvSpPr/>
          <p:nvPr/>
        </p:nvSpPr>
        <p:spPr>
          <a:xfrm>
            <a:off x="5251252" y="1384548"/>
            <a:ext cx="340194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switches handle routing between VLANs with access control lists restricting cross-VLAN traffic</a:t>
            </a:r>
            <a:endParaRPr lang="en-US" sz="820"/>
          </a:p>
        </p:txBody>
      </p:sp>
      <p:sp>
        <p:nvSpPr>
          <p:cNvPr id="16" name="Text 11"/>
          <p:cNvSpPr/>
          <p:nvPr/>
        </p:nvSpPr>
        <p:spPr>
          <a:xfrm>
            <a:off x="400050" y="2316956"/>
            <a:ext cx="4093220" cy="1123206"/>
          </a:xfrm>
          <a:prstGeom prst="roundRect">
            <a:avLst>
              <a:gd name="adj" fmla="val 6332"/>
            </a:avLst>
          </a:prstGeom>
          <a:solidFill>
            <a:srgbClr val="162032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57510" y="241726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40" y="2495996"/>
            <a:ext cx="157460" cy="157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0571" y="2417266"/>
            <a:ext cx="366876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Connectivity</a:t>
            </a:r>
            <a:endParaRPr lang="en-US" sz="930"/>
          </a:p>
        </p:txBody>
      </p:sp>
      <p:sp>
        <p:nvSpPr>
          <p:cNvPr id="20" name="Text 14"/>
          <p:cNvSpPr/>
          <p:nvPr/>
        </p:nvSpPr>
        <p:spPr>
          <a:xfrm>
            <a:off x="1000571" y="2578745"/>
            <a:ext cx="340194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IPSec site-to-site VPN tunnels connecting all 7 locations to Dallas HQ</a:t>
            </a:r>
            <a:endParaRPr lang="en-US" sz="820"/>
          </a:p>
        </p:txBody>
      </p:sp>
      <p:sp>
        <p:nvSpPr>
          <p:cNvPr id="21" name="Text 15"/>
          <p:cNvSpPr/>
          <p:nvPr/>
        </p:nvSpPr>
        <p:spPr>
          <a:xfrm>
            <a:off x="4650730" y="2316956"/>
            <a:ext cx="4093220" cy="1123206"/>
          </a:xfrm>
          <a:prstGeom prst="roundRect">
            <a:avLst>
              <a:gd name="adj" fmla="val 6332"/>
            </a:avLst>
          </a:prstGeom>
          <a:solidFill>
            <a:srgbClr val="162032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4808190" y="2417266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6920" y="2495996"/>
            <a:ext cx="157460" cy="157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51252" y="2417266"/>
            <a:ext cx="3481477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User Access</a:t>
            </a:r>
            <a:endParaRPr lang="en-US" sz="930"/>
          </a:p>
        </p:txBody>
      </p:sp>
      <p:sp>
        <p:nvSpPr>
          <p:cNvPr id="25" name="Text 18"/>
          <p:cNvSpPr/>
          <p:nvPr/>
        </p:nvSpPr>
        <p:spPr>
          <a:xfrm>
            <a:off x="5251252" y="2578745"/>
            <a:ext cx="3481477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VPN for 20 remote sales/CS users in Atlanta and San Francisco</a:t>
            </a:r>
            <a:endParaRPr lang="en-US" sz="820"/>
          </a:p>
        </p:txBody>
      </p:sp>
      <p:sp>
        <p:nvSpPr>
          <p:cNvPr id="26" name="Text 19"/>
          <p:cNvSpPr/>
          <p:nvPr/>
        </p:nvSpPr>
        <p:spPr>
          <a:xfrm>
            <a:off x="400050" y="3511153"/>
            <a:ext cx="4093220" cy="1123206"/>
          </a:xfrm>
          <a:prstGeom prst="roundRect">
            <a:avLst>
              <a:gd name="adj" fmla="val 6332"/>
            </a:avLst>
          </a:prstGeom>
          <a:solidFill>
            <a:srgbClr val="162032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557510" y="361146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240" y="3690193"/>
            <a:ext cx="157460" cy="157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00571" y="3611463"/>
            <a:ext cx="366876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&amp; Traffic Prioritization</a:t>
            </a:r>
            <a:endParaRPr lang="en-US" sz="930"/>
          </a:p>
        </p:txBody>
      </p:sp>
      <p:sp>
        <p:nvSpPr>
          <p:cNvPr id="30" name="Text 22"/>
          <p:cNvSpPr/>
          <p:nvPr/>
        </p:nvSpPr>
        <p:spPr>
          <a:xfrm>
            <a:off x="1000571" y="3772942"/>
            <a:ext cx="340194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VLAN traffic prioritized; guest VLAN bandwidth-limited and isolated from production</a:t>
            </a:r>
            <a:endParaRPr lang="en-US" sz="820"/>
          </a:p>
        </p:txBody>
      </p:sp>
      <p:sp>
        <p:nvSpPr>
          <p:cNvPr id="31" name="Text 23"/>
          <p:cNvSpPr/>
          <p:nvPr/>
        </p:nvSpPr>
        <p:spPr>
          <a:xfrm>
            <a:off x="4650730" y="3511153"/>
            <a:ext cx="4093220" cy="1123206"/>
          </a:xfrm>
          <a:prstGeom prst="roundRect">
            <a:avLst>
              <a:gd name="adj" fmla="val 6332"/>
            </a:avLst>
          </a:prstGeom>
          <a:solidFill>
            <a:srgbClr val="162032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4808190" y="361146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86920" y="3690193"/>
            <a:ext cx="157460" cy="1574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251252" y="3611463"/>
            <a:ext cx="366876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3"/>
              </a:lnSpc>
              <a:buNone/>
            </a:pPr>
            <a:r>
              <a:rPr lang="en-US" sz="9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</a:t>
            </a:r>
            <a:endParaRPr lang="en-US" sz="930"/>
          </a:p>
        </p:txBody>
      </p:sp>
      <p:sp>
        <p:nvSpPr>
          <p:cNvPr id="35" name="Text 26"/>
          <p:cNvSpPr/>
          <p:nvPr/>
        </p:nvSpPr>
        <p:spPr>
          <a:xfrm>
            <a:off x="5251252" y="3772942"/>
            <a:ext cx="340194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and syslog monitoring on all managed switches and routers for real-time visibility</a:t>
            </a:r>
            <a:endParaRPr lang="en-US" sz="820"/>
          </a:p>
        </p:txBody>
      </p:sp>
      <p:sp>
        <p:nvSpPr>
          <p:cNvPr id="36" name="Text 27"/>
          <p:cNvSpPr/>
          <p:nvPr/>
        </p:nvSpPr>
        <p:spPr>
          <a:xfrm>
            <a:off x="400050" y="4677519"/>
            <a:ext cx="936787" cy="180231"/>
          </a:xfrm>
          <a:prstGeom prst="roundRect">
            <a:avLst>
              <a:gd name="adj" fmla="val 19730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30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2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 · MGMT</a:t>
            </a:r>
            <a:endParaRPr lang="en-US" sz="62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0912" y="4701266"/>
            <a:ext cx="132588" cy="13258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361629" y="4677519"/>
            <a:ext cx="1081305" cy="180231"/>
          </a:xfrm>
          <a:prstGeom prst="roundRect">
            <a:avLst>
              <a:gd name="adj" fmla="val 19730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2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 · SERVERS</a:t>
            </a:r>
            <a:endParaRPr lang="en-US" sz="62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2491" y="4701266"/>
            <a:ext cx="132588" cy="13258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2464891" y="4677519"/>
            <a:ext cx="946806" cy="180231"/>
          </a:xfrm>
          <a:prstGeom prst="roundRect">
            <a:avLst>
              <a:gd name="adj" fmla="val 19730"/>
            </a:avLst>
          </a:prstGeom>
          <a:solidFill>
            <a:srgbClr val="63DCBE">
              <a:alpha val="10000"/>
            </a:srgbClr>
          </a:solidFill>
          <a:ln w="9525">
            <a:solidFill>
              <a:srgbClr val="63DCBE">
                <a:alpha val="25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20">
                <a:solidFill>
                  <a:srgbClr val="63D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 · STAFF</a:t>
            </a:r>
            <a:endParaRPr lang="en-US" sz="62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05754" y="4701266"/>
            <a:ext cx="132588" cy="13258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3436293" y="4677519"/>
            <a:ext cx="970639" cy="180231"/>
          </a:xfrm>
          <a:prstGeom prst="roundRect">
            <a:avLst>
              <a:gd name="adj" fmla="val 19730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25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2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 · GUEST</a:t>
            </a:r>
            <a:endParaRPr lang="en-US" sz="62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77155" y="4701266"/>
            <a:ext cx="132588" cy="13258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4431060" y="4677519"/>
            <a:ext cx="883503" cy="180231"/>
          </a:xfrm>
          <a:prstGeom prst="roundRect">
            <a:avLst>
              <a:gd name="adj" fmla="val 19730"/>
            </a:avLst>
          </a:prstGeom>
          <a:solidFill>
            <a:srgbClr val="A882FF">
              <a:alpha val="10000"/>
            </a:srgbClr>
          </a:solidFill>
          <a:ln w="9525">
            <a:solidFill>
              <a:srgbClr val="A882FF">
                <a:alpha val="25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20">
                <a:solidFill>
                  <a:srgbClr val="A8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 · VOIP</a:t>
            </a:r>
            <a:endParaRPr lang="en-US" sz="62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71922" y="4701266"/>
            <a:ext cx="132588" cy="132588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340400" y="4677519"/>
            <a:ext cx="863010" cy="180231"/>
          </a:xfrm>
          <a:prstGeom prst="roundRect">
            <a:avLst>
              <a:gd name="adj" fmla="val 19730"/>
            </a:avLst>
          </a:prstGeom>
          <a:solidFill>
            <a:srgbClr val="F87171">
              <a:alpha val="10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2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60 · DMZ</a:t>
            </a:r>
            <a:endParaRPr lang="en-US" sz="62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81262" y="4701266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CC59A-524F-0D6C-EF5B-96E9BF39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CB878FC-5591-F9F0-BF80-68D3910818DA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Diagram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D5A5DF-7315-8A0A-A869-EA8AA56CB1B2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F5D186BD-DA23-7B34-D6BE-BFDB5806147B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682CB20E-CC38-D145-3DF0-AB833679B41E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6E1CD-3640-BB8F-7992-D222F6789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58" y="936872"/>
            <a:ext cx="7414727" cy="382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0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9226" y="228600"/>
            <a:ext cx="88655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kern="0" spc="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IP Addressing Scheme — </a:t>
            </a:r>
            <a:r>
              <a:rPr lang="en-US" sz="1800" kern="0" spc="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286250" y="581620"/>
            <a:ext cx="57150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5750" y="746671"/>
            <a:ext cx="4200525" cy="4213771"/>
          </a:xfrm>
          <a:prstGeom prst="roundRect">
            <a:avLst>
              <a:gd name="adj" fmla="val 2389"/>
            </a:avLst>
          </a:prstGeom>
          <a:solidFill>
            <a:srgbClr val="162032"/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5275" y="1151186"/>
            <a:ext cx="4181475" cy="9525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243" y="893127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488" y="883295"/>
            <a:ext cx="6803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107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Dallas HQ</a:t>
            </a:r>
            <a:endParaRPr lang="en-US" sz="1070"/>
          </a:p>
        </p:txBody>
      </p:sp>
      <p:sp>
        <p:nvSpPr>
          <p:cNvPr id="10" name="Text 7"/>
          <p:cNvSpPr/>
          <p:nvPr/>
        </p:nvSpPr>
        <p:spPr>
          <a:xfrm>
            <a:off x="1278434" y="913656"/>
            <a:ext cx="729877" cy="132457"/>
          </a:xfrm>
          <a:prstGeom prst="roundRect">
            <a:avLst>
              <a:gd name="adj" fmla="val 53693"/>
            </a:avLst>
          </a:prstGeom>
          <a:solidFill>
            <a:srgbClr val="00B4D8"/>
          </a:solidFill>
          <a:ln/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730" b="1" kern="0" spc="2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10.10.0.0 /16</a:t>
            </a:r>
            <a:endParaRPr lang="en-US" sz="730"/>
          </a:p>
        </p:txBody>
      </p:sp>
      <p:sp>
        <p:nvSpPr>
          <p:cNvPr id="11" name="Text 8"/>
          <p:cNvSpPr/>
          <p:nvPr/>
        </p:nvSpPr>
        <p:spPr>
          <a:xfrm>
            <a:off x="438745" y="1261021"/>
            <a:ext cx="3894534" cy="203597"/>
          </a:xfrm>
          <a:prstGeom prst="roundRect">
            <a:avLst>
              <a:gd name="adj" fmla="val 28070"/>
            </a:avLst>
          </a:prstGeom>
          <a:solidFill>
            <a:srgbClr val="00B4D8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9736" y="1310432"/>
            <a:ext cx="102106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r>
              <a:rPr lang="en-US" sz="73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Mgmt</a:t>
            </a:r>
            <a:endParaRPr lang="en-US" sz="730"/>
          </a:p>
        </p:txBody>
      </p:sp>
      <p:sp>
        <p:nvSpPr>
          <p:cNvPr id="13" name="Text 10"/>
          <p:cNvSpPr/>
          <p:nvPr/>
        </p:nvSpPr>
        <p:spPr>
          <a:xfrm>
            <a:off x="1437977" y="1310432"/>
            <a:ext cx="8666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750" kern="0" spc="20">
                <a:solidFill>
                  <a:srgbClr val="E8EDF5"/>
                </a:solidFill>
                <a:latin typeface="Consolas"/>
              </a:rPr>
              <a:t>10.0.1.1/24</a:t>
            </a:r>
            <a:endParaRPr lang="en-US" sz="760"/>
          </a:p>
        </p:txBody>
      </p:sp>
      <p:sp>
        <p:nvSpPr>
          <p:cNvPr id="14" name="Text 11"/>
          <p:cNvSpPr/>
          <p:nvPr/>
        </p:nvSpPr>
        <p:spPr>
          <a:xfrm>
            <a:off x="509736" y="1543199"/>
            <a:ext cx="102106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r>
              <a:rPr lang="en-US" sz="73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Servers</a:t>
            </a:r>
            <a:endParaRPr lang="en-US" sz="730"/>
          </a:p>
        </p:txBody>
      </p:sp>
      <p:sp>
        <p:nvSpPr>
          <p:cNvPr id="15" name="Text 12"/>
          <p:cNvSpPr/>
          <p:nvPr/>
        </p:nvSpPr>
        <p:spPr>
          <a:xfrm>
            <a:off x="1437977" y="1543199"/>
            <a:ext cx="8666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750" kern="0" spc="20">
                <a:solidFill>
                  <a:srgbClr val="E8EDF5"/>
                </a:solidFill>
                <a:latin typeface="Consolas"/>
              </a:rPr>
              <a:t>10.0.1.4/24</a:t>
            </a:r>
            <a:endParaRPr lang="en-US" sz="760"/>
          </a:p>
        </p:txBody>
      </p:sp>
      <p:sp>
        <p:nvSpPr>
          <p:cNvPr id="16" name="Text 13"/>
          <p:cNvSpPr/>
          <p:nvPr/>
        </p:nvSpPr>
        <p:spPr>
          <a:xfrm>
            <a:off x="438745" y="1726555"/>
            <a:ext cx="3894534" cy="203597"/>
          </a:xfrm>
          <a:prstGeom prst="roundRect">
            <a:avLst>
              <a:gd name="adj" fmla="val 28070"/>
            </a:avLst>
          </a:prstGeom>
          <a:solidFill>
            <a:srgbClr val="00B4D8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9736" y="1775966"/>
            <a:ext cx="102106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r>
              <a:rPr lang="en-US" sz="73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Staff</a:t>
            </a:r>
            <a:endParaRPr lang="en-US" sz="730"/>
          </a:p>
        </p:txBody>
      </p:sp>
      <p:sp>
        <p:nvSpPr>
          <p:cNvPr id="18" name="Text 15"/>
          <p:cNvSpPr/>
          <p:nvPr/>
        </p:nvSpPr>
        <p:spPr>
          <a:xfrm>
            <a:off x="1437977" y="1775966"/>
            <a:ext cx="8666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750" kern="0" spc="20">
                <a:solidFill>
                  <a:srgbClr val="E8EDF5"/>
                </a:solidFill>
                <a:latin typeface="Consolas"/>
              </a:rPr>
              <a:t>10.0.1.7/24</a:t>
            </a:r>
            <a:endParaRPr lang="en-US" sz="760"/>
          </a:p>
        </p:txBody>
      </p:sp>
      <p:sp>
        <p:nvSpPr>
          <p:cNvPr id="19" name="Text 16"/>
          <p:cNvSpPr/>
          <p:nvPr/>
        </p:nvSpPr>
        <p:spPr>
          <a:xfrm>
            <a:off x="509736" y="2008733"/>
            <a:ext cx="102106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</a:t>
            </a:r>
            <a:r>
              <a:rPr lang="en-US" sz="73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Guest</a:t>
            </a:r>
            <a:endParaRPr lang="en-US" sz="730"/>
          </a:p>
        </p:txBody>
      </p:sp>
      <p:sp>
        <p:nvSpPr>
          <p:cNvPr id="20" name="Text 17"/>
          <p:cNvSpPr/>
          <p:nvPr/>
        </p:nvSpPr>
        <p:spPr>
          <a:xfrm>
            <a:off x="1437977" y="2008733"/>
            <a:ext cx="8666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750" kern="0" spc="20">
                <a:solidFill>
                  <a:srgbClr val="E8EDF5"/>
                </a:solidFill>
                <a:latin typeface="Consolas"/>
              </a:rPr>
              <a:t>10.0.1.10/24</a:t>
            </a:r>
            <a:endParaRPr lang="en-US" sz="760"/>
          </a:p>
        </p:txBody>
      </p:sp>
      <p:sp>
        <p:nvSpPr>
          <p:cNvPr id="21" name="Text 18"/>
          <p:cNvSpPr/>
          <p:nvPr/>
        </p:nvSpPr>
        <p:spPr>
          <a:xfrm>
            <a:off x="438745" y="2192089"/>
            <a:ext cx="3894534" cy="203597"/>
          </a:xfrm>
          <a:prstGeom prst="roundRect">
            <a:avLst>
              <a:gd name="adj" fmla="val 28070"/>
            </a:avLst>
          </a:prstGeom>
          <a:solidFill>
            <a:srgbClr val="00B4D8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9736" y="2241500"/>
            <a:ext cx="102106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</a:t>
            </a:r>
            <a:r>
              <a:rPr lang="en-US" sz="73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VoIP</a:t>
            </a:r>
            <a:endParaRPr lang="en-US" sz="730"/>
          </a:p>
        </p:txBody>
      </p:sp>
      <p:sp>
        <p:nvSpPr>
          <p:cNvPr id="23" name="Text 20"/>
          <p:cNvSpPr/>
          <p:nvPr/>
        </p:nvSpPr>
        <p:spPr>
          <a:xfrm>
            <a:off x="1437977" y="2241500"/>
            <a:ext cx="8666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750" kern="0" spc="20">
                <a:solidFill>
                  <a:srgbClr val="E8EDF5"/>
                </a:solidFill>
                <a:latin typeface="Consolas"/>
              </a:rPr>
              <a:t>10.0.1.13/24</a:t>
            </a:r>
            <a:endParaRPr lang="en-US" sz="760"/>
          </a:p>
        </p:txBody>
      </p:sp>
      <p:sp>
        <p:nvSpPr>
          <p:cNvPr id="24" name="Text 21"/>
          <p:cNvSpPr/>
          <p:nvPr/>
        </p:nvSpPr>
        <p:spPr>
          <a:xfrm>
            <a:off x="509736" y="2474268"/>
            <a:ext cx="102106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60</a:t>
            </a:r>
            <a:r>
              <a:rPr lang="en-US" sz="73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DMZ</a:t>
            </a:r>
            <a:endParaRPr lang="en-US" sz="730"/>
          </a:p>
        </p:txBody>
      </p:sp>
      <p:sp>
        <p:nvSpPr>
          <p:cNvPr id="25" name="Text 22"/>
          <p:cNvSpPr/>
          <p:nvPr/>
        </p:nvSpPr>
        <p:spPr>
          <a:xfrm>
            <a:off x="1437977" y="2474268"/>
            <a:ext cx="8666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750" kern="0" spc="20">
                <a:solidFill>
                  <a:srgbClr val="E8EDF5"/>
                </a:solidFill>
                <a:latin typeface="Consolas"/>
              </a:rPr>
              <a:t>10.0.1.16/24</a:t>
            </a:r>
            <a:endParaRPr lang="en-US" sz="760"/>
          </a:p>
        </p:txBody>
      </p:sp>
      <p:sp>
        <p:nvSpPr>
          <p:cNvPr id="26" name="Text 23"/>
          <p:cNvSpPr/>
          <p:nvPr/>
        </p:nvSpPr>
        <p:spPr>
          <a:xfrm>
            <a:off x="438745" y="2714774"/>
            <a:ext cx="3894534" cy="9525"/>
          </a:xfrm>
          <a:prstGeom prst="rect">
            <a:avLst/>
          </a:prstGeom>
          <a:solidFill>
            <a:srgbClr val="00B4D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9736" y="2772221"/>
            <a:ext cx="102106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Gateway</a:t>
            </a:r>
            <a:endParaRPr lang="en-US" sz="680"/>
          </a:p>
        </p:txBody>
      </p:sp>
      <p:sp>
        <p:nvSpPr>
          <p:cNvPr id="28" name="Text 25"/>
          <p:cNvSpPr/>
          <p:nvPr/>
        </p:nvSpPr>
        <p:spPr>
          <a:xfrm>
            <a:off x="1437977" y="2767459"/>
            <a:ext cx="10004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 on each subnet</a:t>
            </a:r>
            <a:endParaRPr lang="en-US" sz="700"/>
          </a:p>
        </p:txBody>
      </p:sp>
      <p:sp>
        <p:nvSpPr>
          <p:cNvPr id="29" name="Text 26"/>
          <p:cNvSpPr/>
          <p:nvPr/>
        </p:nvSpPr>
        <p:spPr>
          <a:xfrm>
            <a:off x="438745" y="2944564"/>
            <a:ext cx="3894534" cy="9525"/>
          </a:xfrm>
          <a:prstGeom prst="rect">
            <a:avLst/>
          </a:prstGeom>
          <a:solidFill>
            <a:srgbClr val="00B4D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09736" y="3002012"/>
            <a:ext cx="102106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DNS</a:t>
            </a:r>
            <a:endParaRPr lang="en-US" sz="680"/>
          </a:p>
        </p:txBody>
      </p:sp>
      <p:sp>
        <p:nvSpPr>
          <p:cNvPr id="31" name="Text 28"/>
          <p:cNvSpPr/>
          <p:nvPr/>
        </p:nvSpPr>
        <p:spPr>
          <a:xfrm>
            <a:off x="1437977" y="2997250"/>
            <a:ext cx="64731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10.10.20.10</a:t>
            </a:r>
            <a:endParaRPr lang="en-US" sz="700"/>
          </a:p>
        </p:txBody>
      </p:sp>
      <p:sp>
        <p:nvSpPr>
          <p:cNvPr id="32" name="Text 29"/>
          <p:cNvSpPr/>
          <p:nvPr/>
        </p:nvSpPr>
        <p:spPr>
          <a:xfrm>
            <a:off x="438745" y="3174355"/>
            <a:ext cx="3894534" cy="9525"/>
          </a:xfrm>
          <a:prstGeom prst="rect">
            <a:avLst/>
          </a:prstGeom>
          <a:solidFill>
            <a:srgbClr val="00B4D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09736" y="3231803"/>
            <a:ext cx="102106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DNS</a:t>
            </a:r>
            <a:endParaRPr lang="en-US" sz="680"/>
          </a:p>
        </p:txBody>
      </p:sp>
      <p:sp>
        <p:nvSpPr>
          <p:cNvPr id="34" name="Text 31"/>
          <p:cNvSpPr/>
          <p:nvPr/>
        </p:nvSpPr>
        <p:spPr>
          <a:xfrm>
            <a:off x="1437977" y="3227040"/>
            <a:ext cx="64731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10.10.20.11</a:t>
            </a:r>
            <a:endParaRPr lang="en-US" sz="700"/>
          </a:p>
        </p:txBody>
      </p:sp>
      <p:sp>
        <p:nvSpPr>
          <p:cNvPr id="35" name="Text 32"/>
          <p:cNvSpPr/>
          <p:nvPr/>
        </p:nvSpPr>
        <p:spPr>
          <a:xfrm>
            <a:off x="4486479" y="717636"/>
            <a:ext cx="4200525" cy="4213771"/>
          </a:xfrm>
          <a:prstGeom prst="roundRect">
            <a:avLst>
              <a:gd name="adj" fmla="val 2389"/>
            </a:avLst>
          </a:prstGeom>
          <a:solidFill>
            <a:srgbClr val="162032"/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667250" y="1272332"/>
            <a:ext cx="4181475" cy="9525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2218" y="880327"/>
            <a:ext cx="132588" cy="13258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989463" y="870496"/>
            <a:ext cx="143574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70"/>
              </a:lnSpc>
              <a:buNone/>
            </a:pPr>
            <a:r>
              <a:rPr lang="en-US" sz="107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Chicago &amp; Milwaukee</a:t>
            </a:r>
            <a:endParaRPr lang="en-US" sz="1070"/>
          </a:p>
        </p:txBody>
      </p:sp>
      <p:sp>
        <p:nvSpPr>
          <p:cNvPr id="39" name="Text 35"/>
          <p:cNvSpPr/>
          <p:nvPr/>
        </p:nvSpPr>
        <p:spPr>
          <a:xfrm>
            <a:off x="4824710" y="1081236"/>
            <a:ext cx="425321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i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/ Receiving Sites</a:t>
            </a:r>
            <a:endParaRPr lang="en-US" sz="73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6459" y="1373023"/>
            <a:ext cx="132588" cy="13258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4982766" y="1382167"/>
            <a:ext cx="4300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Chicago</a:t>
            </a:r>
            <a:endParaRPr lang="en-US" sz="840"/>
          </a:p>
        </p:txBody>
      </p:sp>
      <p:sp>
        <p:nvSpPr>
          <p:cNvPr id="42" name="Text 37"/>
          <p:cNvSpPr/>
          <p:nvPr/>
        </p:nvSpPr>
        <p:spPr>
          <a:xfrm>
            <a:off x="5424066" y="1384102"/>
            <a:ext cx="695721" cy="110430"/>
          </a:xfrm>
          <a:prstGeom prst="roundRect">
            <a:avLst>
              <a:gd name="adj" fmla="val 51752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>
                <a:solidFill>
                  <a:srgbClr val="00B4D8"/>
                </a:solidFill>
                <a:latin typeface="Consolas"/>
              </a:rPr>
              <a:t>10.0.1.4/24</a:t>
            </a:r>
            <a:endParaRPr lang="en-US" sz="620"/>
          </a:p>
        </p:txBody>
      </p:sp>
      <p:sp>
        <p:nvSpPr>
          <p:cNvPr id="43" name="Text 38"/>
          <p:cNvSpPr/>
          <p:nvPr/>
        </p:nvSpPr>
        <p:spPr>
          <a:xfrm>
            <a:off x="4810720" y="1539627"/>
            <a:ext cx="1918692" cy="153591"/>
          </a:xfrm>
          <a:prstGeom prst="roundRect">
            <a:avLst>
              <a:gd name="adj" fmla="val 28114"/>
            </a:avLst>
          </a:prstGeom>
          <a:solidFill>
            <a:srgbClr val="00B4D8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4867870" y="1568797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650"/>
          </a:p>
        </p:txBody>
      </p:sp>
      <p:sp>
        <p:nvSpPr>
          <p:cNvPr id="45" name="Text 40"/>
          <p:cNvSpPr/>
          <p:nvPr/>
        </p:nvSpPr>
        <p:spPr>
          <a:xfrm>
            <a:off x="5239941" y="1568797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10.20.10.0/24</a:t>
            </a:r>
            <a:endParaRPr lang="en-US" sz="650"/>
          </a:p>
        </p:txBody>
      </p:sp>
      <p:sp>
        <p:nvSpPr>
          <p:cNvPr id="46" name="Text 41"/>
          <p:cNvSpPr/>
          <p:nvPr/>
        </p:nvSpPr>
        <p:spPr>
          <a:xfrm>
            <a:off x="6843713" y="1568797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650"/>
          </a:p>
        </p:txBody>
      </p:sp>
      <p:sp>
        <p:nvSpPr>
          <p:cNvPr id="47" name="Text 42"/>
          <p:cNvSpPr/>
          <p:nvPr/>
        </p:nvSpPr>
        <p:spPr>
          <a:xfrm>
            <a:off x="7215783" y="1568797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10.20.20.0/24</a:t>
            </a:r>
            <a:endParaRPr lang="en-US" sz="650"/>
          </a:p>
        </p:txBody>
      </p:sp>
      <p:sp>
        <p:nvSpPr>
          <p:cNvPr id="48" name="Text 43"/>
          <p:cNvSpPr/>
          <p:nvPr/>
        </p:nvSpPr>
        <p:spPr>
          <a:xfrm>
            <a:off x="4810720" y="1707059"/>
            <a:ext cx="1918692" cy="153591"/>
          </a:xfrm>
          <a:prstGeom prst="roundRect">
            <a:avLst>
              <a:gd name="adj" fmla="val 28114"/>
            </a:avLst>
          </a:prstGeom>
          <a:solidFill>
            <a:srgbClr val="00B4D8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4867870" y="1736229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650"/>
          </a:p>
        </p:txBody>
      </p:sp>
      <p:sp>
        <p:nvSpPr>
          <p:cNvPr id="50" name="Text 45"/>
          <p:cNvSpPr/>
          <p:nvPr/>
        </p:nvSpPr>
        <p:spPr>
          <a:xfrm>
            <a:off x="5239941" y="1736229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10.20.30.0/24</a:t>
            </a:r>
            <a:endParaRPr lang="en-US" sz="650"/>
          </a:p>
        </p:txBody>
      </p:sp>
      <p:sp>
        <p:nvSpPr>
          <p:cNvPr id="51" name="Text 46"/>
          <p:cNvSpPr/>
          <p:nvPr/>
        </p:nvSpPr>
        <p:spPr>
          <a:xfrm>
            <a:off x="6843713" y="1736229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</a:t>
            </a:r>
            <a:endParaRPr lang="en-US" sz="650"/>
          </a:p>
        </p:txBody>
      </p:sp>
      <p:sp>
        <p:nvSpPr>
          <p:cNvPr id="52" name="Text 47"/>
          <p:cNvSpPr/>
          <p:nvPr/>
        </p:nvSpPr>
        <p:spPr>
          <a:xfrm>
            <a:off x="7215783" y="1736229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10.20.40.0/24</a:t>
            </a:r>
            <a:endParaRPr lang="en-US" sz="650"/>
          </a:p>
        </p:txBody>
      </p:sp>
      <p:sp>
        <p:nvSpPr>
          <p:cNvPr id="53" name="Text 48"/>
          <p:cNvSpPr/>
          <p:nvPr/>
        </p:nvSpPr>
        <p:spPr>
          <a:xfrm>
            <a:off x="4810720" y="1874490"/>
            <a:ext cx="1918692" cy="153591"/>
          </a:xfrm>
          <a:prstGeom prst="roundRect">
            <a:avLst>
              <a:gd name="adj" fmla="val 28114"/>
            </a:avLst>
          </a:prstGeom>
          <a:solidFill>
            <a:srgbClr val="00B4D8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4867870" y="1903661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</a:t>
            </a:r>
            <a:endParaRPr lang="en-US" sz="650"/>
          </a:p>
        </p:txBody>
      </p:sp>
      <p:sp>
        <p:nvSpPr>
          <p:cNvPr id="55" name="Text 50"/>
          <p:cNvSpPr/>
          <p:nvPr/>
        </p:nvSpPr>
        <p:spPr>
          <a:xfrm>
            <a:off x="5239941" y="1903661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10.20.50.0/24</a:t>
            </a:r>
            <a:endParaRPr lang="en-US" sz="650"/>
          </a:p>
        </p:txBody>
      </p:sp>
      <p:sp>
        <p:nvSpPr>
          <p:cNvPr id="56" name="Text 51"/>
          <p:cNvSpPr/>
          <p:nvPr/>
        </p:nvSpPr>
        <p:spPr>
          <a:xfrm>
            <a:off x="6843713" y="1903661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60</a:t>
            </a:r>
            <a:endParaRPr lang="en-US" sz="650"/>
          </a:p>
        </p:txBody>
      </p:sp>
      <p:sp>
        <p:nvSpPr>
          <p:cNvPr id="57" name="Text 52"/>
          <p:cNvSpPr/>
          <p:nvPr/>
        </p:nvSpPr>
        <p:spPr>
          <a:xfrm>
            <a:off x="7215783" y="1903661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10.20.60.0/24</a:t>
            </a:r>
            <a:endParaRPr lang="en-US" sz="650"/>
          </a:p>
        </p:txBody>
      </p:sp>
      <p:sp>
        <p:nvSpPr>
          <p:cNvPr id="58" name="Text 53"/>
          <p:cNvSpPr/>
          <p:nvPr/>
        </p:nvSpPr>
        <p:spPr>
          <a:xfrm>
            <a:off x="4810720" y="2099072"/>
            <a:ext cx="3894534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4D8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6459" y="2154668"/>
            <a:ext cx="132588" cy="132588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4989411" y="2163812"/>
            <a:ext cx="5538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840"/>
              </a:lnSpc>
            </a:pPr>
            <a:r>
              <a:rPr lang="en-US" sz="800">
                <a:solidFill>
                  <a:srgbClr val="E8EDF5"/>
                </a:solidFill>
                <a:latin typeface="Calibri Light"/>
                <a:ea typeface="Calibri Light"/>
                <a:cs typeface="Calibri Light"/>
              </a:rPr>
              <a:t>Milwaukee 10.0.1.13/24</a:t>
            </a:r>
            <a:endParaRPr lang="en-US" sz="840"/>
          </a:p>
        </p:txBody>
      </p:sp>
      <p:sp>
        <p:nvSpPr>
          <p:cNvPr id="62" name="Text 56"/>
          <p:cNvSpPr/>
          <p:nvPr/>
        </p:nvSpPr>
        <p:spPr>
          <a:xfrm>
            <a:off x="4810720" y="2321272"/>
            <a:ext cx="1918692" cy="153591"/>
          </a:xfrm>
          <a:prstGeom prst="roundRect">
            <a:avLst>
              <a:gd name="adj" fmla="val 28114"/>
            </a:avLst>
          </a:prstGeom>
          <a:solidFill>
            <a:srgbClr val="00B4D8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4867870" y="2350443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650"/>
          </a:p>
        </p:txBody>
      </p:sp>
      <p:sp>
        <p:nvSpPr>
          <p:cNvPr id="64" name="Text 58"/>
          <p:cNvSpPr/>
          <p:nvPr/>
        </p:nvSpPr>
        <p:spPr>
          <a:xfrm>
            <a:off x="5239941" y="2350443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10.30.10.0/24</a:t>
            </a:r>
            <a:endParaRPr lang="en-US" sz="650"/>
          </a:p>
        </p:txBody>
      </p:sp>
      <p:sp>
        <p:nvSpPr>
          <p:cNvPr id="65" name="Text 59"/>
          <p:cNvSpPr/>
          <p:nvPr/>
        </p:nvSpPr>
        <p:spPr>
          <a:xfrm>
            <a:off x="6843713" y="2350443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650"/>
          </a:p>
        </p:txBody>
      </p:sp>
      <p:sp>
        <p:nvSpPr>
          <p:cNvPr id="66" name="Text 60"/>
          <p:cNvSpPr/>
          <p:nvPr/>
        </p:nvSpPr>
        <p:spPr>
          <a:xfrm>
            <a:off x="7215783" y="2350443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10.30.20.0/24</a:t>
            </a:r>
            <a:endParaRPr lang="en-US" sz="650"/>
          </a:p>
        </p:txBody>
      </p:sp>
      <p:sp>
        <p:nvSpPr>
          <p:cNvPr id="67" name="Text 61"/>
          <p:cNvSpPr/>
          <p:nvPr/>
        </p:nvSpPr>
        <p:spPr>
          <a:xfrm>
            <a:off x="4810720" y="2488704"/>
            <a:ext cx="1918692" cy="153591"/>
          </a:xfrm>
          <a:prstGeom prst="roundRect">
            <a:avLst>
              <a:gd name="adj" fmla="val 28114"/>
            </a:avLst>
          </a:prstGeom>
          <a:solidFill>
            <a:srgbClr val="00B4D8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4867870" y="2517874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650"/>
          </a:p>
        </p:txBody>
      </p:sp>
      <p:sp>
        <p:nvSpPr>
          <p:cNvPr id="69" name="Text 63"/>
          <p:cNvSpPr/>
          <p:nvPr/>
        </p:nvSpPr>
        <p:spPr>
          <a:xfrm>
            <a:off x="5239941" y="2517874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10.30.30.0/24</a:t>
            </a:r>
            <a:endParaRPr lang="en-US" sz="650"/>
          </a:p>
        </p:txBody>
      </p:sp>
      <p:sp>
        <p:nvSpPr>
          <p:cNvPr id="70" name="Text 64"/>
          <p:cNvSpPr/>
          <p:nvPr/>
        </p:nvSpPr>
        <p:spPr>
          <a:xfrm>
            <a:off x="6843713" y="2517874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</a:t>
            </a:r>
            <a:endParaRPr lang="en-US" sz="650"/>
          </a:p>
        </p:txBody>
      </p:sp>
      <p:sp>
        <p:nvSpPr>
          <p:cNvPr id="71" name="Text 65"/>
          <p:cNvSpPr/>
          <p:nvPr/>
        </p:nvSpPr>
        <p:spPr>
          <a:xfrm>
            <a:off x="7215783" y="2517874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10.30.40.0/24</a:t>
            </a:r>
            <a:endParaRPr lang="en-US" sz="650"/>
          </a:p>
        </p:txBody>
      </p:sp>
      <p:sp>
        <p:nvSpPr>
          <p:cNvPr id="72" name="Text 66"/>
          <p:cNvSpPr/>
          <p:nvPr/>
        </p:nvSpPr>
        <p:spPr>
          <a:xfrm>
            <a:off x="4810720" y="2656136"/>
            <a:ext cx="1918692" cy="153591"/>
          </a:xfrm>
          <a:prstGeom prst="roundRect">
            <a:avLst>
              <a:gd name="adj" fmla="val 28114"/>
            </a:avLst>
          </a:prstGeom>
          <a:solidFill>
            <a:srgbClr val="00B4D8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3" name="Text 67"/>
          <p:cNvSpPr/>
          <p:nvPr/>
        </p:nvSpPr>
        <p:spPr>
          <a:xfrm>
            <a:off x="4867870" y="2685306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</a:t>
            </a:r>
            <a:endParaRPr lang="en-US" sz="650"/>
          </a:p>
        </p:txBody>
      </p:sp>
      <p:sp>
        <p:nvSpPr>
          <p:cNvPr id="74" name="Text 68"/>
          <p:cNvSpPr/>
          <p:nvPr/>
        </p:nvSpPr>
        <p:spPr>
          <a:xfrm>
            <a:off x="5239941" y="2685306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10.30.50.0/24</a:t>
            </a:r>
            <a:endParaRPr lang="en-US" sz="650"/>
          </a:p>
        </p:txBody>
      </p:sp>
      <p:sp>
        <p:nvSpPr>
          <p:cNvPr id="75" name="Text 69"/>
          <p:cNvSpPr/>
          <p:nvPr/>
        </p:nvSpPr>
        <p:spPr>
          <a:xfrm>
            <a:off x="6843713" y="2685306"/>
            <a:ext cx="40927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60</a:t>
            </a:r>
            <a:endParaRPr lang="en-US" sz="650"/>
          </a:p>
        </p:txBody>
      </p:sp>
      <p:sp>
        <p:nvSpPr>
          <p:cNvPr id="76" name="Text 70"/>
          <p:cNvSpPr/>
          <p:nvPr/>
        </p:nvSpPr>
        <p:spPr>
          <a:xfrm>
            <a:off x="7215783" y="2685306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10.30.60.0/24</a:t>
            </a:r>
            <a:endParaRPr lang="en-US" sz="650"/>
          </a:p>
        </p:txBody>
      </p:sp>
      <p:sp>
        <p:nvSpPr>
          <p:cNvPr id="77" name="Text 71"/>
          <p:cNvSpPr/>
          <p:nvPr/>
        </p:nvSpPr>
        <p:spPr>
          <a:xfrm>
            <a:off x="295275" y="756196"/>
            <a:ext cx="4181475" cy="21580"/>
          </a:xfrm>
          <a:custGeom>
            <a:avLst/>
            <a:gdLst/>
            <a:ahLst/>
            <a:cxnLst/>
            <a:rect l="l" t="t" r="r" b="b"/>
            <a:pathLst>
              <a:path w="4181475" h="21580">
                <a:moveTo>
                  <a:pt x="100330" y="0"/>
                </a:moveTo>
                <a:lnTo>
                  <a:pt x="4081145" y="0"/>
                </a:lnTo>
                <a:lnTo>
                  <a:pt x="4081145" y="0"/>
                </a:lnTo>
                <a:lnTo>
                  <a:pt x="4100719" y="1928"/>
                </a:lnTo>
                <a:lnTo>
                  <a:pt x="4119540" y="7637"/>
                </a:lnTo>
                <a:lnTo>
                  <a:pt x="4136886" y="16909"/>
                </a:lnTo>
                <a:lnTo>
                  <a:pt x="4152089" y="21580"/>
                </a:lnTo>
                <a:lnTo>
                  <a:pt x="4164566" y="21580"/>
                </a:lnTo>
                <a:lnTo>
                  <a:pt x="4173838" y="21580"/>
                </a:lnTo>
                <a:lnTo>
                  <a:pt x="4179547" y="21580"/>
                </a:lnTo>
                <a:lnTo>
                  <a:pt x="4181475" y="21580"/>
                </a:lnTo>
                <a:lnTo>
                  <a:pt x="4181475" y="21580"/>
                </a:lnTo>
                <a:lnTo>
                  <a:pt x="0" y="21580"/>
                </a:lnTo>
                <a:lnTo>
                  <a:pt x="0" y="100330"/>
                </a:lnTo>
                <a:lnTo>
                  <a:pt x="100330" y="0"/>
                </a:lnTo>
                <a:lnTo>
                  <a:pt x="80756" y="1928"/>
                </a:lnTo>
                <a:lnTo>
                  <a:pt x="61935" y="7637"/>
                </a:lnTo>
                <a:lnTo>
                  <a:pt x="44589" y="16909"/>
                </a:lnTo>
                <a:lnTo>
                  <a:pt x="29386" y="21580"/>
                </a:lnTo>
                <a:lnTo>
                  <a:pt x="16909" y="21580"/>
                </a:lnTo>
                <a:lnTo>
                  <a:pt x="7637" y="21580"/>
                </a:lnTo>
                <a:lnTo>
                  <a:pt x="1928" y="21580"/>
                </a:lnTo>
                <a:lnTo>
                  <a:pt x="0" y="21580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8" name="Text 72"/>
          <p:cNvSpPr/>
          <p:nvPr/>
        </p:nvSpPr>
        <p:spPr>
          <a:xfrm>
            <a:off x="4667250" y="756196"/>
            <a:ext cx="4181475" cy="21580"/>
          </a:xfrm>
          <a:custGeom>
            <a:avLst/>
            <a:gdLst/>
            <a:ahLst/>
            <a:cxnLst/>
            <a:rect l="l" t="t" r="r" b="b"/>
            <a:pathLst>
              <a:path w="4181475" h="21580">
                <a:moveTo>
                  <a:pt x="100330" y="0"/>
                </a:moveTo>
                <a:lnTo>
                  <a:pt x="4081145" y="0"/>
                </a:lnTo>
                <a:lnTo>
                  <a:pt x="4081145" y="0"/>
                </a:lnTo>
                <a:lnTo>
                  <a:pt x="4100719" y="1928"/>
                </a:lnTo>
                <a:lnTo>
                  <a:pt x="4119540" y="7637"/>
                </a:lnTo>
                <a:lnTo>
                  <a:pt x="4136886" y="16909"/>
                </a:lnTo>
                <a:lnTo>
                  <a:pt x="4152089" y="21580"/>
                </a:lnTo>
                <a:lnTo>
                  <a:pt x="4164566" y="21580"/>
                </a:lnTo>
                <a:lnTo>
                  <a:pt x="4173838" y="21580"/>
                </a:lnTo>
                <a:lnTo>
                  <a:pt x="4179547" y="21580"/>
                </a:lnTo>
                <a:lnTo>
                  <a:pt x="4181475" y="21580"/>
                </a:lnTo>
                <a:lnTo>
                  <a:pt x="4181475" y="21580"/>
                </a:lnTo>
                <a:lnTo>
                  <a:pt x="0" y="21580"/>
                </a:lnTo>
                <a:lnTo>
                  <a:pt x="0" y="100330"/>
                </a:lnTo>
                <a:lnTo>
                  <a:pt x="100330" y="0"/>
                </a:lnTo>
                <a:lnTo>
                  <a:pt x="80756" y="1928"/>
                </a:lnTo>
                <a:lnTo>
                  <a:pt x="61935" y="7637"/>
                </a:lnTo>
                <a:lnTo>
                  <a:pt x="44589" y="16909"/>
                </a:lnTo>
                <a:lnTo>
                  <a:pt x="29386" y="21580"/>
                </a:lnTo>
                <a:lnTo>
                  <a:pt x="16909" y="21580"/>
                </a:lnTo>
                <a:lnTo>
                  <a:pt x="7637" y="21580"/>
                </a:lnTo>
                <a:lnTo>
                  <a:pt x="1928" y="21580"/>
                </a:lnTo>
                <a:lnTo>
                  <a:pt x="0" y="21580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63" y="257770"/>
            <a:ext cx="9050274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65"/>
              </a:lnSpc>
              <a:buNone/>
            </a:pPr>
            <a:r>
              <a:rPr lang="en-US" sz="1910" kern="0" spc="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IP Addressing Scheme </a:t>
            </a:r>
            <a:r>
              <a:rPr lang="en-US" sz="1910" b="1" kern="0" spc="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Part 2</a:t>
            </a:r>
            <a:endParaRPr lang="en-US" sz="1910"/>
          </a:p>
        </p:txBody>
      </p:sp>
      <p:sp>
        <p:nvSpPr>
          <p:cNvPr id="3" name="Text 1"/>
          <p:cNvSpPr/>
          <p:nvPr/>
        </p:nvSpPr>
        <p:spPr>
          <a:xfrm>
            <a:off x="-80010" y="664815"/>
            <a:ext cx="93040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40"/>
              </a:spcBef>
              <a:buNone/>
            </a:pPr>
            <a:r>
              <a:rPr lang="en-US" sz="84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4–7 · Continued VLAN Allocation across Regional Offices</a:t>
            </a:r>
            <a:endParaRPr lang="en-US" sz="840"/>
          </a:p>
        </p:txBody>
      </p:sp>
      <p:sp>
        <p:nvSpPr>
          <p:cNvPr id="4" name="Text 2"/>
          <p:cNvSpPr/>
          <p:nvPr/>
        </p:nvSpPr>
        <p:spPr>
          <a:xfrm>
            <a:off x="342900" y="982266"/>
            <a:ext cx="4064645" cy="3699123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7716" y="1192411"/>
            <a:ext cx="3675013" cy="303980"/>
          </a:xfrm>
          <a:prstGeom prst="rect">
            <a:avLst/>
          </a:prstGeom>
          <a:noFill/>
          <a:ln/>
        </p:spPr>
        <p:txBody>
          <a:bodyPr wrap="none" lIns="285730" tIns="0" rIns="0" bIns="71120" rtlCol="0" anchor="ctr"/>
          <a:lstStyle/>
          <a:p>
            <a:pPr marL="0" indent="0" algn="l">
              <a:buNone/>
            </a:pPr>
            <a:r>
              <a:rPr lang="en-US" sz="9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&amp; San Francisco — Sales/CS + Data Center</a:t>
            </a:r>
            <a:endParaRPr lang="en-US" sz="960"/>
          </a:p>
        </p:txBody>
      </p:sp>
      <p:sp>
        <p:nvSpPr>
          <p:cNvPr id="6" name="Text 4"/>
          <p:cNvSpPr/>
          <p:nvPr/>
        </p:nvSpPr>
        <p:spPr>
          <a:xfrm>
            <a:off x="537716" y="1478012"/>
            <a:ext cx="3675013" cy="9525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7716" y="1192411"/>
            <a:ext cx="214610" cy="214610"/>
          </a:xfrm>
          <a:prstGeom prst="roundRect">
            <a:avLst>
              <a:gd name="adj" fmla="val 26630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727" y="1233422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7716" y="1686818"/>
            <a:ext cx="43160" cy="43160"/>
          </a:xfrm>
          <a:prstGeom prst="ellipse">
            <a:avLst/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7716" y="1818829"/>
            <a:ext cx="404251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10.40.0.0 /16</a:t>
            </a:r>
            <a:endParaRPr lang="en-US" sz="760"/>
          </a:p>
        </p:txBody>
      </p:sp>
      <p:sp>
        <p:nvSpPr>
          <p:cNvPr id="11" name="Text 8"/>
          <p:cNvSpPr/>
          <p:nvPr/>
        </p:nvSpPr>
        <p:spPr>
          <a:xfrm>
            <a:off x="534427" y="2042368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V10</a:t>
            </a:r>
            <a:endParaRPr lang="en-US" sz="620"/>
          </a:p>
        </p:txBody>
      </p:sp>
      <p:sp>
        <p:nvSpPr>
          <p:cNvPr id="12" name="Text 9"/>
          <p:cNvSpPr/>
          <p:nvPr/>
        </p:nvSpPr>
        <p:spPr>
          <a:xfrm>
            <a:off x="909786" y="2042368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10.40.10.0/24</a:t>
            </a:r>
            <a:endParaRPr lang="en-US" sz="700"/>
          </a:p>
        </p:txBody>
      </p:sp>
      <p:sp>
        <p:nvSpPr>
          <p:cNvPr id="13" name="Text 10"/>
          <p:cNvSpPr/>
          <p:nvPr/>
        </p:nvSpPr>
        <p:spPr>
          <a:xfrm>
            <a:off x="2111871" y="2046982"/>
            <a:ext cx="22674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/>
          </a:p>
        </p:txBody>
      </p:sp>
      <p:sp>
        <p:nvSpPr>
          <p:cNvPr id="14" name="Text 11"/>
          <p:cNvSpPr/>
          <p:nvPr/>
        </p:nvSpPr>
        <p:spPr>
          <a:xfrm>
            <a:off x="2429009" y="2042368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V20</a:t>
            </a:r>
            <a:endParaRPr lang="en-US" sz="620"/>
          </a:p>
        </p:txBody>
      </p:sp>
      <p:sp>
        <p:nvSpPr>
          <p:cNvPr id="15" name="Text 12"/>
          <p:cNvSpPr/>
          <p:nvPr/>
        </p:nvSpPr>
        <p:spPr>
          <a:xfrm>
            <a:off x="2804368" y="2042368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10.40.20.0/24</a:t>
            </a:r>
            <a:endParaRPr lang="en-US" sz="700"/>
          </a:p>
        </p:txBody>
      </p:sp>
      <p:sp>
        <p:nvSpPr>
          <p:cNvPr id="16" name="Text 13"/>
          <p:cNvSpPr/>
          <p:nvPr/>
        </p:nvSpPr>
        <p:spPr>
          <a:xfrm>
            <a:off x="3786634" y="2046982"/>
            <a:ext cx="46870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Servers/DC</a:t>
            </a:r>
            <a:endParaRPr lang="en-US" sz="650"/>
          </a:p>
        </p:txBody>
      </p:sp>
      <p:sp>
        <p:nvSpPr>
          <p:cNvPr id="17" name="Text 14"/>
          <p:cNvSpPr/>
          <p:nvPr/>
        </p:nvSpPr>
        <p:spPr>
          <a:xfrm>
            <a:off x="534427" y="2247900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V30</a:t>
            </a:r>
            <a:endParaRPr lang="en-US" sz="620"/>
          </a:p>
        </p:txBody>
      </p:sp>
      <p:sp>
        <p:nvSpPr>
          <p:cNvPr id="18" name="Text 15"/>
          <p:cNvSpPr/>
          <p:nvPr/>
        </p:nvSpPr>
        <p:spPr>
          <a:xfrm>
            <a:off x="909786" y="2247900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10.40.30.0/24</a:t>
            </a:r>
            <a:endParaRPr lang="en-US" sz="700"/>
          </a:p>
        </p:txBody>
      </p:sp>
      <p:sp>
        <p:nvSpPr>
          <p:cNvPr id="19" name="Text 16"/>
          <p:cNvSpPr/>
          <p:nvPr/>
        </p:nvSpPr>
        <p:spPr>
          <a:xfrm>
            <a:off x="2149822" y="2252514"/>
            <a:ext cx="1849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650"/>
          </a:p>
        </p:txBody>
      </p:sp>
      <p:sp>
        <p:nvSpPr>
          <p:cNvPr id="20" name="Text 17"/>
          <p:cNvSpPr/>
          <p:nvPr/>
        </p:nvSpPr>
        <p:spPr>
          <a:xfrm>
            <a:off x="2429009" y="2247900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V40</a:t>
            </a:r>
            <a:endParaRPr lang="en-US" sz="620"/>
          </a:p>
        </p:txBody>
      </p:sp>
      <p:sp>
        <p:nvSpPr>
          <p:cNvPr id="21" name="Text 18"/>
          <p:cNvSpPr/>
          <p:nvPr/>
        </p:nvSpPr>
        <p:spPr>
          <a:xfrm>
            <a:off x="2804368" y="2247900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10.40.40.0/24</a:t>
            </a:r>
            <a:endParaRPr lang="en-US" sz="700"/>
          </a:p>
        </p:txBody>
      </p:sp>
      <p:sp>
        <p:nvSpPr>
          <p:cNvPr id="22" name="Text 19"/>
          <p:cNvSpPr/>
          <p:nvPr/>
        </p:nvSpPr>
        <p:spPr>
          <a:xfrm>
            <a:off x="3992612" y="2252514"/>
            <a:ext cx="24212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650"/>
          </a:p>
        </p:txBody>
      </p:sp>
      <p:sp>
        <p:nvSpPr>
          <p:cNvPr id="23" name="Text 20"/>
          <p:cNvSpPr/>
          <p:nvPr/>
        </p:nvSpPr>
        <p:spPr>
          <a:xfrm>
            <a:off x="534427" y="2453432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V50</a:t>
            </a:r>
            <a:endParaRPr lang="en-US" sz="620"/>
          </a:p>
        </p:txBody>
      </p:sp>
      <p:sp>
        <p:nvSpPr>
          <p:cNvPr id="24" name="Text 21"/>
          <p:cNvSpPr/>
          <p:nvPr/>
        </p:nvSpPr>
        <p:spPr>
          <a:xfrm>
            <a:off x="909786" y="2453432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10.40.50.0/24</a:t>
            </a:r>
            <a:endParaRPr lang="en-US" sz="700"/>
          </a:p>
        </p:txBody>
      </p:sp>
      <p:sp>
        <p:nvSpPr>
          <p:cNvPr id="25" name="Text 22"/>
          <p:cNvSpPr/>
          <p:nvPr/>
        </p:nvSpPr>
        <p:spPr>
          <a:xfrm>
            <a:off x="2143720" y="2458045"/>
            <a:ext cx="19170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</a:t>
            </a:r>
            <a:endParaRPr lang="en-US" sz="650"/>
          </a:p>
        </p:txBody>
      </p:sp>
      <p:sp>
        <p:nvSpPr>
          <p:cNvPr id="26" name="Text 23"/>
          <p:cNvSpPr/>
          <p:nvPr/>
        </p:nvSpPr>
        <p:spPr>
          <a:xfrm>
            <a:off x="2429009" y="2453432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V60</a:t>
            </a:r>
            <a:endParaRPr lang="en-US" sz="620"/>
          </a:p>
        </p:txBody>
      </p:sp>
      <p:sp>
        <p:nvSpPr>
          <p:cNvPr id="27" name="Text 24"/>
          <p:cNvSpPr/>
          <p:nvPr/>
        </p:nvSpPr>
        <p:spPr>
          <a:xfrm>
            <a:off x="2804368" y="2453432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10.40.60.0/24</a:t>
            </a:r>
            <a:endParaRPr lang="en-US" sz="700"/>
          </a:p>
        </p:txBody>
      </p:sp>
      <p:sp>
        <p:nvSpPr>
          <p:cNvPr id="28" name="Text 25"/>
          <p:cNvSpPr/>
          <p:nvPr/>
        </p:nvSpPr>
        <p:spPr>
          <a:xfrm>
            <a:off x="4034135" y="2458045"/>
            <a:ext cx="19645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650"/>
          </a:p>
        </p:txBody>
      </p:sp>
      <p:sp>
        <p:nvSpPr>
          <p:cNvPr id="29" name="Text 26"/>
          <p:cNvSpPr/>
          <p:nvPr/>
        </p:nvSpPr>
        <p:spPr>
          <a:xfrm>
            <a:off x="537716" y="2793653"/>
            <a:ext cx="43160" cy="43160"/>
          </a:xfrm>
          <a:prstGeom prst="ellipse">
            <a:avLst/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37716" y="2925663"/>
            <a:ext cx="404251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10.50.0.0 /16</a:t>
            </a:r>
            <a:endParaRPr lang="en-US" sz="760"/>
          </a:p>
        </p:txBody>
      </p:sp>
      <p:sp>
        <p:nvSpPr>
          <p:cNvPr id="31" name="Text 28"/>
          <p:cNvSpPr/>
          <p:nvPr/>
        </p:nvSpPr>
        <p:spPr>
          <a:xfrm>
            <a:off x="534427" y="3149203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V10</a:t>
            </a:r>
            <a:endParaRPr lang="en-US" sz="620"/>
          </a:p>
        </p:txBody>
      </p:sp>
      <p:sp>
        <p:nvSpPr>
          <p:cNvPr id="32" name="Text 29"/>
          <p:cNvSpPr/>
          <p:nvPr/>
        </p:nvSpPr>
        <p:spPr>
          <a:xfrm>
            <a:off x="909786" y="3149203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10.50.10.0/24</a:t>
            </a:r>
            <a:endParaRPr lang="en-US" sz="700"/>
          </a:p>
        </p:txBody>
      </p:sp>
      <p:sp>
        <p:nvSpPr>
          <p:cNvPr id="33" name="Text 30"/>
          <p:cNvSpPr/>
          <p:nvPr/>
        </p:nvSpPr>
        <p:spPr>
          <a:xfrm>
            <a:off x="2111871" y="3153817"/>
            <a:ext cx="22674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/>
          </a:p>
        </p:txBody>
      </p:sp>
      <p:sp>
        <p:nvSpPr>
          <p:cNvPr id="34" name="Text 31"/>
          <p:cNvSpPr/>
          <p:nvPr/>
        </p:nvSpPr>
        <p:spPr>
          <a:xfrm>
            <a:off x="2429009" y="3149203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V20</a:t>
            </a:r>
            <a:endParaRPr lang="en-US" sz="620"/>
          </a:p>
        </p:txBody>
      </p:sp>
      <p:sp>
        <p:nvSpPr>
          <p:cNvPr id="35" name="Text 32"/>
          <p:cNvSpPr/>
          <p:nvPr/>
        </p:nvSpPr>
        <p:spPr>
          <a:xfrm>
            <a:off x="2804368" y="3149203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10.50.20.0/24</a:t>
            </a:r>
            <a:endParaRPr lang="en-US" sz="700"/>
          </a:p>
        </p:txBody>
      </p:sp>
      <p:sp>
        <p:nvSpPr>
          <p:cNvPr id="36" name="Text 33"/>
          <p:cNvSpPr/>
          <p:nvPr/>
        </p:nvSpPr>
        <p:spPr>
          <a:xfrm>
            <a:off x="3786634" y="3153817"/>
            <a:ext cx="46870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Servers/DC</a:t>
            </a:r>
            <a:endParaRPr lang="en-US" sz="650"/>
          </a:p>
        </p:txBody>
      </p:sp>
      <p:sp>
        <p:nvSpPr>
          <p:cNvPr id="37" name="Text 34"/>
          <p:cNvSpPr/>
          <p:nvPr/>
        </p:nvSpPr>
        <p:spPr>
          <a:xfrm>
            <a:off x="534427" y="3354735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V30</a:t>
            </a:r>
            <a:endParaRPr lang="en-US" sz="620"/>
          </a:p>
        </p:txBody>
      </p:sp>
      <p:sp>
        <p:nvSpPr>
          <p:cNvPr id="38" name="Text 35"/>
          <p:cNvSpPr/>
          <p:nvPr/>
        </p:nvSpPr>
        <p:spPr>
          <a:xfrm>
            <a:off x="909786" y="3354735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10.50.30.0/24</a:t>
            </a:r>
            <a:endParaRPr lang="en-US" sz="700"/>
          </a:p>
        </p:txBody>
      </p:sp>
      <p:sp>
        <p:nvSpPr>
          <p:cNvPr id="39" name="Text 36"/>
          <p:cNvSpPr/>
          <p:nvPr/>
        </p:nvSpPr>
        <p:spPr>
          <a:xfrm>
            <a:off x="2149822" y="3359348"/>
            <a:ext cx="1849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650"/>
          </a:p>
        </p:txBody>
      </p:sp>
      <p:sp>
        <p:nvSpPr>
          <p:cNvPr id="40" name="Text 37"/>
          <p:cNvSpPr/>
          <p:nvPr/>
        </p:nvSpPr>
        <p:spPr>
          <a:xfrm>
            <a:off x="2429009" y="3354735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V40</a:t>
            </a:r>
            <a:endParaRPr lang="en-US" sz="620"/>
          </a:p>
        </p:txBody>
      </p:sp>
      <p:sp>
        <p:nvSpPr>
          <p:cNvPr id="41" name="Text 38"/>
          <p:cNvSpPr/>
          <p:nvPr/>
        </p:nvSpPr>
        <p:spPr>
          <a:xfrm>
            <a:off x="2804368" y="3354735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10.50.40.0/24</a:t>
            </a:r>
            <a:endParaRPr lang="en-US" sz="700"/>
          </a:p>
        </p:txBody>
      </p:sp>
      <p:sp>
        <p:nvSpPr>
          <p:cNvPr id="42" name="Text 39"/>
          <p:cNvSpPr/>
          <p:nvPr/>
        </p:nvSpPr>
        <p:spPr>
          <a:xfrm>
            <a:off x="3992612" y="3359348"/>
            <a:ext cx="24212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650"/>
          </a:p>
        </p:txBody>
      </p:sp>
      <p:sp>
        <p:nvSpPr>
          <p:cNvPr id="43" name="Text 40"/>
          <p:cNvSpPr/>
          <p:nvPr/>
        </p:nvSpPr>
        <p:spPr>
          <a:xfrm>
            <a:off x="534427" y="3560266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V50</a:t>
            </a:r>
            <a:endParaRPr lang="en-US" sz="620"/>
          </a:p>
        </p:txBody>
      </p:sp>
      <p:sp>
        <p:nvSpPr>
          <p:cNvPr id="44" name="Text 41"/>
          <p:cNvSpPr/>
          <p:nvPr/>
        </p:nvSpPr>
        <p:spPr>
          <a:xfrm>
            <a:off x="909786" y="3560266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10.50.50.0/24</a:t>
            </a:r>
            <a:endParaRPr lang="en-US" sz="700"/>
          </a:p>
        </p:txBody>
      </p:sp>
      <p:sp>
        <p:nvSpPr>
          <p:cNvPr id="45" name="Text 42"/>
          <p:cNvSpPr/>
          <p:nvPr/>
        </p:nvSpPr>
        <p:spPr>
          <a:xfrm>
            <a:off x="2143720" y="3564880"/>
            <a:ext cx="19170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</a:t>
            </a:r>
            <a:endParaRPr lang="en-US" sz="650"/>
          </a:p>
        </p:txBody>
      </p:sp>
      <p:sp>
        <p:nvSpPr>
          <p:cNvPr id="46" name="Text 43"/>
          <p:cNvSpPr/>
          <p:nvPr/>
        </p:nvSpPr>
        <p:spPr>
          <a:xfrm>
            <a:off x="2429009" y="3560266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V60</a:t>
            </a:r>
            <a:endParaRPr lang="en-US" sz="620"/>
          </a:p>
        </p:txBody>
      </p:sp>
      <p:sp>
        <p:nvSpPr>
          <p:cNvPr id="47" name="Text 44"/>
          <p:cNvSpPr/>
          <p:nvPr/>
        </p:nvSpPr>
        <p:spPr>
          <a:xfrm>
            <a:off x="2804368" y="3560266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10.50.60.0/24</a:t>
            </a:r>
            <a:endParaRPr lang="en-US" sz="700"/>
          </a:p>
        </p:txBody>
      </p:sp>
      <p:sp>
        <p:nvSpPr>
          <p:cNvPr id="48" name="Text 45"/>
          <p:cNvSpPr/>
          <p:nvPr/>
        </p:nvSpPr>
        <p:spPr>
          <a:xfrm>
            <a:off x="4034135" y="3564880"/>
            <a:ext cx="19645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650"/>
          </a:p>
        </p:txBody>
      </p:sp>
      <p:sp>
        <p:nvSpPr>
          <p:cNvPr id="49" name="Text 46"/>
          <p:cNvSpPr/>
          <p:nvPr/>
        </p:nvSpPr>
        <p:spPr>
          <a:xfrm>
            <a:off x="4565005" y="982266"/>
            <a:ext cx="13841" cy="3699123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4D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736306" y="982266"/>
            <a:ext cx="4064794" cy="3699123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931122" y="1192411"/>
            <a:ext cx="3675162" cy="303980"/>
          </a:xfrm>
          <a:prstGeom prst="rect">
            <a:avLst/>
          </a:prstGeom>
          <a:noFill/>
          <a:ln/>
        </p:spPr>
        <p:txBody>
          <a:bodyPr wrap="none" lIns="285730" tIns="0" rIns="0" bIns="71120" rtlCol="0" anchor="ctr"/>
          <a:lstStyle/>
          <a:p>
            <a:pPr marL="0" indent="0" algn="l">
              <a:buNone/>
            </a:pPr>
            <a:r>
              <a:rPr lang="en-US" sz="9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&amp; Seattle — Distribution + Data Center</a:t>
            </a:r>
            <a:endParaRPr lang="en-US" sz="960"/>
          </a:p>
        </p:txBody>
      </p:sp>
      <p:sp>
        <p:nvSpPr>
          <p:cNvPr id="52" name="Text 49"/>
          <p:cNvSpPr/>
          <p:nvPr/>
        </p:nvSpPr>
        <p:spPr>
          <a:xfrm>
            <a:off x="4931122" y="1478012"/>
            <a:ext cx="3675162" cy="9525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931122" y="1192411"/>
            <a:ext cx="214610" cy="214610"/>
          </a:xfrm>
          <a:prstGeom prst="roundRect">
            <a:avLst>
              <a:gd name="adj" fmla="val 26630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2133" y="1233422"/>
            <a:ext cx="132588" cy="132588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4931122" y="1686818"/>
            <a:ext cx="43160" cy="43160"/>
          </a:xfrm>
          <a:prstGeom prst="ellipse">
            <a:avLst/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4931122" y="1818829"/>
            <a:ext cx="404267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10.60.0.0 /16</a:t>
            </a:r>
            <a:endParaRPr lang="en-US" sz="760"/>
          </a:p>
        </p:txBody>
      </p:sp>
      <p:sp>
        <p:nvSpPr>
          <p:cNvPr id="57" name="Text 53"/>
          <p:cNvSpPr/>
          <p:nvPr/>
        </p:nvSpPr>
        <p:spPr>
          <a:xfrm>
            <a:off x="4927833" y="2042368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V10</a:t>
            </a:r>
            <a:endParaRPr lang="en-US" sz="620"/>
          </a:p>
        </p:txBody>
      </p:sp>
      <p:sp>
        <p:nvSpPr>
          <p:cNvPr id="58" name="Text 54"/>
          <p:cNvSpPr/>
          <p:nvPr/>
        </p:nvSpPr>
        <p:spPr>
          <a:xfrm>
            <a:off x="5303193" y="2042368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10.60.10.0/24</a:t>
            </a:r>
            <a:endParaRPr lang="en-US" sz="700"/>
          </a:p>
        </p:txBody>
      </p:sp>
      <p:sp>
        <p:nvSpPr>
          <p:cNvPr id="59" name="Text 55"/>
          <p:cNvSpPr/>
          <p:nvPr/>
        </p:nvSpPr>
        <p:spPr>
          <a:xfrm>
            <a:off x="6505426" y="2046982"/>
            <a:ext cx="22674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/>
          </a:p>
        </p:txBody>
      </p:sp>
      <p:sp>
        <p:nvSpPr>
          <p:cNvPr id="60" name="Text 56"/>
          <p:cNvSpPr/>
          <p:nvPr/>
        </p:nvSpPr>
        <p:spPr>
          <a:xfrm>
            <a:off x="6822564" y="2042368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V20</a:t>
            </a:r>
            <a:endParaRPr lang="en-US" sz="620"/>
          </a:p>
        </p:txBody>
      </p:sp>
      <p:sp>
        <p:nvSpPr>
          <p:cNvPr id="61" name="Text 57"/>
          <p:cNvSpPr/>
          <p:nvPr/>
        </p:nvSpPr>
        <p:spPr>
          <a:xfrm>
            <a:off x="7197923" y="2042368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10.60.20.0/24</a:t>
            </a:r>
            <a:endParaRPr lang="en-US" sz="700"/>
          </a:p>
        </p:txBody>
      </p:sp>
      <p:sp>
        <p:nvSpPr>
          <p:cNvPr id="62" name="Text 58"/>
          <p:cNvSpPr/>
          <p:nvPr/>
        </p:nvSpPr>
        <p:spPr>
          <a:xfrm>
            <a:off x="8180189" y="2046982"/>
            <a:ext cx="46870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Servers/DC</a:t>
            </a:r>
            <a:endParaRPr lang="en-US" sz="650"/>
          </a:p>
        </p:txBody>
      </p:sp>
      <p:sp>
        <p:nvSpPr>
          <p:cNvPr id="63" name="Text 59"/>
          <p:cNvSpPr/>
          <p:nvPr/>
        </p:nvSpPr>
        <p:spPr>
          <a:xfrm>
            <a:off x="4927833" y="2247900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V30</a:t>
            </a:r>
            <a:endParaRPr lang="en-US" sz="620"/>
          </a:p>
        </p:txBody>
      </p:sp>
      <p:sp>
        <p:nvSpPr>
          <p:cNvPr id="64" name="Text 60"/>
          <p:cNvSpPr/>
          <p:nvPr/>
        </p:nvSpPr>
        <p:spPr>
          <a:xfrm>
            <a:off x="5303193" y="2247900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10.60.30.0/24</a:t>
            </a:r>
            <a:endParaRPr lang="en-US" sz="700"/>
          </a:p>
        </p:txBody>
      </p:sp>
      <p:sp>
        <p:nvSpPr>
          <p:cNvPr id="65" name="Text 61"/>
          <p:cNvSpPr/>
          <p:nvPr/>
        </p:nvSpPr>
        <p:spPr>
          <a:xfrm>
            <a:off x="6543377" y="2252514"/>
            <a:ext cx="1849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650"/>
          </a:p>
        </p:txBody>
      </p:sp>
      <p:sp>
        <p:nvSpPr>
          <p:cNvPr id="66" name="Text 62"/>
          <p:cNvSpPr/>
          <p:nvPr/>
        </p:nvSpPr>
        <p:spPr>
          <a:xfrm>
            <a:off x="6822564" y="2247900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V40</a:t>
            </a:r>
            <a:endParaRPr lang="en-US" sz="620"/>
          </a:p>
        </p:txBody>
      </p:sp>
      <p:sp>
        <p:nvSpPr>
          <p:cNvPr id="67" name="Text 63"/>
          <p:cNvSpPr/>
          <p:nvPr/>
        </p:nvSpPr>
        <p:spPr>
          <a:xfrm>
            <a:off x="7197923" y="2247900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10.60.40.0/24</a:t>
            </a:r>
            <a:endParaRPr lang="en-US" sz="700"/>
          </a:p>
        </p:txBody>
      </p:sp>
      <p:sp>
        <p:nvSpPr>
          <p:cNvPr id="68" name="Text 64"/>
          <p:cNvSpPr/>
          <p:nvPr/>
        </p:nvSpPr>
        <p:spPr>
          <a:xfrm>
            <a:off x="8386167" y="2252514"/>
            <a:ext cx="24212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650"/>
          </a:p>
        </p:txBody>
      </p:sp>
      <p:sp>
        <p:nvSpPr>
          <p:cNvPr id="69" name="Text 65"/>
          <p:cNvSpPr/>
          <p:nvPr/>
        </p:nvSpPr>
        <p:spPr>
          <a:xfrm>
            <a:off x="4927833" y="2453432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V50</a:t>
            </a:r>
            <a:endParaRPr lang="en-US" sz="620"/>
          </a:p>
        </p:txBody>
      </p:sp>
      <p:sp>
        <p:nvSpPr>
          <p:cNvPr id="70" name="Text 66"/>
          <p:cNvSpPr/>
          <p:nvPr/>
        </p:nvSpPr>
        <p:spPr>
          <a:xfrm>
            <a:off x="5303193" y="2453432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10.60.50.0/24</a:t>
            </a:r>
            <a:endParaRPr lang="en-US" sz="700"/>
          </a:p>
        </p:txBody>
      </p:sp>
      <p:sp>
        <p:nvSpPr>
          <p:cNvPr id="71" name="Text 67"/>
          <p:cNvSpPr/>
          <p:nvPr/>
        </p:nvSpPr>
        <p:spPr>
          <a:xfrm>
            <a:off x="6537275" y="2458045"/>
            <a:ext cx="19170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</a:t>
            </a:r>
            <a:endParaRPr lang="en-US" sz="650"/>
          </a:p>
        </p:txBody>
      </p:sp>
      <p:sp>
        <p:nvSpPr>
          <p:cNvPr id="72" name="Text 68"/>
          <p:cNvSpPr/>
          <p:nvPr/>
        </p:nvSpPr>
        <p:spPr>
          <a:xfrm>
            <a:off x="6822564" y="2453432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V60</a:t>
            </a:r>
            <a:endParaRPr lang="en-US" sz="620"/>
          </a:p>
        </p:txBody>
      </p:sp>
      <p:sp>
        <p:nvSpPr>
          <p:cNvPr id="73" name="Text 69"/>
          <p:cNvSpPr/>
          <p:nvPr/>
        </p:nvSpPr>
        <p:spPr>
          <a:xfrm>
            <a:off x="7197923" y="2453432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10.60.60.0/24</a:t>
            </a:r>
            <a:endParaRPr lang="en-US" sz="700"/>
          </a:p>
        </p:txBody>
      </p:sp>
      <p:sp>
        <p:nvSpPr>
          <p:cNvPr id="74" name="Text 70"/>
          <p:cNvSpPr/>
          <p:nvPr/>
        </p:nvSpPr>
        <p:spPr>
          <a:xfrm>
            <a:off x="8427690" y="2458045"/>
            <a:ext cx="19645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650"/>
          </a:p>
        </p:txBody>
      </p:sp>
      <p:sp>
        <p:nvSpPr>
          <p:cNvPr id="75" name="Text 71"/>
          <p:cNvSpPr/>
          <p:nvPr/>
        </p:nvSpPr>
        <p:spPr>
          <a:xfrm>
            <a:off x="4931122" y="2793653"/>
            <a:ext cx="43160" cy="43160"/>
          </a:xfrm>
          <a:prstGeom prst="ellipse">
            <a:avLst/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6" name="Text 72"/>
          <p:cNvSpPr/>
          <p:nvPr/>
        </p:nvSpPr>
        <p:spPr>
          <a:xfrm>
            <a:off x="4931122" y="2925663"/>
            <a:ext cx="404267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>
                <a:solidFill>
                  <a:srgbClr val="88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10.70.0.0 /16</a:t>
            </a:r>
            <a:endParaRPr lang="en-US" sz="760"/>
          </a:p>
        </p:txBody>
      </p:sp>
      <p:sp>
        <p:nvSpPr>
          <p:cNvPr id="77" name="Text 73"/>
          <p:cNvSpPr/>
          <p:nvPr/>
        </p:nvSpPr>
        <p:spPr>
          <a:xfrm>
            <a:off x="4927833" y="3149203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V10</a:t>
            </a:r>
            <a:endParaRPr lang="en-US" sz="620"/>
          </a:p>
        </p:txBody>
      </p:sp>
      <p:sp>
        <p:nvSpPr>
          <p:cNvPr id="78" name="Text 74"/>
          <p:cNvSpPr/>
          <p:nvPr/>
        </p:nvSpPr>
        <p:spPr>
          <a:xfrm>
            <a:off x="5303193" y="3149203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10.70.10.0/24</a:t>
            </a:r>
            <a:endParaRPr lang="en-US" sz="700"/>
          </a:p>
        </p:txBody>
      </p:sp>
      <p:sp>
        <p:nvSpPr>
          <p:cNvPr id="79" name="Text 75"/>
          <p:cNvSpPr/>
          <p:nvPr/>
        </p:nvSpPr>
        <p:spPr>
          <a:xfrm>
            <a:off x="6505426" y="3153817"/>
            <a:ext cx="22674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/>
          </a:p>
        </p:txBody>
      </p:sp>
      <p:sp>
        <p:nvSpPr>
          <p:cNvPr id="80" name="Text 76"/>
          <p:cNvSpPr/>
          <p:nvPr/>
        </p:nvSpPr>
        <p:spPr>
          <a:xfrm>
            <a:off x="6822564" y="3149203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V20</a:t>
            </a:r>
            <a:endParaRPr lang="en-US" sz="620"/>
          </a:p>
        </p:txBody>
      </p:sp>
      <p:sp>
        <p:nvSpPr>
          <p:cNvPr id="81" name="Text 77"/>
          <p:cNvSpPr/>
          <p:nvPr/>
        </p:nvSpPr>
        <p:spPr>
          <a:xfrm>
            <a:off x="7197923" y="3149203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10.70.20.0/24</a:t>
            </a:r>
            <a:endParaRPr lang="en-US" sz="700"/>
          </a:p>
        </p:txBody>
      </p:sp>
      <p:sp>
        <p:nvSpPr>
          <p:cNvPr id="82" name="Text 78"/>
          <p:cNvSpPr/>
          <p:nvPr/>
        </p:nvSpPr>
        <p:spPr>
          <a:xfrm>
            <a:off x="8180189" y="3153817"/>
            <a:ext cx="46870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Servers/DC</a:t>
            </a:r>
            <a:endParaRPr lang="en-US" sz="650"/>
          </a:p>
        </p:txBody>
      </p:sp>
      <p:sp>
        <p:nvSpPr>
          <p:cNvPr id="83" name="Text 79"/>
          <p:cNvSpPr/>
          <p:nvPr/>
        </p:nvSpPr>
        <p:spPr>
          <a:xfrm>
            <a:off x="4927833" y="3354735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V30</a:t>
            </a:r>
            <a:endParaRPr lang="en-US" sz="620"/>
          </a:p>
        </p:txBody>
      </p:sp>
      <p:sp>
        <p:nvSpPr>
          <p:cNvPr id="84" name="Text 80"/>
          <p:cNvSpPr/>
          <p:nvPr/>
        </p:nvSpPr>
        <p:spPr>
          <a:xfrm>
            <a:off x="5303193" y="3354735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10.70.30.0/24</a:t>
            </a:r>
            <a:endParaRPr lang="en-US" sz="700"/>
          </a:p>
        </p:txBody>
      </p:sp>
      <p:sp>
        <p:nvSpPr>
          <p:cNvPr id="85" name="Text 81"/>
          <p:cNvSpPr/>
          <p:nvPr/>
        </p:nvSpPr>
        <p:spPr>
          <a:xfrm>
            <a:off x="6543377" y="3359348"/>
            <a:ext cx="1849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650"/>
          </a:p>
        </p:txBody>
      </p:sp>
      <p:sp>
        <p:nvSpPr>
          <p:cNvPr id="86" name="Text 82"/>
          <p:cNvSpPr/>
          <p:nvPr/>
        </p:nvSpPr>
        <p:spPr>
          <a:xfrm>
            <a:off x="6822564" y="3354735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V40</a:t>
            </a:r>
            <a:endParaRPr lang="en-US" sz="620"/>
          </a:p>
        </p:txBody>
      </p:sp>
      <p:sp>
        <p:nvSpPr>
          <p:cNvPr id="87" name="Text 83"/>
          <p:cNvSpPr/>
          <p:nvPr/>
        </p:nvSpPr>
        <p:spPr>
          <a:xfrm>
            <a:off x="7197923" y="3354735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10.70.40.0/24</a:t>
            </a:r>
            <a:endParaRPr lang="en-US" sz="700"/>
          </a:p>
        </p:txBody>
      </p:sp>
      <p:sp>
        <p:nvSpPr>
          <p:cNvPr id="88" name="Text 84"/>
          <p:cNvSpPr/>
          <p:nvPr/>
        </p:nvSpPr>
        <p:spPr>
          <a:xfrm>
            <a:off x="8386167" y="3359348"/>
            <a:ext cx="24212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650"/>
          </a:p>
        </p:txBody>
      </p:sp>
      <p:sp>
        <p:nvSpPr>
          <p:cNvPr id="89" name="Text 85"/>
          <p:cNvSpPr/>
          <p:nvPr/>
        </p:nvSpPr>
        <p:spPr>
          <a:xfrm>
            <a:off x="4927833" y="3560266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V50</a:t>
            </a:r>
            <a:endParaRPr lang="en-US" sz="620"/>
          </a:p>
        </p:txBody>
      </p:sp>
      <p:sp>
        <p:nvSpPr>
          <p:cNvPr id="90" name="Text 86"/>
          <p:cNvSpPr/>
          <p:nvPr/>
        </p:nvSpPr>
        <p:spPr>
          <a:xfrm>
            <a:off x="5303193" y="3560266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10.70.50.0/24</a:t>
            </a:r>
            <a:endParaRPr lang="en-US" sz="700"/>
          </a:p>
        </p:txBody>
      </p:sp>
      <p:sp>
        <p:nvSpPr>
          <p:cNvPr id="91" name="Text 87"/>
          <p:cNvSpPr/>
          <p:nvPr/>
        </p:nvSpPr>
        <p:spPr>
          <a:xfrm>
            <a:off x="6537275" y="3564880"/>
            <a:ext cx="19170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</a:t>
            </a:r>
            <a:endParaRPr lang="en-US" sz="650"/>
          </a:p>
        </p:txBody>
      </p:sp>
      <p:sp>
        <p:nvSpPr>
          <p:cNvPr id="92" name="Text 88"/>
          <p:cNvSpPr/>
          <p:nvPr/>
        </p:nvSpPr>
        <p:spPr>
          <a:xfrm>
            <a:off x="6822564" y="3560266"/>
            <a:ext cx="335488" cy="133201"/>
          </a:xfrm>
          <a:prstGeom prst="roundRect">
            <a:avLst>
              <a:gd name="adj" fmla="val 2192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V60</a:t>
            </a:r>
            <a:endParaRPr lang="en-US" sz="620"/>
          </a:p>
        </p:txBody>
      </p:sp>
      <p:sp>
        <p:nvSpPr>
          <p:cNvPr id="93" name="Text 89"/>
          <p:cNvSpPr/>
          <p:nvPr/>
        </p:nvSpPr>
        <p:spPr>
          <a:xfrm>
            <a:off x="7197923" y="3560266"/>
            <a:ext cx="76502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10.70.60.0/24</a:t>
            </a:r>
            <a:endParaRPr lang="en-US" sz="700"/>
          </a:p>
        </p:txBody>
      </p:sp>
      <p:sp>
        <p:nvSpPr>
          <p:cNvPr id="94" name="Text 90"/>
          <p:cNvSpPr/>
          <p:nvPr/>
        </p:nvSpPr>
        <p:spPr>
          <a:xfrm>
            <a:off x="8427690" y="3564880"/>
            <a:ext cx="19645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650"/>
          </a:p>
        </p:txBody>
      </p:sp>
      <p:sp>
        <p:nvSpPr>
          <p:cNvPr id="95" name="Text 91"/>
          <p:cNvSpPr/>
          <p:nvPr/>
        </p:nvSpPr>
        <p:spPr>
          <a:xfrm>
            <a:off x="-80010" y="4781699"/>
            <a:ext cx="9304020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00" kern="0" spc="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6-VLAN model across all sites · /24 subnets = 254 usable hosts per VLAN</a:t>
            </a:r>
            <a:endParaRPr lang="en-US"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730"/>
          </a:p>
        </p:txBody>
      </p:sp>
      <p:sp>
        <p:nvSpPr>
          <p:cNvPr id="3" name="Text 1"/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Diagram Summary</a:t>
            </a:r>
            <a:endParaRPr lang="en-US" sz="2030"/>
          </a:p>
        </p:txBody>
      </p:sp>
      <p:sp>
        <p:nvSpPr>
          <p:cNvPr id="4" name="Text 2"/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0050" y="1115913"/>
            <a:ext cx="4121795" cy="1089422"/>
          </a:xfrm>
          <a:prstGeom prst="roundRect">
            <a:avLst>
              <a:gd name="adj" fmla="val 792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1025" y="1239738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191" y="1330904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9416" y="1239738"/>
            <a:ext cx="36316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WAN Connectivity</a:t>
            </a:r>
            <a:endParaRPr lang="en-US" sz="960"/>
          </a:p>
        </p:txBody>
      </p:sp>
      <p:sp>
        <p:nvSpPr>
          <p:cNvPr id="9" name="Text 6"/>
          <p:cNvSpPr/>
          <p:nvPr/>
        </p:nvSpPr>
        <p:spPr>
          <a:xfrm>
            <a:off x="1039416" y="1444079"/>
            <a:ext cx="336748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sites connected to Dallas HQ via encrypted IPSec site-to-site VPN tunnels over dedicated WAN links</a:t>
            </a:r>
            <a:endParaRPr lang="en-US" sz="820"/>
          </a:p>
        </p:txBody>
      </p:sp>
      <p:sp>
        <p:nvSpPr>
          <p:cNvPr id="10" name="Text 7"/>
          <p:cNvSpPr/>
          <p:nvPr/>
        </p:nvSpPr>
        <p:spPr>
          <a:xfrm>
            <a:off x="4622155" y="1115913"/>
            <a:ext cx="4121795" cy="1089422"/>
          </a:xfrm>
          <a:prstGeom prst="roundRect">
            <a:avLst>
              <a:gd name="adj" fmla="val 792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03130" y="1239738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4296" y="1330904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61521" y="1239738"/>
            <a:ext cx="36316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Infrastructure</a:t>
            </a:r>
            <a:endParaRPr lang="en-US" sz="960"/>
          </a:p>
        </p:txBody>
      </p:sp>
      <p:sp>
        <p:nvSpPr>
          <p:cNvPr id="14" name="Text 10"/>
          <p:cNvSpPr/>
          <p:nvPr/>
        </p:nvSpPr>
        <p:spPr>
          <a:xfrm>
            <a:off x="5261521" y="1444079"/>
            <a:ext cx="336748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 has a Domain Controller, DHCP server, Layer 3 switch for inter-VLAN routing, and next-gen firewall</a:t>
            </a:r>
            <a:endParaRPr lang="en-US" sz="820"/>
          </a:p>
        </p:txBody>
      </p:sp>
      <p:sp>
        <p:nvSpPr>
          <p:cNvPr id="15" name="Text 11"/>
          <p:cNvSpPr/>
          <p:nvPr/>
        </p:nvSpPr>
        <p:spPr>
          <a:xfrm>
            <a:off x="400050" y="2305645"/>
            <a:ext cx="4121795" cy="1089422"/>
          </a:xfrm>
          <a:prstGeom prst="roundRect">
            <a:avLst>
              <a:gd name="adj" fmla="val 792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81025" y="242947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191" y="2520636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9416" y="2429470"/>
            <a:ext cx="36316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 Total Subnets</a:t>
            </a:r>
            <a:endParaRPr lang="en-US" sz="960"/>
          </a:p>
        </p:txBody>
      </p:sp>
      <p:sp>
        <p:nvSpPr>
          <p:cNvPr id="19" name="Text 14"/>
          <p:cNvSpPr/>
          <p:nvPr/>
        </p:nvSpPr>
        <p:spPr>
          <a:xfrm>
            <a:off x="1039416" y="2633811"/>
            <a:ext cx="336748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VLANs × 7 sites, each with /24 addressing providing 254 usable hosts per segment</a:t>
            </a:r>
            <a:endParaRPr lang="en-US" sz="820"/>
          </a:p>
        </p:txBody>
      </p:sp>
      <p:sp>
        <p:nvSpPr>
          <p:cNvPr id="20" name="Text 15"/>
          <p:cNvSpPr/>
          <p:nvPr/>
        </p:nvSpPr>
        <p:spPr>
          <a:xfrm>
            <a:off x="4622155" y="2305645"/>
            <a:ext cx="4121795" cy="1089422"/>
          </a:xfrm>
          <a:prstGeom prst="roundRect">
            <a:avLst>
              <a:gd name="adj" fmla="val 792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803130" y="242947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4296" y="2520636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1521" y="2429470"/>
            <a:ext cx="36316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Perimeter Security</a:t>
            </a:r>
            <a:endParaRPr lang="en-US" sz="960"/>
          </a:p>
        </p:txBody>
      </p:sp>
      <p:sp>
        <p:nvSpPr>
          <p:cNvPr id="24" name="Text 18"/>
          <p:cNvSpPr/>
          <p:nvPr/>
        </p:nvSpPr>
        <p:spPr>
          <a:xfrm>
            <a:off x="5261521" y="2633811"/>
            <a:ext cx="336748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with IDS/IPS at every location, DMZ VLAN isolating public-facing services</a:t>
            </a:r>
            <a:endParaRPr lang="en-US" sz="820"/>
          </a:p>
        </p:txBody>
      </p:sp>
      <p:sp>
        <p:nvSpPr>
          <p:cNvPr id="25" name="Text 19"/>
          <p:cNvSpPr/>
          <p:nvPr/>
        </p:nvSpPr>
        <p:spPr>
          <a:xfrm>
            <a:off x="400050" y="3495377"/>
            <a:ext cx="4121795" cy="1089422"/>
          </a:xfrm>
          <a:prstGeom prst="roundRect">
            <a:avLst>
              <a:gd name="adj" fmla="val 792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81025" y="361920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191" y="3710369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39416" y="3619202"/>
            <a:ext cx="36316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Center Redundancy</a:t>
            </a:r>
            <a:endParaRPr lang="en-US" sz="960"/>
          </a:p>
        </p:txBody>
      </p:sp>
      <p:sp>
        <p:nvSpPr>
          <p:cNvPr id="29" name="Text 22"/>
          <p:cNvSpPr/>
          <p:nvPr/>
        </p:nvSpPr>
        <p:spPr>
          <a:xfrm>
            <a:off x="1039416" y="3823543"/>
            <a:ext cx="336748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data centers (Seattle &amp; Atlanta) for geographic redundancy and disaster recovery</a:t>
            </a:r>
            <a:endParaRPr lang="en-US" sz="820"/>
          </a:p>
        </p:txBody>
      </p:sp>
      <p:sp>
        <p:nvSpPr>
          <p:cNvPr id="30" name="Text 23"/>
          <p:cNvSpPr/>
          <p:nvPr/>
        </p:nvSpPr>
        <p:spPr>
          <a:xfrm>
            <a:off x="4622155" y="3495377"/>
            <a:ext cx="4121795" cy="1089422"/>
          </a:xfrm>
          <a:prstGeom prst="roundRect">
            <a:avLst>
              <a:gd name="adj" fmla="val 7927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803130" y="3619202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4296" y="3710369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61521" y="3619202"/>
            <a:ext cx="36316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Documentation</a:t>
            </a:r>
            <a:endParaRPr lang="en-US" sz="960"/>
          </a:p>
        </p:txBody>
      </p:sp>
      <p:sp>
        <p:nvSpPr>
          <p:cNvPr id="34" name="Text 26"/>
          <p:cNvSpPr/>
          <p:nvPr/>
        </p:nvSpPr>
        <p:spPr>
          <a:xfrm>
            <a:off x="5261521" y="3823543"/>
            <a:ext cx="3367483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Visio/draw.io network diagrams showing topology, IP scheme, VPN tunnels, and security zones per site</a:t>
            </a:r>
            <a:endParaRPr lang="en-US" sz="820"/>
          </a:p>
        </p:txBody>
      </p:sp>
      <p:sp>
        <p:nvSpPr>
          <p:cNvPr id="35" name="Text 27"/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3458766" y="4728270"/>
            <a:ext cx="244911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SITES · 42 SUBNETS · FULL REDUNDANCY</a:t>
            </a:r>
            <a:endParaRPr lang="en-US" sz="680"/>
          </a:p>
        </p:txBody>
      </p:sp>
      <p:sp>
        <p:nvSpPr>
          <p:cNvPr id="37" name="Text 29"/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78489-B4E8-472C-6DD5-5D88BF9C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DAF4E95-B40E-BA8C-BAD5-19A029F1A2B2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Infrastructure - DALLAS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6E83DE-E653-92BB-E593-0A7B2E8ACD10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3906E08E-E3C7-8086-CC22-D6A36D2CFB2D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26E142E-BA15-8127-532A-BC66DCC95BD5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F1DB47-5247-BCEC-7C4D-D18A38F1D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94" y="952053"/>
            <a:ext cx="3924842" cy="361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D3B8659-AD0A-F330-CC11-A4D739039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" t="-3783" b="8471"/>
          <a:stretch>
            <a:fillRect/>
          </a:stretch>
        </p:blipFill>
        <p:spPr bwMode="auto">
          <a:xfrm>
            <a:off x="4572000" y="797468"/>
            <a:ext cx="4018229" cy="381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078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F6A66-F743-6E76-B271-13760F0C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E8C106F-DA92-D600-CE1F-216D86486A76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Infrastructure - ATLANTA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7C9903-B9B3-2CFD-679D-3ECB7A7F4353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34FB2C9D-692D-BC3F-546F-1997A3F5D27B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D22CAE52-3C11-B928-283D-EF6F34DE2516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44653E9-737A-6203-2573-CAD043E5B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065900"/>
            <a:ext cx="3805844" cy="354902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2EDA150-E484-B22A-AFFB-4ABF6E235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601" y="1089512"/>
            <a:ext cx="4132154" cy="352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11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14C04-E6F9-6044-9A45-C82A4294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6548137-D368-FA27-184C-5429F3A1DF51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Infrastructure - SEATTLE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A41E00-552D-61C0-1EB9-D33E671A9723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36819E29-9F05-3FF2-C826-D618C9FACF96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785EE701-0A0B-CB6B-703D-94DDE70B11C8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515B3C8-08DB-4171-ED74-B62FD2661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61" y="930062"/>
            <a:ext cx="4171105" cy="386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4276D59-9FC8-EC23-FBC9-BBFF167B9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155" y="930062"/>
            <a:ext cx="4267484" cy="386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974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EBA3B-3410-59E4-7393-DE061DA2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E693F73-0483-8627-8348-1B4CE1254507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00">
                <a:solidFill>
                  <a:srgbClr val="E8EDF5"/>
                </a:solidFill>
                <a:latin typeface="Calibri Light"/>
                <a:ea typeface="Calibri Light"/>
                <a:cs typeface="Calibri Light"/>
              </a:rPr>
              <a:t>Network Infrastructure - CHICAGO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8FD5AB-CC44-E174-2A94-8E0618891C3B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88558CE4-AC38-07B7-C038-480C405A199B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6DE1DC7D-7FFE-2077-8369-CE21F048BE80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CD2BD0-795A-76B4-45A4-019E180CB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27" y="894256"/>
            <a:ext cx="3660084" cy="389945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BD4FB0-D6BB-78FC-7F74-0F0547E77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508" y="909845"/>
            <a:ext cx="480557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01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AC768-455A-F405-1EF0-4CE951C99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C9BB9E0-4634-C545-7F42-2DC30147E9B8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5"/>
              </a:lnSpc>
            </a:pPr>
            <a:r>
              <a:rPr lang="en-US" sz="2000">
                <a:solidFill>
                  <a:srgbClr val="E8EDF5"/>
                </a:solidFill>
                <a:latin typeface="Calibri Light"/>
                <a:ea typeface="Calibri Light"/>
                <a:cs typeface="Calibri Light"/>
              </a:rPr>
              <a:t>Network Infrastructure – SAN FRANCISCO LSALES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FA4D5D-BB49-E2E6-9FA3-C446C4974BD3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D8F4C345-0419-B8EB-F10C-0758A6B4D9B0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A55BC47E-17B7-2FA2-7AED-CEB5733BB6AC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38AA92-FCAB-31B6-77A0-DC799FB22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65" y="1027498"/>
            <a:ext cx="3925127" cy="375533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3BD820-6BA8-68CA-C7A8-FF5DEC2CE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758" y="1030770"/>
            <a:ext cx="4342571" cy="395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32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55FFD-BA72-1EEB-B3AD-76C4D1CF6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F7CD3F4-5B37-BBC2-4B5E-174FBCCB46B6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5"/>
              </a:lnSpc>
            </a:pPr>
            <a:r>
              <a:rPr lang="en-US" sz="2000">
                <a:solidFill>
                  <a:srgbClr val="E8EDF5"/>
                </a:solidFill>
                <a:latin typeface="Calibri Light"/>
                <a:ea typeface="Calibri Light"/>
                <a:cs typeface="Calibri Light"/>
              </a:rPr>
              <a:t>Network Infrastructure – MILWAUKEE-SHI-REC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DC9999-B9B8-9BB3-1032-B931AF5DF651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93D9A2AE-DBF6-E9BC-625A-188F10CC8FC2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6E5BE425-03F2-35B4-EDCE-0827E5B23F87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03852E-6555-D2EB-F20A-2E1B5DCA6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65" y="1027498"/>
            <a:ext cx="3925127" cy="375533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DB079D-6577-C70B-34CE-364DC47FF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758" y="1030770"/>
            <a:ext cx="4342571" cy="395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45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B682-0640-E051-2E4A-C301E143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18050C-D547-0E82-6FA1-6B0BBD589CA5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5"/>
              </a:lnSpc>
            </a:pPr>
            <a:r>
              <a:rPr lang="en-US" sz="2000">
                <a:solidFill>
                  <a:srgbClr val="E8EDF5"/>
                </a:solidFill>
                <a:latin typeface="Calibri Light"/>
                <a:ea typeface="Calibri Light"/>
                <a:cs typeface="Calibri Light"/>
              </a:rPr>
              <a:t>Network Infrastructure – AUSTIN DIS-DETACT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4C5131-998C-F709-81AB-A058224F7CB2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2548D909-3FEB-2CAC-2CA2-934F61390FF6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B0A2D6D5-779F-D4F5-8567-4F594B407668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F85AF6-25AD-5010-3594-ACB664492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65" y="908298"/>
            <a:ext cx="3781010" cy="3684932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389068-1F79-8575-1846-8CE971D11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328" y="897421"/>
            <a:ext cx="4562889" cy="358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34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9824" y="-60988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00B4D8"/>
              </a:gs>
              <a:gs pos="7000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942" y="271760"/>
            <a:ext cx="911411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20"/>
              </a:lnSpc>
              <a:buNone/>
            </a:pPr>
            <a:r>
              <a:rPr lang="en-US" sz="620" kern="0" spc="2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ARCHITECTURE</a:t>
            </a:r>
            <a:endParaRPr lang="en-US" sz="620"/>
          </a:p>
        </p:txBody>
      </p:sp>
      <p:sp>
        <p:nvSpPr>
          <p:cNvPr id="6" name="Text 4"/>
          <p:cNvSpPr/>
          <p:nvPr/>
        </p:nvSpPr>
        <p:spPr>
          <a:xfrm>
            <a:off x="139226" y="428476"/>
            <a:ext cx="88655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kern="0" spc="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Forest, Domain &amp; </a:t>
            </a:r>
            <a:r>
              <a:rPr lang="en-US" sz="1800" kern="0" spc="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Domain Controllers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4357390" y="795486"/>
            <a:ext cx="429220" cy="13841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741" y="1023938"/>
            <a:ext cx="2695873" cy="2536924"/>
          </a:xfrm>
          <a:prstGeom prst="roundRect">
            <a:avLst>
              <a:gd name="adj" fmla="val 3955"/>
            </a:avLst>
          </a:prstGeom>
          <a:solidFill>
            <a:srgbClr val="162032"/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1557" y="124807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872" y="1341388"/>
            <a:ext cx="185291" cy="1852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1557" y="1748284"/>
            <a:ext cx="253686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960" kern="0" spc="2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Forest &amp; Domain Design</a:t>
            </a:r>
            <a:endParaRPr lang="en-US" sz="960"/>
          </a:p>
        </p:txBody>
      </p:sp>
      <p:sp>
        <p:nvSpPr>
          <p:cNvPr id="12" name="Text 9"/>
          <p:cNvSpPr/>
          <p:nvPr/>
        </p:nvSpPr>
        <p:spPr>
          <a:xfrm>
            <a:off x="679827" y="2005459"/>
            <a:ext cx="2395767" cy="141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forest, single domain: </a:t>
            </a:r>
            <a:r>
              <a:rPr lang="en-US" sz="7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letsgetstarted.local</a:t>
            </a:r>
            <a:endParaRPr lang="en-US" sz="720"/>
          </a:p>
        </p:txBody>
      </p:sp>
      <p:sp>
        <p:nvSpPr>
          <p:cNvPr id="13" name="Text 10"/>
          <p:cNvSpPr/>
          <p:nvPr/>
        </p:nvSpPr>
        <p:spPr>
          <a:xfrm>
            <a:off x="679827" y="2217986"/>
            <a:ext cx="2395767" cy="141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2019</a:t>
            </a: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functional level</a:t>
            </a:r>
            <a:endParaRPr lang="en-US" sz="720"/>
          </a:p>
        </p:txBody>
      </p:sp>
      <p:sp>
        <p:nvSpPr>
          <p:cNvPr id="14" name="Text 11"/>
          <p:cNvSpPr/>
          <p:nvPr/>
        </p:nvSpPr>
        <p:spPr>
          <a:xfrm>
            <a:off x="679827" y="2430512"/>
            <a:ext cx="2395767" cy="141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 from </a:t>
            </a:r>
            <a:r>
              <a:rPr lang="en-US" sz="72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HQ</a:t>
            </a:r>
            <a:endParaRPr lang="en-US" sz="720"/>
          </a:p>
        </p:txBody>
      </p:sp>
      <p:sp>
        <p:nvSpPr>
          <p:cNvPr id="15" name="Text 12"/>
          <p:cNvSpPr/>
          <p:nvPr/>
        </p:nvSpPr>
        <p:spPr>
          <a:xfrm>
            <a:off x="679827" y="2643039"/>
            <a:ext cx="2395767" cy="141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convention across all sites</a:t>
            </a:r>
            <a:endParaRPr lang="en-US" sz="720"/>
          </a:p>
        </p:txBody>
      </p:sp>
      <p:sp>
        <p:nvSpPr>
          <p:cNvPr id="16" name="Text 13"/>
          <p:cNvSpPr/>
          <p:nvPr/>
        </p:nvSpPr>
        <p:spPr>
          <a:xfrm>
            <a:off x="3224064" y="1023938"/>
            <a:ext cx="2695873" cy="2536924"/>
          </a:xfrm>
          <a:prstGeom prst="roundRect">
            <a:avLst>
              <a:gd name="adj" fmla="val 3955"/>
            </a:avLst>
          </a:prstGeom>
          <a:solidFill>
            <a:srgbClr val="162032"/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18880" y="124807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2195" y="1341388"/>
            <a:ext cx="185291" cy="18529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18880" y="1748284"/>
            <a:ext cx="253686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960" kern="0" spc="2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Domain Controllers</a:t>
            </a:r>
            <a:endParaRPr lang="en-US" sz="960"/>
          </a:p>
        </p:txBody>
      </p:sp>
      <p:sp>
        <p:nvSpPr>
          <p:cNvPr id="20" name="Text 16"/>
          <p:cNvSpPr/>
          <p:nvPr/>
        </p:nvSpPr>
        <p:spPr>
          <a:xfrm>
            <a:off x="3547150" y="2005459"/>
            <a:ext cx="2221530" cy="29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DC</a:t>
            </a: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deployed at each of the </a:t>
            </a:r>
            <a:r>
              <a:rPr lang="en-US" sz="7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locations</a:t>
            </a: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 DCs total)</a:t>
            </a:r>
            <a:endParaRPr lang="en-US" sz="720"/>
          </a:p>
        </p:txBody>
      </p:sp>
      <p:sp>
        <p:nvSpPr>
          <p:cNvPr id="21" name="Text 17"/>
          <p:cNvSpPr/>
          <p:nvPr/>
        </p:nvSpPr>
        <p:spPr>
          <a:xfrm>
            <a:off x="3547150" y="2359521"/>
            <a:ext cx="2395767" cy="141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 DC01</a:t>
            </a: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all </a:t>
            </a:r>
            <a:r>
              <a:rPr lang="en-US" sz="7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FSMO roles</a:t>
            </a:r>
            <a:endParaRPr lang="en-US" sz="720"/>
          </a:p>
        </p:txBody>
      </p:sp>
      <p:sp>
        <p:nvSpPr>
          <p:cNvPr id="22" name="Text 18"/>
          <p:cNvSpPr/>
          <p:nvPr/>
        </p:nvSpPr>
        <p:spPr>
          <a:xfrm>
            <a:off x="3547150" y="2572048"/>
            <a:ext cx="2221530" cy="29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Sites &amp; Services configured for inter-site replication</a:t>
            </a:r>
            <a:endParaRPr lang="en-US" sz="720"/>
          </a:p>
        </p:txBody>
      </p:sp>
      <p:sp>
        <p:nvSpPr>
          <p:cNvPr id="23" name="Text 19"/>
          <p:cNvSpPr/>
          <p:nvPr/>
        </p:nvSpPr>
        <p:spPr>
          <a:xfrm>
            <a:off x="3547150" y="2926110"/>
            <a:ext cx="2221530" cy="29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Replication: </a:t>
            </a:r>
            <a:r>
              <a:rPr lang="en-US" sz="72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sites, </a:t>
            </a:r>
            <a:r>
              <a:rPr lang="en-US" sz="72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sites</a:t>
            </a:r>
            <a:endParaRPr lang="en-US" sz="720"/>
          </a:p>
        </p:txBody>
      </p:sp>
      <p:sp>
        <p:nvSpPr>
          <p:cNvPr id="24" name="Text 20"/>
          <p:cNvSpPr/>
          <p:nvPr/>
        </p:nvSpPr>
        <p:spPr>
          <a:xfrm>
            <a:off x="6091386" y="1023938"/>
            <a:ext cx="2695873" cy="2536924"/>
          </a:xfrm>
          <a:prstGeom prst="roundRect">
            <a:avLst>
              <a:gd name="adj" fmla="val 3955"/>
            </a:avLst>
          </a:prstGeom>
          <a:solidFill>
            <a:srgbClr val="162032"/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286202" y="124807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9518" y="1341388"/>
            <a:ext cx="185291" cy="18529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86202" y="1748284"/>
            <a:ext cx="253686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960" kern="0" spc="2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Site Topology</a:t>
            </a:r>
            <a:endParaRPr lang="en-US" sz="960"/>
          </a:p>
        </p:txBody>
      </p:sp>
      <p:sp>
        <p:nvSpPr>
          <p:cNvPr id="28" name="Text 23"/>
          <p:cNvSpPr/>
          <p:nvPr/>
        </p:nvSpPr>
        <p:spPr>
          <a:xfrm>
            <a:off x="6414473" y="2005459"/>
            <a:ext cx="2221530" cy="29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Sites: </a:t>
            </a:r>
            <a:r>
              <a:rPr lang="en-US" sz="7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Dallas, Chicago, Milwaukee, Atlanta, San Francisco, Austin, Seattle</a:t>
            </a:r>
            <a:endParaRPr lang="en-US" sz="720"/>
          </a:p>
        </p:txBody>
      </p:sp>
      <p:sp>
        <p:nvSpPr>
          <p:cNvPr id="29" name="Text 24"/>
          <p:cNvSpPr/>
          <p:nvPr/>
        </p:nvSpPr>
        <p:spPr>
          <a:xfrm>
            <a:off x="6414473" y="2359521"/>
            <a:ext cx="2221530" cy="29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Subnet-to-site mappings ensure clients authenticate to </a:t>
            </a:r>
            <a:r>
              <a:rPr lang="en-US" sz="72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DC</a:t>
            </a:r>
            <a:endParaRPr lang="en-US" sz="720"/>
          </a:p>
        </p:txBody>
      </p:sp>
      <p:sp>
        <p:nvSpPr>
          <p:cNvPr id="30" name="Text 25"/>
          <p:cNvSpPr/>
          <p:nvPr/>
        </p:nvSpPr>
        <p:spPr>
          <a:xfrm>
            <a:off x="6414473" y="2713583"/>
            <a:ext cx="2221530" cy="29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links configured with cost values to optimize replication traffic</a:t>
            </a:r>
            <a:endParaRPr lang="en-US" sz="720"/>
          </a:p>
        </p:txBody>
      </p:sp>
      <p:sp>
        <p:nvSpPr>
          <p:cNvPr id="31" name="Text 26"/>
          <p:cNvSpPr/>
          <p:nvPr/>
        </p:nvSpPr>
        <p:spPr>
          <a:xfrm>
            <a:off x="6414473" y="3067645"/>
            <a:ext cx="2221530" cy="29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6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DC runs </a:t>
            </a:r>
            <a:r>
              <a:rPr lang="en-US" sz="72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 role</a:t>
            </a: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local name resolution</a:t>
            </a:r>
            <a:endParaRPr lang="en-US" sz="720"/>
          </a:p>
        </p:txBody>
      </p:sp>
      <p:sp>
        <p:nvSpPr>
          <p:cNvPr id="32" name="Text 27"/>
          <p:cNvSpPr/>
          <p:nvPr/>
        </p:nvSpPr>
        <p:spPr>
          <a:xfrm>
            <a:off x="0" y="4871740"/>
            <a:ext cx="9144000" cy="271760"/>
          </a:xfrm>
          <a:prstGeom prst="rect">
            <a:avLst/>
          </a:prstGeom>
          <a:solidFill>
            <a:srgbClr val="00B4D8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0" y="4871740"/>
            <a:ext cx="9144000" cy="9525"/>
          </a:xfrm>
          <a:prstGeom prst="rect">
            <a:avLst/>
          </a:prstGeom>
          <a:solidFill>
            <a:srgbClr val="00B4D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2252067" y="4969520"/>
            <a:ext cx="44807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kern="0" spc="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620"/>
          </a:p>
        </p:txBody>
      </p:sp>
      <p:sp>
        <p:nvSpPr>
          <p:cNvPr id="35" name="Text 30"/>
          <p:cNvSpPr/>
          <p:nvPr/>
        </p:nvSpPr>
        <p:spPr>
          <a:xfrm>
            <a:off x="2159496" y="4994672"/>
            <a:ext cx="35421" cy="35421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2716560" y="4969520"/>
            <a:ext cx="134570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LETSGETSTARTED.LOCAL</a:t>
            </a:r>
            <a:endParaRPr lang="en-US" sz="620"/>
          </a:p>
        </p:txBody>
      </p:sp>
      <p:sp>
        <p:nvSpPr>
          <p:cNvPr id="37" name="Text 32"/>
          <p:cNvSpPr/>
          <p:nvPr/>
        </p:nvSpPr>
        <p:spPr>
          <a:xfrm>
            <a:off x="4290268" y="4969520"/>
            <a:ext cx="25129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kern="0" spc="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DCS:</a:t>
            </a:r>
            <a:endParaRPr lang="en-US" sz="620"/>
          </a:p>
        </p:txBody>
      </p:sp>
      <p:sp>
        <p:nvSpPr>
          <p:cNvPr id="38" name="Text 33"/>
          <p:cNvSpPr/>
          <p:nvPr/>
        </p:nvSpPr>
        <p:spPr>
          <a:xfrm>
            <a:off x="4197697" y="4994672"/>
            <a:ext cx="35421" cy="35421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4575870" y="4969520"/>
            <a:ext cx="5926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20"/>
          </a:p>
        </p:txBody>
      </p:sp>
      <p:sp>
        <p:nvSpPr>
          <p:cNvPr id="40" name="Text 35"/>
          <p:cNvSpPr/>
          <p:nvPr/>
        </p:nvSpPr>
        <p:spPr>
          <a:xfrm>
            <a:off x="4980087" y="4969520"/>
            <a:ext cx="34101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kern="0" spc="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SITES:</a:t>
            </a:r>
            <a:endParaRPr lang="en-US" sz="620"/>
          </a:p>
        </p:txBody>
      </p:sp>
      <p:sp>
        <p:nvSpPr>
          <p:cNvPr id="41" name="Text 36"/>
          <p:cNvSpPr/>
          <p:nvPr/>
        </p:nvSpPr>
        <p:spPr>
          <a:xfrm>
            <a:off x="4887516" y="4994672"/>
            <a:ext cx="35421" cy="35421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5347246" y="4969520"/>
            <a:ext cx="5926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20"/>
          </a:p>
        </p:txBody>
      </p:sp>
      <p:sp>
        <p:nvSpPr>
          <p:cNvPr id="43" name="Text 38"/>
          <p:cNvSpPr/>
          <p:nvPr/>
        </p:nvSpPr>
        <p:spPr>
          <a:xfrm>
            <a:off x="5751463" y="4969520"/>
            <a:ext cx="105626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kern="0" spc="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LEVEL:</a:t>
            </a:r>
            <a:endParaRPr lang="en-US" sz="620"/>
          </a:p>
        </p:txBody>
      </p:sp>
      <p:sp>
        <p:nvSpPr>
          <p:cNvPr id="44" name="Text 39"/>
          <p:cNvSpPr/>
          <p:nvPr/>
        </p:nvSpPr>
        <p:spPr>
          <a:xfrm>
            <a:off x="5658892" y="4994672"/>
            <a:ext cx="35421" cy="35421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6768852" y="4969520"/>
            <a:ext cx="23705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620"/>
          </a:p>
        </p:txBody>
      </p:sp>
      <p:sp>
        <p:nvSpPr>
          <p:cNvPr id="46" name="Text 41"/>
          <p:cNvSpPr/>
          <p:nvPr/>
        </p:nvSpPr>
        <p:spPr>
          <a:xfrm>
            <a:off x="580896" y="1033462"/>
            <a:ext cx="2247605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4D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2471586" y="747713"/>
            <a:ext cx="857250" cy="857250"/>
          </a:xfrm>
          <a:prstGeom prst="rect">
            <a:avLst/>
          </a:prstGeom>
          <a:gradFill rotWithShape="1">
            <a:gsLst>
              <a:gs pos="0">
                <a:srgbClr val="00B4D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551557" y="2054989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551557" y="2267516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0" name="Text 45"/>
          <p:cNvSpPr/>
          <p:nvPr/>
        </p:nvSpPr>
        <p:spPr>
          <a:xfrm>
            <a:off x="551557" y="2480042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551557" y="2692569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3448218" y="1033462"/>
            <a:ext cx="2247605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4D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5338909" y="747713"/>
            <a:ext cx="857250" cy="857250"/>
          </a:xfrm>
          <a:prstGeom prst="rect">
            <a:avLst/>
          </a:prstGeom>
          <a:gradFill rotWithShape="1">
            <a:gsLst>
              <a:gs pos="0">
                <a:srgbClr val="00B4D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3418880" y="2054989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3418880" y="2409051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6" name="Text 51"/>
          <p:cNvSpPr/>
          <p:nvPr/>
        </p:nvSpPr>
        <p:spPr>
          <a:xfrm>
            <a:off x="3418880" y="2621578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3418880" y="2975640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8" name="Text 53"/>
          <p:cNvSpPr/>
          <p:nvPr/>
        </p:nvSpPr>
        <p:spPr>
          <a:xfrm>
            <a:off x="6315541" y="1033462"/>
            <a:ext cx="2247605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4D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8206232" y="747713"/>
            <a:ext cx="857250" cy="857250"/>
          </a:xfrm>
          <a:prstGeom prst="rect">
            <a:avLst/>
          </a:prstGeom>
          <a:gradFill rotWithShape="1">
            <a:gsLst>
              <a:gs pos="0">
                <a:srgbClr val="00B4D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0" name="Text 55"/>
          <p:cNvSpPr/>
          <p:nvPr/>
        </p:nvSpPr>
        <p:spPr>
          <a:xfrm>
            <a:off x="6286202" y="2054989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6286202" y="2409051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2" name="Text 57"/>
          <p:cNvSpPr/>
          <p:nvPr/>
        </p:nvSpPr>
        <p:spPr>
          <a:xfrm>
            <a:off x="6286202" y="2763113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3" name="Text 58"/>
          <p:cNvSpPr/>
          <p:nvPr/>
        </p:nvSpPr>
        <p:spPr>
          <a:xfrm>
            <a:off x="6286202" y="3117175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220027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7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680"/>
          </a:p>
        </p:txBody>
      </p:sp>
      <p:sp>
        <p:nvSpPr>
          <p:cNvPr id="3" name="Text 1"/>
          <p:cNvSpPr/>
          <p:nvPr/>
        </p:nvSpPr>
        <p:spPr>
          <a:xfrm>
            <a:off x="400050" y="501551"/>
            <a:ext cx="2040255" cy="93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Organizational Units, Users &amp; Groups</a:t>
            </a:r>
            <a:endParaRPr lang="en-US" sz="2030"/>
          </a:p>
        </p:txBody>
      </p:sp>
      <p:sp>
        <p:nvSpPr>
          <p:cNvPr id="4" name="Text 2"/>
          <p:cNvSpPr/>
          <p:nvPr/>
        </p:nvSpPr>
        <p:spPr>
          <a:xfrm>
            <a:off x="400050" y="1433661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0050" y="1569541"/>
            <a:ext cx="2040255" cy="868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spcBef>
                <a:spcPts val="900"/>
              </a:spcBef>
              <a:buNone/>
            </a:pPr>
            <a:r>
              <a:rPr lang="en-US" sz="800">
                <a:solidFill>
                  <a:srgbClr val="8899B0"/>
                </a:solidFill>
                <a:latin typeface="Calibri"/>
                <a:ea typeface="Calibri"/>
                <a:cs typeface="Calibri"/>
              </a:rPr>
              <a:t>The hierarchical OU structure mirror's physical locations, with department-based sub-OUs, dedicated computer containers, and security groups for granular access control.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alphaModFix amt="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050" y="3992910"/>
            <a:ext cx="1071563" cy="7505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86050" y="788640"/>
            <a:ext cx="6057900" cy="487561"/>
          </a:xfrm>
          <a:prstGeom prst="roundRect">
            <a:avLst>
              <a:gd name="adj" fmla="val 14587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86050" y="788640"/>
            <a:ext cx="19050" cy="487561"/>
          </a:xfrm>
          <a:custGeom>
            <a:avLst/>
            <a:gdLst/>
            <a:ahLst/>
            <a:cxnLst/>
            <a:rect l="l" t="t" r="r" b="b"/>
            <a:pathLst>
              <a:path w="19050" h="48756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64884"/>
                </a:lnTo>
                <a:lnTo>
                  <a:pt x="16669" y="462191"/>
                </a:lnTo>
                <a:lnTo>
                  <a:pt x="14288" y="459197"/>
                </a:lnTo>
                <a:lnTo>
                  <a:pt x="11906" y="455834"/>
                </a:lnTo>
                <a:lnTo>
                  <a:pt x="9525" y="451995"/>
                </a:lnTo>
                <a:lnTo>
                  <a:pt x="7144" y="447507"/>
                </a:lnTo>
                <a:lnTo>
                  <a:pt x="4763" y="442029"/>
                </a:lnTo>
                <a:lnTo>
                  <a:pt x="2381" y="434690"/>
                </a:lnTo>
                <a:lnTo>
                  <a:pt x="0" y="416441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833241" y="87496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4407" y="966127"/>
            <a:ext cx="132588" cy="132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62461" y="874961"/>
            <a:ext cx="584186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Structure by Location</a:t>
            </a:r>
            <a:endParaRPr lang="en-US" sz="960"/>
          </a:p>
        </p:txBody>
      </p:sp>
      <p:sp>
        <p:nvSpPr>
          <p:cNvPr id="12" name="Text 8"/>
          <p:cNvSpPr/>
          <p:nvPr/>
        </p:nvSpPr>
        <p:spPr>
          <a:xfrm>
            <a:off x="3262461" y="1041053"/>
            <a:ext cx="5841861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OUs: OU=Dallas, OU=Chicago, OU=Milwaukee, OU=Atlanta, OU=SanFrancisco, OU=Austin, OU=Seattle</a:t>
            </a:r>
            <a:endParaRPr lang="en-US" sz="820"/>
          </a:p>
        </p:txBody>
      </p:sp>
      <p:sp>
        <p:nvSpPr>
          <p:cNvPr id="13" name="Text 9"/>
          <p:cNvSpPr/>
          <p:nvPr/>
        </p:nvSpPr>
        <p:spPr>
          <a:xfrm>
            <a:off x="2686050" y="1347192"/>
            <a:ext cx="6057900" cy="630436"/>
          </a:xfrm>
          <a:prstGeom prst="roundRect">
            <a:avLst>
              <a:gd name="adj" fmla="val 11281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686050" y="1347192"/>
            <a:ext cx="19050" cy="630436"/>
          </a:xfrm>
          <a:custGeom>
            <a:avLst/>
            <a:gdLst/>
            <a:ahLst/>
            <a:cxnLst/>
            <a:rect l="l" t="t" r="r" b="b"/>
            <a:pathLst>
              <a:path w="19050" h="630436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07759"/>
                </a:lnTo>
                <a:lnTo>
                  <a:pt x="16669" y="605066"/>
                </a:lnTo>
                <a:lnTo>
                  <a:pt x="14288" y="602072"/>
                </a:lnTo>
                <a:lnTo>
                  <a:pt x="11906" y="598709"/>
                </a:lnTo>
                <a:lnTo>
                  <a:pt x="9525" y="594870"/>
                </a:lnTo>
                <a:lnTo>
                  <a:pt x="7144" y="590382"/>
                </a:lnTo>
                <a:lnTo>
                  <a:pt x="4763" y="584904"/>
                </a:lnTo>
                <a:lnTo>
                  <a:pt x="2381" y="577565"/>
                </a:lnTo>
                <a:lnTo>
                  <a:pt x="0" y="559316"/>
                </a:lnTo>
                <a:close/>
              </a:path>
            </a:pathLst>
          </a:custGeom>
          <a:solidFill>
            <a:srgbClr val="0090B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833241" y="143351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90B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4407" y="1524679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62461" y="1433513"/>
            <a:ext cx="588868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Sub-OUs by Department</a:t>
            </a:r>
            <a:endParaRPr lang="en-US" sz="960"/>
          </a:p>
        </p:txBody>
      </p:sp>
      <p:sp>
        <p:nvSpPr>
          <p:cNvPr id="18" name="Text 13"/>
          <p:cNvSpPr/>
          <p:nvPr/>
        </p:nvSpPr>
        <p:spPr>
          <a:xfrm>
            <a:off x="3262461" y="1599605"/>
            <a:ext cx="5460415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Executive, Sales, CustomerService, Shipping, Receiving, Distribution, DataCenter, IT, Finance, HR (varies by site function)</a:t>
            </a:r>
            <a:endParaRPr lang="en-US" sz="820"/>
          </a:p>
        </p:txBody>
      </p:sp>
      <p:sp>
        <p:nvSpPr>
          <p:cNvPr id="19" name="Text 14"/>
          <p:cNvSpPr/>
          <p:nvPr/>
        </p:nvSpPr>
        <p:spPr>
          <a:xfrm>
            <a:off x="2686050" y="2048619"/>
            <a:ext cx="6057900" cy="487561"/>
          </a:xfrm>
          <a:prstGeom prst="roundRect">
            <a:avLst>
              <a:gd name="adj" fmla="val 14587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2686050" y="2048619"/>
            <a:ext cx="19050" cy="487561"/>
          </a:xfrm>
          <a:custGeom>
            <a:avLst/>
            <a:gdLst/>
            <a:ahLst/>
            <a:cxnLst/>
            <a:rect l="l" t="t" r="r" b="b"/>
            <a:pathLst>
              <a:path w="19050" h="48756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64884"/>
                </a:lnTo>
                <a:lnTo>
                  <a:pt x="16669" y="462191"/>
                </a:lnTo>
                <a:lnTo>
                  <a:pt x="14288" y="459197"/>
                </a:lnTo>
                <a:lnTo>
                  <a:pt x="11906" y="455834"/>
                </a:lnTo>
                <a:lnTo>
                  <a:pt x="9525" y="451995"/>
                </a:lnTo>
                <a:lnTo>
                  <a:pt x="7144" y="447507"/>
                </a:lnTo>
                <a:lnTo>
                  <a:pt x="4763" y="442029"/>
                </a:lnTo>
                <a:lnTo>
                  <a:pt x="2381" y="434690"/>
                </a:lnTo>
                <a:lnTo>
                  <a:pt x="0" y="416441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2833241" y="2134939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4407" y="2226106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62461" y="2134939"/>
            <a:ext cx="543618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&amp; Server OUs</a:t>
            </a:r>
            <a:endParaRPr lang="en-US" sz="960"/>
          </a:p>
        </p:txBody>
      </p:sp>
      <p:sp>
        <p:nvSpPr>
          <p:cNvPr id="24" name="Text 18"/>
          <p:cNvSpPr/>
          <p:nvPr/>
        </p:nvSpPr>
        <p:spPr>
          <a:xfrm>
            <a:off x="3262461" y="2301032"/>
            <a:ext cx="5436185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OUs for Workstations, Servers, and Printers under each location OU for targeted GPO application</a:t>
            </a:r>
            <a:endParaRPr lang="en-US" sz="820"/>
          </a:p>
        </p:txBody>
      </p:sp>
      <p:sp>
        <p:nvSpPr>
          <p:cNvPr id="25" name="Text 19"/>
          <p:cNvSpPr/>
          <p:nvPr/>
        </p:nvSpPr>
        <p:spPr>
          <a:xfrm>
            <a:off x="2686050" y="2607171"/>
            <a:ext cx="6057900" cy="487561"/>
          </a:xfrm>
          <a:prstGeom prst="roundRect">
            <a:avLst>
              <a:gd name="adj" fmla="val 14587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2686050" y="2607171"/>
            <a:ext cx="19050" cy="487561"/>
          </a:xfrm>
          <a:custGeom>
            <a:avLst/>
            <a:gdLst/>
            <a:ahLst/>
            <a:cxnLst/>
            <a:rect l="l" t="t" r="r" b="b"/>
            <a:pathLst>
              <a:path w="19050" h="48756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64884"/>
                </a:lnTo>
                <a:lnTo>
                  <a:pt x="16669" y="462191"/>
                </a:lnTo>
                <a:lnTo>
                  <a:pt x="14288" y="459197"/>
                </a:lnTo>
                <a:lnTo>
                  <a:pt x="11906" y="455834"/>
                </a:lnTo>
                <a:lnTo>
                  <a:pt x="9525" y="451995"/>
                </a:lnTo>
                <a:lnTo>
                  <a:pt x="7144" y="447507"/>
                </a:lnTo>
                <a:lnTo>
                  <a:pt x="4763" y="442029"/>
                </a:lnTo>
                <a:lnTo>
                  <a:pt x="2381" y="434690"/>
                </a:lnTo>
                <a:lnTo>
                  <a:pt x="0" y="416441"/>
                </a:lnTo>
                <a:close/>
              </a:path>
            </a:pathLst>
          </a:custGeom>
          <a:solidFill>
            <a:srgbClr val="0090B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2833241" y="269349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90B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4407" y="2784658"/>
            <a:ext cx="132588" cy="132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262461" y="2693491"/>
            <a:ext cx="537528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960"/>
          </a:p>
        </p:txBody>
      </p:sp>
      <p:sp>
        <p:nvSpPr>
          <p:cNvPr id="30" name="Text 23"/>
          <p:cNvSpPr/>
          <p:nvPr/>
        </p:nvSpPr>
        <p:spPr>
          <a:xfrm>
            <a:off x="3262461" y="2859584"/>
            <a:ext cx="5375285" cy="145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unique user accounts created across all locations, placed in appropriate location and department OUs</a:t>
            </a:r>
            <a:endParaRPr lang="en-US" sz="820"/>
          </a:p>
        </p:txBody>
      </p:sp>
      <p:sp>
        <p:nvSpPr>
          <p:cNvPr id="31" name="Text 24"/>
          <p:cNvSpPr/>
          <p:nvPr/>
        </p:nvSpPr>
        <p:spPr>
          <a:xfrm>
            <a:off x="2686050" y="3165723"/>
            <a:ext cx="6057900" cy="630436"/>
          </a:xfrm>
          <a:prstGeom prst="roundRect">
            <a:avLst>
              <a:gd name="adj" fmla="val 11281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2686050" y="3165723"/>
            <a:ext cx="19050" cy="630436"/>
          </a:xfrm>
          <a:custGeom>
            <a:avLst/>
            <a:gdLst/>
            <a:ahLst/>
            <a:cxnLst/>
            <a:rect l="l" t="t" r="r" b="b"/>
            <a:pathLst>
              <a:path w="19050" h="630436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07759"/>
                </a:lnTo>
                <a:lnTo>
                  <a:pt x="16669" y="605066"/>
                </a:lnTo>
                <a:lnTo>
                  <a:pt x="14288" y="602072"/>
                </a:lnTo>
                <a:lnTo>
                  <a:pt x="11906" y="598709"/>
                </a:lnTo>
                <a:lnTo>
                  <a:pt x="9525" y="594870"/>
                </a:lnTo>
                <a:lnTo>
                  <a:pt x="7144" y="590382"/>
                </a:lnTo>
                <a:lnTo>
                  <a:pt x="4763" y="584904"/>
                </a:lnTo>
                <a:lnTo>
                  <a:pt x="2381" y="577565"/>
                </a:lnTo>
                <a:lnTo>
                  <a:pt x="0" y="559316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2833241" y="325204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4407" y="3343210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262461" y="3252043"/>
            <a:ext cx="588868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960"/>
          </a:p>
        </p:txBody>
      </p:sp>
      <p:sp>
        <p:nvSpPr>
          <p:cNvPr id="36" name="Text 28"/>
          <p:cNvSpPr/>
          <p:nvPr/>
        </p:nvSpPr>
        <p:spPr>
          <a:xfrm>
            <a:off x="3262461" y="3418136"/>
            <a:ext cx="5460415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Department-based security groups (e.g., GRP_Dallas_Executive, GRP_Chicago_Shipping) for resource access and NTFS permissions</a:t>
            </a:r>
            <a:endParaRPr lang="en-US" sz="82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226" y="257770"/>
            <a:ext cx="8865549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35"/>
              </a:lnSpc>
              <a:buNone/>
            </a:pPr>
            <a:r>
              <a:rPr lang="en-US" sz="1690" kern="0" spc="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DHCP, DNS </a:t>
            </a:r>
            <a:r>
              <a:rPr lang="en-US" sz="1690" kern="0" spc="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</a:t>
            </a:r>
            <a:r>
              <a:rPr lang="en-US" sz="1690" kern="0" spc="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Network Services</a:t>
            </a:r>
            <a:endParaRPr lang="en-US" sz="1690"/>
          </a:p>
        </p:txBody>
      </p:sp>
      <p:sp>
        <p:nvSpPr>
          <p:cNvPr id="3" name="Text 1"/>
          <p:cNvSpPr/>
          <p:nvPr/>
        </p:nvSpPr>
        <p:spPr>
          <a:xfrm>
            <a:off x="4286250" y="666006"/>
            <a:ext cx="5715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B4D8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0" y="1544836"/>
            <a:ext cx="7590" cy="324996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00B4D8">
                  <a:alpha val="25000"/>
                </a:srgbClr>
              </a:gs>
              <a:gs pos="85000">
                <a:srgbClr val="00B4D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2070" y="845046"/>
            <a:ext cx="4071045" cy="4013150"/>
          </a:xfrm>
          <a:prstGeom prst="roundRect">
            <a:avLst>
              <a:gd name="adj" fmla="val 2848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72070" y="845046"/>
            <a:ext cx="4071045" cy="19050"/>
          </a:xfrm>
          <a:custGeom>
            <a:avLst/>
            <a:gdLst/>
            <a:ahLst/>
            <a:cxnLst/>
            <a:rect l="l" t="t" r="r" b="b"/>
            <a:pathLst>
              <a:path w="4071045" h="19050">
                <a:moveTo>
                  <a:pt x="114300" y="0"/>
                </a:moveTo>
                <a:lnTo>
                  <a:pt x="91090" y="2381"/>
                </a:lnTo>
                <a:lnTo>
                  <a:pt x="81650" y="4763"/>
                </a:lnTo>
                <a:lnTo>
                  <a:pt x="74525" y="7144"/>
                </a:lnTo>
                <a:lnTo>
                  <a:pt x="68620" y="9525"/>
                </a:lnTo>
                <a:lnTo>
                  <a:pt x="63506" y="11906"/>
                </a:lnTo>
                <a:lnTo>
                  <a:pt x="58965" y="14288"/>
                </a:lnTo>
                <a:lnTo>
                  <a:pt x="54864" y="16669"/>
                </a:lnTo>
                <a:lnTo>
                  <a:pt x="51118" y="19050"/>
                </a:lnTo>
                <a:lnTo>
                  <a:pt x="4019926" y="19050"/>
                </a:lnTo>
                <a:lnTo>
                  <a:pt x="4016180" y="16669"/>
                </a:lnTo>
                <a:lnTo>
                  <a:pt x="4012080" y="14288"/>
                </a:lnTo>
                <a:lnTo>
                  <a:pt x="4007538" y="11906"/>
                </a:lnTo>
                <a:lnTo>
                  <a:pt x="4002425" y="9525"/>
                </a:lnTo>
                <a:lnTo>
                  <a:pt x="3996519" y="7144"/>
                </a:lnTo>
                <a:lnTo>
                  <a:pt x="3989395" y="4763"/>
                </a:lnTo>
                <a:lnTo>
                  <a:pt x="3979954" y="2381"/>
                </a:lnTo>
                <a:lnTo>
                  <a:pt x="3956745" y="0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886" y="1064716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00B4D8">
              <a:alpha val="1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844" y="1152674"/>
            <a:ext cx="139005" cy="1390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8127" y="1114574"/>
            <a:ext cx="1425431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DHCP Configuration</a:t>
            </a:r>
            <a:endParaRPr lang="en-US" sz="1130"/>
          </a:p>
        </p:txBody>
      </p:sp>
      <p:sp>
        <p:nvSpPr>
          <p:cNvPr id="10" name="Text 7"/>
          <p:cNvSpPr/>
          <p:nvPr/>
        </p:nvSpPr>
        <p:spPr>
          <a:xfrm>
            <a:off x="566886" y="1530697"/>
            <a:ext cx="185291" cy="2038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/>
          </a:p>
        </p:txBody>
      </p:sp>
      <p:sp>
        <p:nvSpPr>
          <p:cNvPr id="11" name="Text 8"/>
          <p:cNvSpPr/>
          <p:nvPr/>
        </p:nvSpPr>
        <p:spPr>
          <a:xfrm>
            <a:off x="838498" y="1523107"/>
            <a:ext cx="3132936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Server on Every Server</a:t>
            </a:r>
            <a:endParaRPr lang="en-US" sz="760"/>
          </a:p>
        </p:txBody>
      </p:sp>
      <p:sp>
        <p:nvSpPr>
          <p:cNvPr id="12" name="Text 9"/>
          <p:cNvSpPr/>
          <p:nvPr/>
        </p:nvSpPr>
        <p:spPr>
          <a:xfrm>
            <a:off x="838498" y="1651397"/>
            <a:ext cx="3132936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7 locations has DHCP running on its local Domain Controller</a:t>
            </a:r>
            <a:endParaRPr lang="en-US" sz="700"/>
          </a:p>
        </p:txBody>
      </p:sp>
      <p:sp>
        <p:nvSpPr>
          <p:cNvPr id="13" name="Text 10"/>
          <p:cNvSpPr/>
          <p:nvPr/>
        </p:nvSpPr>
        <p:spPr>
          <a:xfrm>
            <a:off x="566886" y="1871365"/>
            <a:ext cx="185291" cy="2038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/>
          </a:p>
        </p:txBody>
      </p:sp>
      <p:sp>
        <p:nvSpPr>
          <p:cNvPr id="14" name="Text 11"/>
          <p:cNvSpPr/>
          <p:nvPr/>
        </p:nvSpPr>
        <p:spPr>
          <a:xfrm>
            <a:off x="838498" y="1863775"/>
            <a:ext cx="3750781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per VLAN</a:t>
            </a:r>
            <a:endParaRPr lang="en-US" sz="760"/>
          </a:p>
        </p:txBody>
      </p:sp>
      <p:sp>
        <p:nvSpPr>
          <p:cNvPr id="15" name="Text 12"/>
          <p:cNvSpPr/>
          <p:nvPr/>
        </p:nvSpPr>
        <p:spPr>
          <a:xfrm>
            <a:off x="838498" y="1992064"/>
            <a:ext cx="3477997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DHCP scopes per site (one per VLAN) with appropriate address ranges within the /24 subnets</a:t>
            </a:r>
            <a:endParaRPr lang="en-US" sz="700"/>
          </a:p>
        </p:txBody>
      </p:sp>
      <p:sp>
        <p:nvSpPr>
          <p:cNvPr id="16" name="Text 13"/>
          <p:cNvSpPr/>
          <p:nvPr/>
        </p:nvSpPr>
        <p:spPr>
          <a:xfrm>
            <a:off x="566886" y="2331839"/>
            <a:ext cx="185291" cy="2038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/>
          </a:p>
        </p:txBody>
      </p:sp>
      <p:sp>
        <p:nvSpPr>
          <p:cNvPr id="17" name="Text 14"/>
          <p:cNvSpPr/>
          <p:nvPr/>
        </p:nvSpPr>
        <p:spPr>
          <a:xfrm>
            <a:off x="838498" y="2324249"/>
            <a:ext cx="3750781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760"/>
          </a:p>
        </p:txBody>
      </p:sp>
      <p:sp>
        <p:nvSpPr>
          <p:cNvPr id="18" name="Text 15"/>
          <p:cNvSpPr/>
          <p:nvPr/>
        </p:nvSpPr>
        <p:spPr>
          <a:xfrm>
            <a:off x="838498" y="2452539"/>
            <a:ext cx="3477997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DHCP reservations for servers, printers, network devices, and management interfaces</a:t>
            </a:r>
            <a:endParaRPr lang="en-US" sz="700"/>
          </a:p>
        </p:txBody>
      </p:sp>
      <p:sp>
        <p:nvSpPr>
          <p:cNvPr id="19" name="Text 16"/>
          <p:cNvSpPr/>
          <p:nvPr/>
        </p:nvSpPr>
        <p:spPr>
          <a:xfrm>
            <a:off x="566886" y="2792313"/>
            <a:ext cx="185291" cy="2038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/>
          </a:p>
        </p:txBody>
      </p:sp>
      <p:sp>
        <p:nvSpPr>
          <p:cNvPr id="20" name="Text 17"/>
          <p:cNvSpPr/>
          <p:nvPr/>
        </p:nvSpPr>
        <p:spPr>
          <a:xfrm>
            <a:off x="838498" y="2784723"/>
            <a:ext cx="3616375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Duration</a:t>
            </a:r>
            <a:endParaRPr lang="en-US" sz="760"/>
          </a:p>
        </p:txBody>
      </p:sp>
      <p:sp>
        <p:nvSpPr>
          <p:cNvPr id="21" name="Text 18"/>
          <p:cNvSpPr/>
          <p:nvPr/>
        </p:nvSpPr>
        <p:spPr>
          <a:xfrm>
            <a:off x="838498" y="2913013"/>
            <a:ext cx="3616375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8-hour lease for Staff/Guest VLANs, 24-hour lease for Servers/Management VLANs</a:t>
            </a:r>
            <a:endParaRPr lang="en-US" sz="700"/>
          </a:p>
        </p:txBody>
      </p:sp>
      <p:sp>
        <p:nvSpPr>
          <p:cNvPr id="22" name="Text 19"/>
          <p:cNvSpPr/>
          <p:nvPr/>
        </p:nvSpPr>
        <p:spPr>
          <a:xfrm>
            <a:off x="566886" y="3132981"/>
            <a:ext cx="185291" cy="20382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/>
          </a:p>
        </p:txBody>
      </p:sp>
      <p:sp>
        <p:nvSpPr>
          <p:cNvPr id="23" name="Text 20"/>
          <p:cNvSpPr/>
          <p:nvPr/>
        </p:nvSpPr>
        <p:spPr>
          <a:xfrm>
            <a:off x="838498" y="3125391"/>
            <a:ext cx="3236074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760"/>
          </a:p>
        </p:txBody>
      </p:sp>
      <p:sp>
        <p:nvSpPr>
          <p:cNvPr id="24" name="Text 21"/>
          <p:cNvSpPr/>
          <p:nvPr/>
        </p:nvSpPr>
        <p:spPr>
          <a:xfrm>
            <a:off x="838498" y="3253680"/>
            <a:ext cx="3236074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failover configured between local DC and Dallas HQ for redundancy</a:t>
            </a:r>
            <a:endParaRPr lang="en-US" sz="700"/>
          </a:p>
        </p:txBody>
      </p:sp>
      <p:sp>
        <p:nvSpPr>
          <p:cNvPr id="25" name="Text 22"/>
          <p:cNvSpPr/>
          <p:nvPr/>
        </p:nvSpPr>
        <p:spPr>
          <a:xfrm>
            <a:off x="4700885" y="845046"/>
            <a:ext cx="4071045" cy="4013150"/>
          </a:xfrm>
          <a:prstGeom prst="roundRect">
            <a:avLst>
              <a:gd name="adj" fmla="val 2848"/>
            </a:avLst>
          </a:prstGeom>
          <a:solidFill>
            <a:srgbClr val="16203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00885" y="845046"/>
            <a:ext cx="9525" cy="4013150"/>
          </a:xfrm>
          <a:custGeom>
            <a:avLst/>
            <a:gdLst/>
            <a:ahLst/>
            <a:cxnLst/>
            <a:rect l="l" t="t" r="r" b="b"/>
            <a:pathLst>
              <a:path w="9525" h="4013150">
                <a:moveTo>
                  <a:pt x="0" y="114300"/>
                </a:moveTo>
                <a:lnTo>
                  <a:pt x="1191" y="97845"/>
                </a:lnTo>
                <a:lnTo>
                  <a:pt x="2381" y="91090"/>
                </a:lnTo>
                <a:lnTo>
                  <a:pt x="3572" y="85949"/>
                </a:lnTo>
                <a:lnTo>
                  <a:pt x="4763" y="81650"/>
                </a:lnTo>
                <a:lnTo>
                  <a:pt x="5953" y="77893"/>
                </a:lnTo>
                <a:lnTo>
                  <a:pt x="7144" y="74525"/>
                </a:lnTo>
                <a:lnTo>
                  <a:pt x="8334" y="71454"/>
                </a:lnTo>
                <a:lnTo>
                  <a:pt x="9525" y="68620"/>
                </a:lnTo>
                <a:lnTo>
                  <a:pt x="9525" y="3944531"/>
                </a:lnTo>
                <a:lnTo>
                  <a:pt x="8334" y="3941696"/>
                </a:lnTo>
                <a:lnTo>
                  <a:pt x="7144" y="3938625"/>
                </a:lnTo>
                <a:lnTo>
                  <a:pt x="5953" y="3935257"/>
                </a:lnTo>
                <a:lnTo>
                  <a:pt x="4763" y="3931500"/>
                </a:lnTo>
                <a:lnTo>
                  <a:pt x="3572" y="3927201"/>
                </a:lnTo>
                <a:lnTo>
                  <a:pt x="2381" y="3922060"/>
                </a:lnTo>
                <a:lnTo>
                  <a:pt x="1191" y="3915305"/>
                </a:lnTo>
                <a:lnTo>
                  <a:pt x="0" y="3898850"/>
                </a:lnTo>
                <a:close/>
              </a:path>
            </a:pathLst>
          </a:custGeom>
          <a:solidFill>
            <a:srgbClr val="00B4D8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762405" y="845046"/>
            <a:ext cx="9525" cy="4013150"/>
          </a:xfrm>
          <a:custGeom>
            <a:avLst/>
            <a:gdLst/>
            <a:ahLst/>
            <a:cxnLst/>
            <a:rect l="l" t="t" r="r" b="b"/>
            <a:pathLst>
              <a:path w="9525" h="4013150">
                <a:moveTo>
                  <a:pt x="0" y="68620"/>
                </a:moveTo>
                <a:lnTo>
                  <a:pt x="1191" y="71454"/>
                </a:lnTo>
                <a:lnTo>
                  <a:pt x="2381" y="74525"/>
                </a:lnTo>
                <a:lnTo>
                  <a:pt x="3572" y="77893"/>
                </a:lnTo>
                <a:lnTo>
                  <a:pt x="4763" y="81650"/>
                </a:lnTo>
                <a:lnTo>
                  <a:pt x="5953" y="85949"/>
                </a:lnTo>
                <a:lnTo>
                  <a:pt x="7144" y="91090"/>
                </a:lnTo>
                <a:lnTo>
                  <a:pt x="8334" y="97845"/>
                </a:lnTo>
                <a:lnTo>
                  <a:pt x="9525" y="114300"/>
                </a:lnTo>
                <a:lnTo>
                  <a:pt x="9525" y="3898850"/>
                </a:lnTo>
                <a:lnTo>
                  <a:pt x="8334" y="3915305"/>
                </a:lnTo>
                <a:lnTo>
                  <a:pt x="7144" y="3922060"/>
                </a:lnTo>
                <a:lnTo>
                  <a:pt x="5953" y="3927201"/>
                </a:lnTo>
                <a:lnTo>
                  <a:pt x="4763" y="3931500"/>
                </a:lnTo>
                <a:lnTo>
                  <a:pt x="3572" y="3935257"/>
                </a:lnTo>
                <a:lnTo>
                  <a:pt x="2381" y="3938625"/>
                </a:lnTo>
                <a:lnTo>
                  <a:pt x="1191" y="3941696"/>
                </a:lnTo>
                <a:lnTo>
                  <a:pt x="0" y="3944531"/>
                </a:lnTo>
                <a:close/>
              </a:path>
            </a:pathLst>
          </a:custGeom>
          <a:solidFill>
            <a:srgbClr val="00B4D8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00885" y="845046"/>
            <a:ext cx="4071045" cy="19050"/>
          </a:xfrm>
          <a:custGeom>
            <a:avLst/>
            <a:gdLst/>
            <a:ahLst/>
            <a:cxnLst/>
            <a:rect l="l" t="t" r="r" b="b"/>
            <a:pathLst>
              <a:path w="4071045" h="19050">
                <a:moveTo>
                  <a:pt x="114300" y="0"/>
                </a:moveTo>
                <a:lnTo>
                  <a:pt x="91090" y="2381"/>
                </a:lnTo>
                <a:lnTo>
                  <a:pt x="81650" y="4763"/>
                </a:lnTo>
                <a:lnTo>
                  <a:pt x="74525" y="7144"/>
                </a:lnTo>
                <a:lnTo>
                  <a:pt x="68620" y="9525"/>
                </a:lnTo>
                <a:lnTo>
                  <a:pt x="63506" y="11906"/>
                </a:lnTo>
                <a:lnTo>
                  <a:pt x="58965" y="14288"/>
                </a:lnTo>
                <a:lnTo>
                  <a:pt x="54864" y="16669"/>
                </a:lnTo>
                <a:lnTo>
                  <a:pt x="51118" y="19050"/>
                </a:lnTo>
                <a:lnTo>
                  <a:pt x="4019926" y="19050"/>
                </a:lnTo>
                <a:lnTo>
                  <a:pt x="4016180" y="16669"/>
                </a:lnTo>
                <a:lnTo>
                  <a:pt x="4012080" y="14288"/>
                </a:lnTo>
                <a:lnTo>
                  <a:pt x="4007538" y="11906"/>
                </a:lnTo>
                <a:lnTo>
                  <a:pt x="4002425" y="9525"/>
                </a:lnTo>
                <a:lnTo>
                  <a:pt x="3996519" y="7144"/>
                </a:lnTo>
                <a:lnTo>
                  <a:pt x="3989395" y="4763"/>
                </a:lnTo>
                <a:lnTo>
                  <a:pt x="3979954" y="2381"/>
                </a:lnTo>
                <a:lnTo>
                  <a:pt x="3956745" y="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95701" y="1064716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38BDF8">
              <a:alpha val="1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3659" y="1152674"/>
            <a:ext cx="139005" cy="13900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96942" y="1114574"/>
            <a:ext cx="1314435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DNS Configuration</a:t>
            </a:r>
            <a:endParaRPr lang="en-US" sz="1130"/>
          </a:p>
        </p:txBody>
      </p:sp>
      <p:sp>
        <p:nvSpPr>
          <p:cNvPr id="32" name="Text 28"/>
          <p:cNvSpPr/>
          <p:nvPr/>
        </p:nvSpPr>
        <p:spPr>
          <a:xfrm>
            <a:off x="4895701" y="1530697"/>
            <a:ext cx="185291" cy="20382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/>
          </a:p>
        </p:txBody>
      </p:sp>
      <p:sp>
        <p:nvSpPr>
          <p:cNvPr id="33" name="Text 29"/>
          <p:cNvSpPr/>
          <p:nvPr/>
        </p:nvSpPr>
        <p:spPr>
          <a:xfrm>
            <a:off x="5167313" y="1523107"/>
            <a:ext cx="3264887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AD-Integrated DNS</a:t>
            </a:r>
            <a:endParaRPr lang="en-US" sz="760"/>
          </a:p>
        </p:txBody>
      </p:sp>
      <p:sp>
        <p:nvSpPr>
          <p:cNvPr id="34" name="Text 30"/>
          <p:cNvSpPr/>
          <p:nvPr/>
        </p:nvSpPr>
        <p:spPr>
          <a:xfrm>
            <a:off x="5167313" y="1651397"/>
            <a:ext cx="3264887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zones stored in Active Directory for secure, replicated name resolution</a:t>
            </a:r>
            <a:endParaRPr lang="en-US" sz="700"/>
          </a:p>
        </p:txBody>
      </p:sp>
      <p:sp>
        <p:nvSpPr>
          <p:cNvPr id="35" name="Text 31"/>
          <p:cNvSpPr/>
          <p:nvPr/>
        </p:nvSpPr>
        <p:spPr>
          <a:xfrm>
            <a:off x="4895701" y="1871365"/>
            <a:ext cx="185291" cy="20382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/>
          </a:p>
        </p:txBody>
      </p:sp>
      <p:sp>
        <p:nvSpPr>
          <p:cNvPr id="36" name="Text 32"/>
          <p:cNvSpPr/>
          <p:nvPr/>
        </p:nvSpPr>
        <p:spPr>
          <a:xfrm>
            <a:off x="5167313" y="1863775"/>
            <a:ext cx="2705323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Lookup Zone</a:t>
            </a:r>
            <a:endParaRPr lang="en-US" sz="760"/>
          </a:p>
        </p:txBody>
      </p:sp>
      <p:sp>
        <p:nvSpPr>
          <p:cNvPr id="37" name="Text 33"/>
          <p:cNvSpPr/>
          <p:nvPr/>
        </p:nvSpPr>
        <p:spPr>
          <a:xfrm>
            <a:off x="5167313" y="1992064"/>
            <a:ext cx="2705323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letsgetstarted.local zone replicated to all DCs across all 7 sites</a:t>
            </a:r>
            <a:endParaRPr lang="en-US" sz="700"/>
          </a:p>
        </p:txBody>
      </p:sp>
      <p:sp>
        <p:nvSpPr>
          <p:cNvPr id="38" name="Text 34"/>
          <p:cNvSpPr/>
          <p:nvPr/>
        </p:nvSpPr>
        <p:spPr>
          <a:xfrm>
            <a:off x="4895701" y="2212032"/>
            <a:ext cx="185291" cy="20382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/>
          </a:p>
        </p:txBody>
      </p:sp>
      <p:sp>
        <p:nvSpPr>
          <p:cNvPr id="39" name="Text 35"/>
          <p:cNvSpPr/>
          <p:nvPr/>
        </p:nvSpPr>
        <p:spPr>
          <a:xfrm>
            <a:off x="5167313" y="2204442"/>
            <a:ext cx="3227234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Lookup Zones</a:t>
            </a:r>
            <a:endParaRPr lang="en-US" sz="760"/>
          </a:p>
        </p:txBody>
      </p:sp>
      <p:sp>
        <p:nvSpPr>
          <p:cNvPr id="40" name="Text 36"/>
          <p:cNvSpPr/>
          <p:nvPr/>
        </p:nvSpPr>
        <p:spPr>
          <a:xfrm>
            <a:off x="5167313" y="2332732"/>
            <a:ext cx="3227234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 records configured for each subnet (10.10.x, 10.20.x through 10.70.x)</a:t>
            </a:r>
            <a:endParaRPr lang="en-US" sz="700"/>
          </a:p>
        </p:txBody>
      </p:sp>
      <p:sp>
        <p:nvSpPr>
          <p:cNvPr id="41" name="Text 37"/>
          <p:cNvSpPr/>
          <p:nvPr/>
        </p:nvSpPr>
        <p:spPr>
          <a:xfrm>
            <a:off x="4895701" y="2552700"/>
            <a:ext cx="185291" cy="20382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/>
          </a:p>
        </p:txBody>
      </p:sp>
      <p:sp>
        <p:nvSpPr>
          <p:cNvPr id="42" name="Text 38"/>
          <p:cNvSpPr/>
          <p:nvPr/>
        </p:nvSpPr>
        <p:spPr>
          <a:xfrm>
            <a:off x="5167313" y="2545110"/>
            <a:ext cx="3743087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Forwarders</a:t>
            </a:r>
            <a:endParaRPr lang="en-US" sz="760"/>
          </a:p>
        </p:txBody>
      </p:sp>
      <p:sp>
        <p:nvSpPr>
          <p:cNvPr id="43" name="Text 39"/>
          <p:cNvSpPr/>
          <p:nvPr/>
        </p:nvSpPr>
        <p:spPr>
          <a:xfrm>
            <a:off x="5167313" y="2673400"/>
            <a:ext cx="3743087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DNS forwarders configured for internet name resolution (e.g., 8.8.8.8, 1.1.1.1)</a:t>
            </a:r>
            <a:endParaRPr lang="en-US" sz="700"/>
          </a:p>
        </p:txBody>
      </p:sp>
      <p:sp>
        <p:nvSpPr>
          <p:cNvPr id="44" name="Text 40"/>
          <p:cNvSpPr/>
          <p:nvPr/>
        </p:nvSpPr>
        <p:spPr>
          <a:xfrm>
            <a:off x="4895701" y="2893368"/>
            <a:ext cx="185291" cy="20382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/>
          </a:p>
        </p:txBody>
      </p:sp>
      <p:sp>
        <p:nvSpPr>
          <p:cNvPr id="45" name="Text 41"/>
          <p:cNvSpPr/>
          <p:nvPr/>
        </p:nvSpPr>
        <p:spPr>
          <a:xfrm>
            <a:off x="5167313" y="2885777"/>
            <a:ext cx="3205460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Scavenging</a:t>
            </a:r>
            <a:endParaRPr lang="en-US" sz="760"/>
          </a:p>
        </p:txBody>
      </p:sp>
      <p:sp>
        <p:nvSpPr>
          <p:cNvPr id="46" name="Text 42"/>
          <p:cNvSpPr/>
          <p:nvPr/>
        </p:nvSpPr>
        <p:spPr>
          <a:xfrm>
            <a:off x="5167313" y="3014067"/>
            <a:ext cx="3205460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aging and scavenging enabled to remove stale records automatically</a:t>
            </a:r>
            <a:endParaRPr lang="en-US" sz="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929108" cy="1929108"/>
          </a:xfrm>
          <a:prstGeom prst="rect">
            <a:avLst/>
          </a:prstGeom>
          <a:gradFill rotWithShape="1">
            <a:gsLst>
              <a:gs pos="0">
                <a:srgbClr val="00B4D8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9575" y="710505"/>
            <a:ext cx="21580" cy="782687"/>
          </a:xfrm>
          <a:custGeom>
            <a:avLst/>
            <a:gdLst/>
            <a:ahLst/>
            <a:cxnLst/>
            <a:rect l="l" t="t" r="r" b="b"/>
            <a:pathLst>
              <a:path w="21580" h="782687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753438"/>
                </a:lnTo>
                <a:lnTo>
                  <a:pt x="18883" y="750224"/>
                </a:lnTo>
                <a:lnTo>
                  <a:pt x="16185" y="746661"/>
                </a:lnTo>
                <a:lnTo>
                  <a:pt x="13488" y="742670"/>
                </a:lnTo>
                <a:lnTo>
                  <a:pt x="10790" y="738127"/>
                </a:lnTo>
                <a:lnTo>
                  <a:pt x="8093" y="732827"/>
                </a:lnTo>
                <a:lnTo>
                  <a:pt x="5395" y="726373"/>
                </a:lnTo>
                <a:lnTo>
                  <a:pt x="2698" y="717743"/>
                </a:lnTo>
                <a:lnTo>
                  <a:pt x="0" y="696327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53260" y="710505"/>
            <a:ext cx="21580" cy="782687"/>
          </a:xfrm>
          <a:custGeom>
            <a:avLst/>
            <a:gdLst/>
            <a:ahLst/>
            <a:cxnLst/>
            <a:rect l="l" t="t" r="r" b="b"/>
            <a:pathLst>
              <a:path w="21580" h="782687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753438"/>
                </a:lnTo>
                <a:lnTo>
                  <a:pt x="18883" y="750224"/>
                </a:lnTo>
                <a:lnTo>
                  <a:pt x="16185" y="746661"/>
                </a:lnTo>
                <a:lnTo>
                  <a:pt x="13488" y="742670"/>
                </a:lnTo>
                <a:lnTo>
                  <a:pt x="10790" y="738127"/>
                </a:lnTo>
                <a:lnTo>
                  <a:pt x="8093" y="732827"/>
                </a:lnTo>
                <a:lnTo>
                  <a:pt x="5395" y="726373"/>
                </a:lnTo>
                <a:lnTo>
                  <a:pt x="2698" y="717743"/>
                </a:lnTo>
                <a:lnTo>
                  <a:pt x="0" y="696327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9575" y="1612553"/>
            <a:ext cx="21580" cy="782687"/>
          </a:xfrm>
          <a:custGeom>
            <a:avLst/>
            <a:gdLst/>
            <a:ahLst/>
            <a:cxnLst/>
            <a:rect l="l" t="t" r="r" b="b"/>
            <a:pathLst>
              <a:path w="21580" h="782687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753438"/>
                </a:lnTo>
                <a:lnTo>
                  <a:pt x="18883" y="750224"/>
                </a:lnTo>
                <a:lnTo>
                  <a:pt x="16185" y="746661"/>
                </a:lnTo>
                <a:lnTo>
                  <a:pt x="13488" y="742670"/>
                </a:lnTo>
                <a:lnTo>
                  <a:pt x="10790" y="738127"/>
                </a:lnTo>
                <a:lnTo>
                  <a:pt x="8093" y="732827"/>
                </a:lnTo>
                <a:lnTo>
                  <a:pt x="5395" y="726373"/>
                </a:lnTo>
                <a:lnTo>
                  <a:pt x="2698" y="717743"/>
                </a:lnTo>
                <a:lnTo>
                  <a:pt x="0" y="696327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53260" y="1612553"/>
            <a:ext cx="21580" cy="782687"/>
          </a:xfrm>
          <a:custGeom>
            <a:avLst/>
            <a:gdLst/>
            <a:ahLst/>
            <a:cxnLst/>
            <a:rect l="l" t="t" r="r" b="b"/>
            <a:pathLst>
              <a:path w="21580" h="782687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753438"/>
                </a:lnTo>
                <a:lnTo>
                  <a:pt x="18883" y="750224"/>
                </a:lnTo>
                <a:lnTo>
                  <a:pt x="16185" y="746661"/>
                </a:lnTo>
                <a:lnTo>
                  <a:pt x="13488" y="742670"/>
                </a:lnTo>
                <a:lnTo>
                  <a:pt x="10790" y="738127"/>
                </a:lnTo>
                <a:lnTo>
                  <a:pt x="8093" y="732827"/>
                </a:lnTo>
                <a:lnTo>
                  <a:pt x="5395" y="726373"/>
                </a:lnTo>
                <a:lnTo>
                  <a:pt x="2698" y="717743"/>
                </a:lnTo>
                <a:lnTo>
                  <a:pt x="0" y="696327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9575" y="2514600"/>
            <a:ext cx="21580" cy="782687"/>
          </a:xfrm>
          <a:custGeom>
            <a:avLst/>
            <a:gdLst/>
            <a:ahLst/>
            <a:cxnLst/>
            <a:rect l="l" t="t" r="r" b="b"/>
            <a:pathLst>
              <a:path w="21580" h="782687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753438"/>
                </a:lnTo>
                <a:lnTo>
                  <a:pt x="18883" y="750224"/>
                </a:lnTo>
                <a:lnTo>
                  <a:pt x="16185" y="746661"/>
                </a:lnTo>
                <a:lnTo>
                  <a:pt x="13488" y="742670"/>
                </a:lnTo>
                <a:lnTo>
                  <a:pt x="10790" y="738127"/>
                </a:lnTo>
                <a:lnTo>
                  <a:pt x="8093" y="732827"/>
                </a:lnTo>
                <a:lnTo>
                  <a:pt x="5395" y="726373"/>
                </a:lnTo>
                <a:lnTo>
                  <a:pt x="2698" y="717743"/>
                </a:lnTo>
                <a:lnTo>
                  <a:pt x="0" y="696327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53260" y="2514600"/>
            <a:ext cx="21580" cy="782687"/>
          </a:xfrm>
          <a:custGeom>
            <a:avLst/>
            <a:gdLst/>
            <a:ahLst/>
            <a:cxnLst/>
            <a:rect l="l" t="t" r="r" b="b"/>
            <a:pathLst>
              <a:path w="21580" h="782687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753438"/>
                </a:lnTo>
                <a:lnTo>
                  <a:pt x="18883" y="750224"/>
                </a:lnTo>
                <a:lnTo>
                  <a:pt x="16185" y="746661"/>
                </a:lnTo>
                <a:lnTo>
                  <a:pt x="13488" y="742670"/>
                </a:lnTo>
                <a:lnTo>
                  <a:pt x="10790" y="738127"/>
                </a:lnTo>
                <a:lnTo>
                  <a:pt x="8093" y="732827"/>
                </a:lnTo>
                <a:lnTo>
                  <a:pt x="5395" y="726373"/>
                </a:lnTo>
                <a:lnTo>
                  <a:pt x="2698" y="717743"/>
                </a:lnTo>
                <a:lnTo>
                  <a:pt x="0" y="696327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0050" y="228600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00B4D8"/>
              </a:gs>
              <a:gs pos="100000">
                <a:srgbClr val="0090B0"/>
              </a:gs>
            </a:gsLst>
            <a:lin ang="2700000" scaled="1"/>
          </a:gradFill>
          <a:ln/>
          <a:effectLst>
            <a:outerShdw blurRad="143510" dist="29210" dir="5400000" algn="bl" rotWithShape="0">
              <a:srgbClr val="00B4D8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785" y="300335"/>
            <a:ext cx="171450" cy="1714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9270" y="252710"/>
            <a:ext cx="327935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-2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PowerShell </a:t>
            </a:r>
            <a:r>
              <a:rPr lang="en-US" sz="1800" kern="0" spc="-2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Automation Scripts</a:t>
            </a:r>
            <a:endParaRPr lang="en-US" sz="1800"/>
          </a:p>
        </p:txBody>
      </p:sp>
      <p:sp>
        <p:nvSpPr>
          <p:cNvPr id="14" name="Text 11"/>
          <p:cNvSpPr/>
          <p:nvPr/>
        </p:nvSpPr>
        <p:spPr>
          <a:xfrm>
            <a:off x="6907262" y="293489"/>
            <a:ext cx="1873422" cy="185142"/>
          </a:xfrm>
          <a:prstGeom prst="roundRect">
            <a:avLst>
              <a:gd name="adj" fmla="val 77514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100330" tIns="35560" rIns="100330" bIns="35560" rtlCol="0" anchor="t"/>
          <a:lstStyle/>
          <a:p>
            <a:pPr marL="0" indent="0" algn="l">
              <a:buNone/>
            </a:pPr>
            <a:r>
              <a:rPr lang="en-US" sz="680" b="1" kern="0" spc="5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SCRIPTS ACROSS 7 SERVERS</a:t>
            </a:r>
            <a:endParaRPr lang="en-US" sz="680"/>
          </a:p>
        </p:txBody>
      </p:sp>
      <p:sp>
        <p:nvSpPr>
          <p:cNvPr id="15" name="Text 12"/>
          <p:cNvSpPr/>
          <p:nvPr/>
        </p:nvSpPr>
        <p:spPr>
          <a:xfrm>
            <a:off x="400050" y="700980"/>
            <a:ext cx="4100215" cy="801737"/>
          </a:xfrm>
          <a:prstGeom prst="roundRect">
            <a:avLst>
              <a:gd name="adj" fmla="val 10772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3045" y="852488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185" y="923627"/>
            <a:ext cx="143470" cy="14347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53095" y="838646"/>
            <a:ext cx="373359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kern="0" spc="70">
                <a:solidFill>
                  <a:srgbClr val="00B4D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</a:t>
            </a:r>
            <a:endParaRPr lang="en-US" sz="560"/>
          </a:p>
        </p:txBody>
      </p:sp>
      <p:sp>
        <p:nvSpPr>
          <p:cNvPr id="19" name="Text 15"/>
          <p:cNvSpPr/>
          <p:nvPr/>
        </p:nvSpPr>
        <p:spPr>
          <a:xfrm>
            <a:off x="953095" y="945952"/>
            <a:ext cx="373359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Bulk User Provisioning</a:t>
            </a:r>
            <a:endParaRPr lang="en-US" sz="870"/>
          </a:p>
        </p:txBody>
      </p:sp>
      <p:sp>
        <p:nvSpPr>
          <p:cNvPr id="20" name="Text 16"/>
          <p:cNvSpPr/>
          <p:nvPr/>
        </p:nvSpPr>
        <p:spPr>
          <a:xfrm>
            <a:off x="953095" y="1107579"/>
            <a:ext cx="3462058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Import-CSV reads employee data and creates AD accounts with correct OU placement, department, title, and group membership per location.</a:t>
            </a:r>
            <a:endParaRPr lang="en-US" sz="700"/>
          </a:p>
        </p:txBody>
      </p:sp>
      <p:sp>
        <p:nvSpPr>
          <p:cNvPr id="21" name="Text 17"/>
          <p:cNvSpPr/>
          <p:nvPr/>
        </p:nvSpPr>
        <p:spPr>
          <a:xfrm>
            <a:off x="4643735" y="700980"/>
            <a:ext cx="4100215" cy="801737"/>
          </a:xfrm>
          <a:prstGeom prst="roundRect">
            <a:avLst>
              <a:gd name="adj" fmla="val 10772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96730" y="852488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7870" y="923627"/>
            <a:ext cx="143470" cy="14347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96780" y="838646"/>
            <a:ext cx="373359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kern="0" spc="70">
                <a:solidFill>
                  <a:srgbClr val="00B4D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</a:t>
            </a:r>
            <a:endParaRPr lang="en-US" sz="560"/>
          </a:p>
        </p:txBody>
      </p:sp>
      <p:sp>
        <p:nvSpPr>
          <p:cNvPr id="25" name="Text 20"/>
          <p:cNvSpPr/>
          <p:nvPr/>
        </p:nvSpPr>
        <p:spPr>
          <a:xfrm>
            <a:off x="5196780" y="945952"/>
            <a:ext cx="373359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Group Membership</a:t>
            </a:r>
            <a:endParaRPr lang="en-US" sz="870"/>
          </a:p>
        </p:txBody>
      </p:sp>
      <p:sp>
        <p:nvSpPr>
          <p:cNvPr id="26" name="Text 21"/>
          <p:cNvSpPr/>
          <p:nvPr/>
        </p:nvSpPr>
        <p:spPr>
          <a:xfrm>
            <a:off x="5196780" y="1107579"/>
            <a:ext cx="3462058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users to appropriate security groups based on department and location for NTFS and resource access.</a:t>
            </a:r>
            <a:endParaRPr lang="en-US" sz="700"/>
          </a:p>
        </p:txBody>
      </p:sp>
      <p:sp>
        <p:nvSpPr>
          <p:cNvPr id="27" name="Text 22"/>
          <p:cNvSpPr/>
          <p:nvPr/>
        </p:nvSpPr>
        <p:spPr>
          <a:xfrm>
            <a:off x="400050" y="1603028"/>
            <a:ext cx="4100215" cy="801737"/>
          </a:xfrm>
          <a:prstGeom prst="roundRect">
            <a:avLst>
              <a:gd name="adj" fmla="val 10772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53045" y="175453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185" y="1825675"/>
            <a:ext cx="143470" cy="14347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3095" y="1740694"/>
            <a:ext cx="373359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kern="0" spc="70">
                <a:solidFill>
                  <a:srgbClr val="00B4D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3</a:t>
            </a:r>
            <a:endParaRPr lang="en-US" sz="560"/>
          </a:p>
        </p:txBody>
      </p:sp>
      <p:sp>
        <p:nvSpPr>
          <p:cNvPr id="31" name="Text 25"/>
          <p:cNvSpPr/>
          <p:nvPr/>
        </p:nvSpPr>
        <p:spPr>
          <a:xfrm>
            <a:off x="953095" y="1847999"/>
            <a:ext cx="373359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Health Check</a:t>
            </a:r>
            <a:endParaRPr lang="en-US" sz="870"/>
          </a:p>
        </p:txBody>
      </p:sp>
      <p:sp>
        <p:nvSpPr>
          <p:cNvPr id="32" name="Text 26"/>
          <p:cNvSpPr/>
          <p:nvPr/>
        </p:nvSpPr>
        <p:spPr>
          <a:xfrm>
            <a:off x="953095" y="2009626"/>
            <a:ext cx="3462058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DC replication status, DHCP scope utilization, disk space, and critical service health across all servers.</a:t>
            </a:r>
            <a:endParaRPr lang="en-US" sz="700"/>
          </a:p>
        </p:txBody>
      </p:sp>
      <p:sp>
        <p:nvSpPr>
          <p:cNvPr id="33" name="Text 27"/>
          <p:cNvSpPr/>
          <p:nvPr/>
        </p:nvSpPr>
        <p:spPr>
          <a:xfrm>
            <a:off x="4643735" y="1603028"/>
            <a:ext cx="4100215" cy="801737"/>
          </a:xfrm>
          <a:prstGeom prst="roundRect">
            <a:avLst>
              <a:gd name="adj" fmla="val 10772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796730" y="1754535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7870" y="1825675"/>
            <a:ext cx="143470" cy="14347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96780" y="1740694"/>
            <a:ext cx="373359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kern="0" spc="70">
                <a:solidFill>
                  <a:srgbClr val="00B4D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4</a:t>
            </a:r>
            <a:endParaRPr lang="en-US" sz="560"/>
          </a:p>
        </p:txBody>
      </p:sp>
      <p:sp>
        <p:nvSpPr>
          <p:cNvPr id="37" name="Text 30"/>
          <p:cNvSpPr/>
          <p:nvPr/>
        </p:nvSpPr>
        <p:spPr>
          <a:xfrm>
            <a:off x="5196780" y="1847999"/>
            <a:ext cx="373359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Password Expiry Notification</a:t>
            </a:r>
            <a:endParaRPr lang="en-US" sz="870"/>
          </a:p>
        </p:txBody>
      </p:sp>
      <p:sp>
        <p:nvSpPr>
          <p:cNvPr id="38" name="Text 31"/>
          <p:cNvSpPr/>
          <p:nvPr/>
        </p:nvSpPr>
        <p:spPr>
          <a:xfrm>
            <a:off x="5196780" y="2009626"/>
            <a:ext cx="3733592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automated email alerts to users 14, 7, and 3 days before password expiration.</a:t>
            </a:r>
            <a:endParaRPr lang="en-US" sz="700"/>
          </a:p>
        </p:txBody>
      </p:sp>
      <p:sp>
        <p:nvSpPr>
          <p:cNvPr id="39" name="Text 32"/>
          <p:cNvSpPr/>
          <p:nvPr/>
        </p:nvSpPr>
        <p:spPr>
          <a:xfrm>
            <a:off x="400050" y="2505075"/>
            <a:ext cx="4100215" cy="801737"/>
          </a:xfrm>
          <a:prstGeom prst="roundRect">
            <a:avLst>
              <a:gd name="adj" fmla="val 10772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553045" y="2656582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185" y="2727722"/>
            <a:ext cx="143470" cy="14347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53095" y="2642741"/>
            <a:ext cx="373359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kern="0" spc="70">
                <a:solidFill>
                  <a:srgbClr val="00B4D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5</a:t>
            </a:r>
            <a:endParaRPr lang="en-US" sz="560"/>
          </a:p>
        </p:txBody>
      </p:sp>
      <p:sp>
        <p:nvSpPr>
          <p:cNvPr id="43" name="Text 35"/>
          <p:cNvSpPr/>
          <p:nvPr/>
        </p:nvSpPr>
        <p:spPr>
          <a:xfrm>
            <a:off x="953095" y="2750046"/>
            <a:ext cx="373359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Backup Verification</a:t>
            </a:r>
            <a:endParaRPr lang="en-US" sz="870"/>
          </a:p>
        </p:txBody>
      </p:sp>
      <p:sp>
        <p:nvSpPr>
          <p:cNvPr id="44" name="Text 36"/>
          <p:cNvSpPr/>
          <p:nvPr/>
        </p:nvSpPr>
        <p:spPr>
          <a:xfrm>
            <a:off x="953095" y="2911673"/>
            <a:ext cx="3462058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script validates Windows Server Backup completion and logs results for review.</a:t>
            </a:r>
            <a:endParaRPr lang="en-US" sz="700"/>
          </a:p>
        </p:txBody>
      </p:sp>
      <p:sp>
        <p:nvSpPr>
          <p:cNvPr id="45" name="Text 37"/>
          <p:cNvSpPr/>
          <p:nvPr/>
        </p:nvSpPr>
        <p:spPr>
          <a:xfrm>
            <a:off x="4643735" y="2505075"/>
            <a:ext cx="4100215" cy="801737"/>
          </a:xfrm>
          <a:prstGeom prst="roundRect">
            <a:avLst>
              <a:gd name="adj" fmla="val 10772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4796730" y="2656582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7870" y="2727722"/>
            <a:ext cx="143470" cy="14347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196780" y="2642741"/>
            <a:ext cx="373359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"/>
              </a:lnSpc>
              <a:buNone/>
            </a:pPr>
            <a:r>
              <a:rPr lang="en-US" sz="560" b="1" kern="0" spc="70">
                <a:solidFill>
                  <a:srgbClr val="00B4D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6</a:t>
            </a:r>
            <a:endParaRPr lang="en-US" sz="560"/>
          </a:p>
        </p:txBody>
      </p:sp>
      <p:sp>
        <p:nvSpPr>
          <p:cNvPr id="49" name="Text 40"/>
          <p:cNvSpPr/>
          <p:nvPr/>
        </p:nvSpPr>
        <p:spPr>
          <a:xfrm>
            <a:off x="5196780" y="2750046"/>
            <a:ext cx="373359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7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Audit Report</a:t>
            </a:r>
            <a:endParaRPr lang="en-US" sz="870"/>
          </a:p>
        </p:txBody>
      </p:sp>
      <p:sp>
        <p:nvSpPr>
          <p:cNvPr id="50" name="Text 41"/>
          <p:cNvSpPr/>
          <p:nvPr/>
        </p:nvSpPr>
        <p:spPr>
          <a:xfrm>
            <a:off x="5196780" y="2911673"/>
            <a:ext cx="3462058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AD for all computer objects, last logon dates, and OS versions; exports to CSV for asset tracking.</a:t>
            </a:r>
            <a:endParaRPr lang="en-US" sz="700"/>
          </a:p>
        </p:txBody>
      </p:sp>
      <p:sp>
        <p:nvSpPr>
          <p:cNvPr id="51" name="Text 42"/>
          <p:cNvSpPr/>
          <p:nvPr/>
        </p:nvSpPr>
        <p:spPr>
          <a:xfrm>
            <a:off x="0" y="4845695"/>
            <a:ext cx="9144000" cy="297805"/>
          </a:xfrm>
          <a:prstGeom prst="rect">
            <a:avLst/>
          </a:prstGeom>
          <a:solidFill>
            <a:srgbClr val="00B4D8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2" name="Text 43"/>
          <p:cNvSpPr/>
          <p:nvPr/>
        </p:nvSpPr>
        <p:spPr>
          <a:xfrm>
            <a:off x="0" y="4845695"/>
            <a:ext cx="9144000" cy="9525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911" y="4932992"/>
            <a:ext cx="132588" cy="13258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57510" y="4941540"/>
            <a:ext cx="4458667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1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scripts tested end-to-end across all </a:t>
            </a:r>
            <a:r>
              <a:rPr lang="en-US" sz="65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servers</a:t>
            </a:r>
            <a:r>
              <a:rPr lang="en-US" sz="650" kern="0" spc="1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instructor sign-off | Execution logs saved centrally</a:t>
            </a:r>
            <a:endParaRPr lang="en-US" sz="6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99D2C73-08B0-4F6B-A8E9-4651E6BDB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8DB88C-7EF2-487C-85D1-848F61F13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133B7B66-6B62-ECFB-7AB8-76F8D1B230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893"/>
          <a:stretch>
            <a:fillRect/>
          </a:stretch>
        </p:blipFill>
        <p:spPr>
          <a:xfrm>
            <a:off x="482600" y="482600"/>
            <a:ext cx="4029074" cy="4178299"/>
          </a:xfrm>
          <a:prstGeom prst="rect">
            <a:avLst/>
          </a:prstGeom>
        </p:spPr>
      </p:pic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9CAA874-1489-DAC3-6E64-B96173E610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43" r="44227" b="-1"/>
          <a:stretch>
            <a:fillRect/>
          </a:stretch>
        </p:blipFill>
        <p:spPr>
          <a:xfrm>
            <a:off x="4632324" y="482600"/>
            <a:ext cx="4029075" cy="41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72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32251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236" y="413677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291" y="310307"/>
            <a:ext cx="3603739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Group Policy Objects (GPOs)</a:t>
            </a:r>
            <a:endParaRPr lang="en-US" sz="1910"/>
          </a:p>
        </p:txBody>
      </p:sp>
      <p:sp>
        <p:nvSpPr>
          <p:cNvPr id="5" name="Text 2"/>
          <p:cNvSpPr/>
          <p:nvPr/>
        </p:nvSpPr>
        <p:spPr>
          <a:xfrm>
            <a:off x="801291" y="620316"/>
            <a:ext cx="34290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38976" y="271760"/>
            <a:ext cx="532954" cy="421096"/>
          </a:xfrm>
          <a:prstGeom prst="roundRect">
            <a:avLst>
              <a:gd name="adj" fmla="val 13572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lIns="128270" tIns="43180" rIns="128270" bIns="43180" rtlCol="0" anchor="t"/>
          <a:lstStyle/>
          <a:p>
            <a:pPr marL="0" indent="0" algn="ctr">
              <a:buNone/>
            </a:pPr>
            <a:r>
              <a:rPr lang="en-US" sz="1460" b="1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7+</a:t>
            </a:r>
            <a:endParaRPr lang="en-US" sz="1460"/>
          </a:p>
          <a:p>
            <a:pPr marL="0" indent="0" algn="ctr">
              <a:buNone/>
            </a:pPr>
            <a:r>
              <a:rPr lang="en-US" sz="620" kern="0" spc="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GPOS</a:t>
            </a:r>
            <a:endParaRPr lang="en-US" sz="1460"/>
          </a:p>
        </p:txBody>
      </p:sp>
      <p:sp>
        <p:nvSpPr>
          <p:cNvPr id="7" name="Text 4"/>
          <p:cNvSpPr/>
          <p:nvPr/>
        </p:nvSpPr>
        <p:spPr>
          <a:xfrm>
            <a:off x="372070" y="723751"/>
            <a:ext cx="9239845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0"/>
              </a:lnSpc>
              <a:spcAft>
                <a:spcPts val="680"/>
              </a:spcAft>
              <a:buNone/>
            </a:pPr>
            <a:r>
              <a:rPr lang="en-US" sz="8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GPO per server minimum — centralized policy enforcement across all 7 servers</a:t>
            </a:r>
            <a:endParaRPr lang="en-US" sz="820"/>
          </a:p>
        </p:txBody>
      </p:sp>
      <p:sp>
        <p:nvSpPr>
          <p:cNvPr id="8" name="Text 5"/>
          <p:cNvSpPr/>
          <p:nvPr/>
        </p:nvSpPr>
        <p:spPr>
          <a:xfrm>
            <a:off x="372070" y="966341"/>
            <a:ext cx="8399859" cy="480120"/>
          </a:xfrm>
          <a:prstGeom prst="roundRect">
            <a:avLst>
              <a:gd name="adj" fmla="val 14813"/>
            </a:avLst>
          </a:prstGeom>
          <a:gradFill rotWithShape="1">
            <a:gsLst>
              <a:gs pos="0">
                <a:srgbClr val="00B4D8">
                  <a:alpha val="8000"/>
                </a:srgbClr>
              </a:gs>
              <a:gs pos="100000">
                <a:srgbClr val="00B4D8">
                  <a:alpha val="2000"/>
                </a:srgbClr>
              </a:gs>
            </a:gsLst>
            <a:lin ang="2700000" scaled="1"/>
          </a:gra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5895" y="106218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486" y="1124777"/>
            <a:ext cx="132588" cy="132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3976" y="1054596"/>
            <a:ext cx="857354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GPO 1: Password &amp; Account Lockout Policy</a:t>
            </a:r>
            <a:endParaRPr lang="en-US" sz="870"/>
          </a:p>
        </p:txBody>
      </p:sp>
      <p:sp>
        <p:nvSpPr>
          <p:cNvPr id="12" name="Text 8"/>
          <p:cNvSpPr/>
          <p:nvPr/>
        </p:nvSpPr>
        <p:spPr>
          <a:xfrm>
            <a:off x="853976" y="1227832"/>
            <a:ext cx="85735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12 characters, complexity enabled, 90-day maximum age, 5 invalid attempts triggers 30-minute lockout</a:t>
            </a:r>
            <a:endParaRPr lang="en-US" sz="760"/>
          </a:p>
        </p:txBody>
      </p:sp>
      <p:sp>
        <p:nvSpPr>
          <p:cNvPr id="13" name="Text 9"/>
          <p:cNvSpPr/>
          <p:nvPr/>
        </p:nvSpPr>
        <p:spPr>
          <a:xfrm>
            <a:off x="8454330" y="1055936"/>
            <a:ext cx="22230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b="1" kern="0" spc="-60">
                <a:solidFill>
                  <a:srgbClr val="00B4D8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580"/>
          </a:p>
        </p:txBody>
      </p:sp>
      <p:sp>
        <p:nvSpPr>
          <p:cNvPr id="14" name="Text 10"/>
          <p:cNvSpPr/>
          <p:nvPr/>
        </p:nvSpPr>
        <p:spPr>
          <a:xfrm>
            <a:off x="372070" y="1489621"/>
            <a:ext cx="8399859" cy="480120"/>
          </a:xfrm>
          <a:prstGeom prst="roundRect">
            <a:avLst>
              <a:gd name="adj" fmla="val 14813"/>
            </a:avLst>
          </a:prstGeom>
          <a:solidFill>
            <a:srgbClr val="162032">
              <a:alpha val="60000"/>
            </a:srgbClr>
          </a:solidFill>
          <a:ln w="9525">
            <a:solidFill>
              <a:srgbClr val="8899B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95895" y="158546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486" y="1648057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3976" y="1577876"/>
            <a:ext cx="857354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GPO 2: Drive Mappings &amp; Folder Redirection</a:t>
            </a:r>
            <a:endParaRPr lang="en-US" sz="870"/>
          </a:p>
        </p:txBody>
      </p:sp>
      <p:sp>
        <p:nvSpPr>
          <p:cNvPr id="18" name="Text 13"/>
          <p:cNvSpPr/>
          <p:nvPr/>
        </p:nvSpPr>
        <p:spPr>
          <a:xfrm>
            <a:off x="853976" y="1751112"/>
            <a:ext cx="85735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Department-specific network drive mappings via Group Policy Preferences with Item-Level Targeting by security group</a:t>
            </a:r>
            <a:endParaRPr lang="en-US" sz="760"/>
          </a:p>
        </p:txBody>
      </p:sp>
      <p:sp>
        <p:nvSpPr>
          <p:cNvPr id="19" name="Text 14"/>
          <p:cNvSpPr/>
          <p:nvPr/>
        </p:nvSpPr>
        <p:spPr>
          <a:xfrm>
            <a:off x="8454330" y="1579215"/>
            <a:ext cx="22230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b="1" kern="0" spc="-60">
                <a:solidFill>
                  <a:srgbClr val="00B4D8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580"/>
          </a:p>
        </p:txBody>
      </p:sp>
      <p:sp>
        <p:nvSpPr>
          <p:cNvPr id="20" name="Text 15"/>
          <p:cNvSpPr/>
          <p:nvPr/>
        </p:nvSpPr>
        <p:spPr>
          <a:xfrm>
            <a:off x="372070" y="2012900"/>
            <a:ext cx="8399859" cy="480120"/>
          </a:xfrm>
          <a:prstGeom prst="roundRect">
            <a:avLst>
              <a:gd name="adj" fmla="val 14813"/>
            </a:avLst>
          </a:prstGeom>
          <a:gradFill rotWithShape="1">
            <a:gsLst>
              <a:gs pos="0">
                <a:srgbClr val="00B4D8">
                  <a:alpha val="8000"/>
                </a:srgbClr>
              </a:gs>
              <a:gs pos="100000">
                <a:srgbClr val="00B4D8">
                  <a:alpha val="2000"/>
                </a:srgbClr>
              </a:gs>
            </a:gsLst>
            <a:lin ang="2700000" scaled="1"/>
          </a:gra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95895" y="210874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486" y="2171337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3976" y="2101155"/>
            <a:ext cx="857354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GPO 3: Software Restriction / AppLocker</a:t>
            </a:r>
            <a:endParaRPr lang="en-US" sz="870"/>
          </a:p>
        </p:txBody>
      </p:sp>
      <p:sp>
        <p:nvSpPr>
          <p:cNvPr id="24" name="Text 18"/>
          <p:cNvSpPr/>
          <p:nvPr/>
        </p:nvSpPr>
        <p:spPr>
          <a:xfrm>
            <a:off x="853976" y="2274391"/>
            <a:ext cx="85735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Whitelist-based application control blocking unauthorized executables, scripts, and installers</a:t>
            </a:r>
            <a:endParaRPr lang="en-US" sz="760"/>
          </a:p>
        </p:txBody>
      </p:sp>
      <p:sp>
        <p:nvSpPr>
          <p:cNvPr id="25" name="Text 19"/>
          <p:cNvSpPr/>
          <p:nvPr/>
        </p:nvSpPr>
        <p:spPr>
          <a:xfrm>
            <a:off x="8454330" y="2102495"/>
            <a:ext cx="22230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b="1" kern="0" spc="-60">
                <a:solidFill>
                  <a:srgbClr val="00B4D8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580"/>
          </a:p>
        </p:txBody>
      </p:sp>
      <p:sp>
        <p:nvSpPr>
          <p:cNvPr id="26" name="Text 20"/>
          <p:cNvSpPr/>
          <p:nvPr/>
        </p:nvSpPr>
        <p:spPr>
          <a:xfrm>
            <a:off x="372070" y="2536180"/>
            <a:ext cx="8399859" cy="480120"/>
          </a:xfrm>
          <a:prstGeom prst="roundRect">
            <a:avLst>
              <a:gd name="adj" fmla="val 14813"/>
            </a:avLst>
          </a:prstGeom>
          <a:solidFill>
            <a:srgbClr val="162032">
              <a:alpha val="60000"/>
            </a:srgbClr>
          </a:solidFill>
          <a:ln w="9525">
            <a:solidFill>
              <a:srgbClr val="8899B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495895" y="263202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486" y="2694617"/>
            <a:ext cx="132588" cy="132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53976" y="2624435"/>
            <a:ext cx="857354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GPO 4: Security Baselines</a:t>
            </a:r>
            <a:endParaRPr lang="en-US" sz="870"/>
          </a:p>
        </p:txBody>
      </p:sp>
      <p:sp>
        <p:nvSpPr>
          <p:cNvPr id="30" name="Text 23"/>
          <p:cNvSpPr/>
          <p:nvPr/>
        </p:nvSpPr>
        <p:spPr>
          <a:xfrm>
            <a:off x="853976" y="2797671"/>
            <a:ext cx="85735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Firewall rules enabled, advanced audit logging, USB storage device restrictions, screen lock after 10 minutes</a:t>
            </a:r>
            <a:endParaRPr lang="en-US" sz="760"/>
          </a:p>
        </p:txBody>
      </p:sp>
      <p:sp>
        <p:nvSpPr>
          <p:cNvPr id="31" name="Text 24"/>
          <p:cNvSpPr/>
          <p:nvPr/>
        </p:nvSpPr>
        <p:spPr>
          <a:xfrm>
            <a:off x="8454330" y="2625775"/>
            <a:ext cx="22230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b="1" kern="0" spc="-60">
                <a:solidFill>
                  <a:srgbClr val="00B4D8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580"/>
          </a:p>
        </p:txBody>
      </p:sp>
      <p:sp>
        <p:nvSpPr>
          <p:cNvPr id="32" name="Text 25"/>
          <p:cNvSpPr/>
          <p:nvPr/>
        </p:nvSpPr>
        <p:spPr>
          <a:xfrm>
            <a:off x="372070" y="3059460"/>
            <a:ext cx="8399859" cy="480120"/>
          </a:xfrm>
          <a:prstGeom prst="roundRect">
            <a:avLst>
              <a:gd name="adj" fmla="val 14813"/>
            </a:avLst>
          </a:prstGeom>
          <a:gradFill rotWithShape="1">
            <a:gsLst>
              <a:gs pos="0">
                <a:srgbClr val="00B4D8">
                  <a:alpha val="8000"/>
                </a:srgbClr>
              </a:gs>
              <a:gs pos="100000">
                <a:srgbClr val="00B4D8">
                  <a:alpha val="2000"/>
                </a:srgbClr>
              </a:gs>
            </a:gsLst>
            <a:lin ang="2700000" scaled="1"/>
          </a:gra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495895" y="315530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8486" y="3217896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53976" y="3147715"/>
            <a:ext cx="857354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GPO 5: Desktop Standards</a:t>
            </a:r>
            <a:endParaRPr lang="en-US" sz="870"/>
          </a:p>
        </p:txBody>
      </p:sp>
      <p:sp>
        <p:nvSpPr>
          <p:cNvPr id="36" name="Text 28"/>
          <p:cNvSpPr/>
          <p:nvPr/>
        </p:nvSpPr>
        <p:spPr>
          <a:xfrm>
            <a:off x="853976" y="3320951"/>
            <a:ext cx="85735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wallpaper, Start menu layout, default browser and homepage settings, Control Panel restrictions for standard users</a:t>
            </a:r>
            <a:endParaRPr lang="en-US" sz="760"/>
          </a:p>
        </p:txBody>
      </p:sp>
      <p:sp>
        <p:nvSpPr>
          <p:cNvPr id="37" name="Text 29"/>
          <p:cNvSpPr/>
          <p:nvPr/>
        </p:nvSpPr>
        <p:spPr>
          <a:xfrm>
            <a:off x="8454330" y="3149054"/>
            <a:ext cx="22230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b="1" kern="0" spc="-60">
                <a:solidFill>
                  <a:srgbClr val="00B4D8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580"/>
          </a:p>
        </p:txBody>
      </p:sp>
      <p:sp>
        <p:nvSpPr>
          <p:cNvPr id="38" name="Text 30"/>
          <p:cNvSpPr/>
          <p:nvPr/>
        </p:nvSpPr>
        <p:spPr>
          <a:xfrm>
            <a:off x="372070" y="3582739"/>
            <a:ext cx="8399859" cy="480120"/>
          </a:xfrm>
          <a:prstGeom prst="roundRect">
            <a:avLst>
              <a:gd name="adj" fmla="val 14813"/>
            </a:avLst>
          </a:prstGeom>
          <a:solidFill>
            <a:srgbClr val="162032">
              <a:alpha val="60000"/>
            </a:srgbClr>
          </a:solidFill>
          <a:ln w="9525">
            <a:solidFill>
              <a:srgbClr val="8899B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495895" y="367858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8486" y="3741176"/>
            <a:ext cx="132588" cy="1325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53976" y="3670995"/>
            <a:ext cx="857354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GPO 6: Windows Update / WSUS Policy</a:t>
            </a:r>
            <a:endParaRPr lang="en-US" sz="870"/>
          </a:p>
        </p:txBody>
      </p:sp>
      <p:sp>
        <p:nvSpPr>
          <p:cNvPr id="42" name="Text 33"/>
          <p:cNvSpPr/>
          <p:nvPr/>
        </p:nvSpPr>
        <p:spPr>
          <a:xfrm>
            <a:off x="853976" y="3844230"/>
            <a:ext cx="85735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updates from internal WSUS server, scheduled installation during maintenance windows</a:t>
            </a:r>
            <a:endParaRPr lang="en-US" sz="760"/>
          </a:p>
        </p:txBody>
      </p:sp>
      <p:sp>
        <p:nvSpPr>
          <p:cNvPr id="43" name="Text 34"/>
          <p:cNvSpPr/>
          <p:nvPr/>
        </p:nvSpPr>
        <p:spPr>
          <a:xfrm>
            <a:off x="8454330" y="3672334"/>
            <a:ext cx="22230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b="1" kern="0" spc="-60">
                <a:solidFill>
                  <a:srgbClr val="00B4D8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1580"/>
          </a:p>
        </p:txBody>
      </p:sp>
      <p:sp>
        <p:nvSpPr>
          <p:cNvPr id="44" name="Text 35"/>
          <p:cNvSpPr/>
          <p:nvPr/>
        </p:nvSpPr>
        <p:spPr>
          <a:xfrm>
            <a:off x="372070" y="4106019"/>
            <a:ext cx="8399859" cy="480120"/>
          </a:xfrm>
          <a:prstGeom prst="roundRect">
            <a:avLst>
              <a:gd name="adj" fmla="val 14813"/>
            </a:avLst>
          </a:prstGeom>
          <a:gradFill rotWithShape="1">
            <a:gsLst>
              <a:gs pos="0">
                <a:srgbClr val="00B4D8">
                  <a:alpha val="8000"/>
                </a:srgbClr>
              </a:gs>
              <a:gs pos="100000">
                <a:srgbClr val="00B4D8">
                  <a:alpha val="2000"/>
                </a:srgbClr>
              </a:gs>
            </a:gsLst>
            <a:lin ang="2700000" scaled="1"/>
          </a:gradFill>
          <a:ln w="9525">
            <a:solidFill>
              <a:srgbClr val="00B4D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5" name="Text 36"/>
          <p:cNvSpPr/>
          <p:nvPr/>
        </p:nvSpPr>
        <p:spPr>
          <a:xfrm>
            <a:off x="495895" y="42018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8486" y="4264456"/>
            <a:ext cx="132588" cy="13258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853976" y="4194274"/>
            <a:ext cx="857354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GPO 7: Printer Deployment</a:t>
            </a:r>
            <a:endParaRPr lang="en-US" sz="870"/>
          </a:p>
        </p:txBody>
      </p:sp>
      <p:sp>
        <p:nvSpPr>
          <p:cNvPr id="48" name="Text 38"/>
          <p:cNvSpPr/>
          <p:nvPr/>
        </p:nvSpPr>
        <p:spPr>
          <a:xfrm>
            <a:off x="853976" y="4367510"/>
            <a:ext cx="85735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printer deployment using Item-Level Targeting to auto-map department printers</a:t>
            </a:r>
            <a:endParaRPr lang="en-US" sz="760"/>
          </a:p>
        </p:txBody>
      </p:sp>
      <p:sp>
        <p:nvSpPr>
          <p:cNvPr id="49" name="Text 39"/>
          <p:cNvSpPr/>
          <p:nvPr/>
        </p:nvSpPr>
        <p:spPr>
          <a:xfrm>
            <a:off x="8454330" y="4195614"/>
            <a:ext cx="222308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0"/>
              </a:lnSpc>
              <a:buNone/>
            </a:pPr>
            <a:r>
              <a:rPr lang="en-US" sz="1580" b="1" kern="0" spc="-60">
                <a:solidFill>
                  <a:srgbClr val="00B4D8">
                    <a:alpha val="1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1580"/>
          </a:p>
        </p:txBody>
      </p:sp>
      <p:sp>
        <p:nvSpPr>
          <p:cNvPr id="50" name="Text 40"/>
          <p:cNvSpPr/>
          <p:nvPr/>
        </p:nvSpPr>
        <p:spPr>
          <a:xfrm>
            <a:off x="372070" y="4670524"/>
            <a:ext cx="8399859" cy="272355"/>
          </a:xfrm>
          <a:prstGeom prst="roundRect">
            <a:avLst>
              <a:gd name="adj" fmla="val 20984"/>
            </a:avLst>
          </a:prstGeom>
          <a:solidFill>
            <a:srgbClr val="00B4D8">
              <a:alpha val="6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180" y="4740334"/>
            <a:ext cx="132588" cy="13258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628204" y="4737199"/>
            <a:ext cx="16046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GPOs linked to appropriate OUs</a:t>
            </a:r>
            <a:endParaRPr lang="en-US" sz="730"/>
          </a:p>
        </p:txBody>
      </p:sp>
      <p:sp>
        <p:nvSpPr>
          <p:cNvPr id="53" name="Text 42"/>
          <p:cNvSpPr/>
          <p:nvPr/>
        </p:nvSpPr>
        <p:spPr>
          <a:xfrm>
            <a:off x="2173337" y="4737199"/>
            <a:ext cx="2652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>
                <a:solidFill>
                  <a:srgbClr val="00B4D8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730"/>
          </a:p>
        </p:txBody>
      </p:sp>
      <p:sp>
        <p:nvSpPr>
          <p:cNvPr id="54" name="Text 43"/>
          <p:cNvSpPr/>
          <p:nvPr/>
        </p:nvSpPr>
        <p:spPr>
          <a:xfrm>
            <a:off x="2283768" y="4737199"/>
            <a:ext cx="152840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verified at all locations</a:t>
            </a:r>
            <a:endParaRPr lang="en-US" sz="73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57770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00B4D8"/>
              </a:gs>
              <a:gs pos="100000">
                <a:srgbClr val="0090B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557" y="334277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100" y="276820"/>
            <a:ext cx="431572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90" kern="0" spc="-2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Operations Database — </a:t>
            </a:r>
            <a:r>
              <a:rPr lang="en-US" sz="1690" kern="0" spc="-2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Overview &amp; Tables</a:t>
            </a:r>
            <a:endParaRPr lang="en-US" sz="1690"/>
          </a:p>
        </p:txBody>
      </p:sp>
      <p:sp>
        <p:nvSpPr>
          <p:cNvPr id="5" name="Text 2"/>
          <p:cNvSpPr/>
          <p:nvPr/>
        </p:nvSpPr>
        <p:spPr>
          <a:xfrm>
            <a:off x="800100" y="600670"/>
            <a:ext cx="873823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kern="0" spc="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schema structure powering warehouse logistics, procurement, and financial tracking</a:t>
            </a:r>
            <a:endParaRPr lang="en-US" sz="790"/>
          </a:p>
        </p:txBody>
      </p:sp>
      <p:sp>
        <p:nvSpPr>
          <p:cNvPr id="6" name="Text 3"/>
          <p:cNvSpPr/>
          <p:nvPr/>
        </p:nvSpPr>
        <p:spPr>
          <a:xfrm>
            <a:off x="400050" y="872430"/>
            <a:ext cx="4107805" cy="1942505"/>
          </a:xfrm>
          <a:prstGeom prst="roundRect">
            <a:avLst>
              <a:gd name="adj" fmla="val 5165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1025" y="1039416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542" y="1101932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5116" y="1096863"/>
            <a:ext cx="12011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960" b="1" kern="0" spc="1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 Platform</a:t>
            </a:r>
            <a:endParaRPr lang="en-US" sz="960"/>
          </a:p>
        </p:txBody>
      </p:sp>
      <p:sp>
        <p:nvSpPr>
          <p:cNvPr id="10" name="Text 6"/>
          <p:cNvSpPr/>
          <p:nvPr/>
        </p:nvSpPr>
        <p:spPr>
          <a:xfrm>
            <a:off x="581025" y="1397496"/>
            <a:ext cx="4120441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Name:</a:t>
            </a: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Operations</a:t>
            </a:r>
            <a:endParaRPr lang="en-US" sz="700"/>
          </a:p>
        </p:txBody>
      </p:sp>
      <p:sp>
        <p:nvSpPr>
          <p:cNvPr id="11" name="Text 7"/>
          <p:cNvSpPr/>
          <p:nvPr/>
        </p:nvSpPr>
        <p:spPr>
          <a:xfrm>
            <a:off x="581025" y="1578322"/>
            <a:ext cx="4120441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</a:t>
            </a: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 SQL Server or MS Access</a:t>
            </a:r>
            <a:endParaRPr lang="en-US" sz="700"/>
          </a:p>
        </p:txBody>
      </p:sp>
      <p:sp>
        <p:nvSpPr>
          <p:cNvPr id="12" name="Text 8"/>
          <p:cNvSpPr/>
          <p:nvPr/>
        </p:nvSpPr>
        <p:spPr>
          <a:xfrm>
            <a:off x="581025" y="1802309"/>
            <a:ext cx="3745855" cy="7590"/>
          </a:xfrm>
          <a:prstGeom prst="rect">
            <a:avLst/>
          </a:prstGeom>
          <a:solidFill>
            <a:srgbClr val="8899B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81025" y="1896219"/>
            <a:ext cx="4120441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Tracks and captures warehouse information across all operational workflows</a:t>
            </a:r>
            <a:endParaRPr lang="en-US" sz="700"/>
          </a:p>
        </p:txBody>
      </p:sp>
      <p:sp>
        <p:nvSpPr>
          <p:cNvPr id="14" name="Text 10"/>
          <p:cNvSpPr/>
          <p:nvPr/>
        </p:nvSpPr>
        <p:spPr>
          <a:xfrm>
            <a:off x="655886" y="2106216"/>
            <a:ext cx="428393" cy="275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 </a:t>
            </a:r>
            <a:endParaRPr lang="en-US" sz="700"/>
          </a:p>
          <a:p>
            <a:pPr marL="0" indent="0" algn="l">
              <a:lnSpc>
                <a:spcPts val="108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Receiving  </a:t>
            </a:r>
            <a:endParaRPr lang="en-US" sz="700"/>
          </a:p>
          <a:p>
            <a:pPr marL="0" indent="0" algn="l">
              <a:lnSpc>
                <a:spcPts val="108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Inventory  </a:t>
            </a:r>
            <a:endParaRPr lang="en-US" sz="700"/>
          </a:p>
          <a:p>
            <a:pPr marL="0" indent="0" algn="l">
              <a:lnSpc>
                <a:spcPts val="108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Invoicing</a:t>
            </a:r>
            <a:endParaRPr lang="en-US" sz="7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371" y="2108755"/>
            <a:ext cx="132588" cy="132588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6225" y="2108755"/>
            <a:ext cx="132588" cy="132588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5429" y="2108755"/>
            <a:ext cx="132588" cy="132588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89928" y="2108755"/>
            <a:ext cx="132588" cy="132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35996" y="872430"/>
            <a:ext cx="4107954" cy="1942505"/>
          </a:xfrm>
          <a:prstGeom prst="roundRect">
            <a:avLst>
              <a:gd name="adj" fmla="val 5165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2"/>
          <p:cNvSpPr/>
          <p:nvPr/>
        </p:nvSpPr>
        <p:spPr>
          <a:xfrm>
            <a:off x="4816971" y="1039416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79488" y="1101932"/>
            <a:ext cx="132588" cy="13258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161062" y="1096863"/>
            <a:ext cx="13913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960" b="1" kern="0" spc="1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Suppliers &amp; Products</a:t>
            </a:r>
            <a:endParaRPr lang="en-US" sz="960"/>
          </a:p>
        </p:txBody>
      </p:sp>
      <p:sp>
        <p:nvSpPr>
          <p:cNvPr id="23" name="Text 14"/>
          <p:cNvSpPr/>
          <p:nvPr/>
        </p:nvSpPr>
        <p:spPr>
          <a:xfrm>
            <a:off x="4816971" y="1397496"/>
            <a:ext cx="1183621" cy="157460"/>
          </a:xfrm>
          <a:prstGeom prst="roundRect">
            <a:avLst>
              <a:gd name="adj" fmla="val 27423"/>
            </a:avLst>
          </a:prstGeom>
          <a:solidFill>
            <a:srgbClr val="00B4D8">
              <a:alpha val="10000"/>
            </a:srgbClr>
          </a:solidFill>
          <a:ln w="9525">
            <a:solidFill>
              <a:srgbClr val="00B4D8">
                <a:alpha val="18000"/>
              </a:srgbClr>
            </a:solidFill>
          </a:ln>
        </p:spPr>
        <p:txBody>
          <a:bodyPr wrap="none" lIns="149543" tIns="21590" rIns="71120" bIns="21590" rtlCol="0" anchor="ctr"/>
          <a:lstStyle/>
          <a:p>
            <a:pPr marL="0" indent="0" algn="l"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— 20 records</a:t>
            </a:r>
            <a:endParaRPr lang="en-US" sz="65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2624" y="1409932"/>
            <a:ext cx="132588" cy="13258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09946" y="1629221"/>
            <a:ext cx="716518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SupplierID</a:t>
            </a:r>
            <a:endParaRPr lang="en-US" sz="620"/>
          </a:p>
        </p:txBody>
      </p:sp>
      <p:sp>
        <p:nvSpPr>
          <p:cNvPr id="26" name="Text 16"/>
          <p:cNvSpPr/>
          <p:nvPr/>
        </p:nvSpPr>
        <p:spPr>
          <a:xfrm>
            <a:off x="5535265" y="1629221"/>
            <a:ext cx="61739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CompanyName</a:t>
            </a:r>
            <a:endParaRPr lang="en-US" sz="620"/>
          </a:p>
        </p:txBody>
      </p:sp>
      <p:sp>
        <p:nvSpPr>
          <p:cNvPr id="27" name="Text 17"/>
          <p:cNvSpPr/>
          <p:nvPr/>
        </p:nvSpPr>
        <p:spPr>
          <a:xfrm>
            <a:off x="6162426" y="1629221"/>
            <a:ext cx="61739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ContactName</a:t>
            </a:r>
            <a:endParaRPr lang="en-US" sz="620"/>
          </a:p>
        </p:txBody>
      </p:sp>
      <p:sp>
        <p:nvSpPr>
          <p:cNvPr id="28" name="Text 18"/>
          <p:cNvSpPr/>
          <p:nvPr/>
        </p:nvSpPr>
        <p:spPr>
          <a:xfrm>
            <a:off x="6792502" y="1629221"/>
            <a:ext cx="320156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620"/>
          </a:p>
        </p:txBody>
      </p:sp>
      <p:sp>
        <p:nvSpPr>
          <p:cNvPr id="29" name="Text 19"/>
          <p:cNvSpPr/>
          <p:nvPr/>
        </p:nvSpPr>
        <p:spPr>
          <a:xfrm>
            <a:off x="7128258" y="1629221"/>
            <a:ext cx="320156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620"/>
          </a:p>
        </p:txBody>
      </p:sp>
      <p:sp>
        <p:nvSpPr>
          <p:cNvPr id="30" name="Text 20"/>
          <p:cNvSpPr/>
          <p:nvPr/>
        </p:nvSpPr>
        <p:spPr>
          <a:xfrm>
            <a:off x="7463044" y="1629221"/>
            <a:ext cx="419133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620"/>
          </a:p>
        </p:txBody>
      </p:sp>
      <p:sp>
        <p:nvSpPr>
          <p:cNvPr id="31" name="Text 21"/>
          <p:cNvSpPr/>
          <p:nvPr/>
        </p:nvSpPr>
        <p:spPr>
          <a:xfrm>
            <a:off x="7897294" y="1629221"/>
            <a:ext cx="270516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620"/>
          </a:p>
        </p:txBody>
      </p:sp>
      <p:sp>
        <p:nvSpPr>
          <p:cNvPr id="32" name="Text 22"/>
          <p:cNvSpPr/>
          <p:nvPr/>
        </p:nvSpPr>
        <p:spPr>
          <a:xfrm>
            <a:off x="8183896" y="1629221"/>
            <a:ext cx="320156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620"/>
          </a:p>
        </p:txBody>
      </p:sp>
      <p:sp>
        <p:nvSpPr>
          <p:cNvPr id="33" name="Text 23"/>
          <p:cNvSpPr/>
          <p:nvPr/>
        </p:nvSpPr>
        <p:spPr>
          <a:xfrm>
            <a:off x="4816971" y="1839516"/>
            <a:ext cx="3746004" cy="7590"/>
          </a:xfrm>
          <a:prstGeom prst="rect">
            <a:avLst/>
          </a:prstGeom>
          <a:solidFill>
            <a:srgbClr val="8899B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4" name="Text 24"/>
          <p:cNvSpPr/>
          <p:nvPr/>
        </p:nvSpPr>
        <p:spPr>
          <a:xfrm>
            <a:off x="4816971" y="1933426"/>
            <a:ext cx="1164949" cy="157460"/>
          </a:xfrm>
          <a:prstGeom prst="roundRect">
            <a:avLst>
              <a:gd name="adj" fmla="val 27423"/>
            </a:avLst>
          </a:prstGeom>
          <a:solidFill>
            <a:srgbClr val="00B4D8">
              <a:alpha val="10000"/>
            </a:srgbClr>
          </a:solidFill>
          <a:ln w="9525">
            <a:solidFill>
              <a:srgbClr val="00B4D8">
                <a:alpha val="18000"/>
              </a:srgbClr>
            </a:solidFill>
          </a:ln>
        </p:spPr>
        <p:txBody>
          <a:bodyPr wrap="none" lIns="149543" tIns="21590" rIns="71120" bIns="21590" rtlCol="0" anchor="ctr"/>
          <a:lstStyle/>
          <a:p>
            <a:pPr marL="0" indent="0" algn="l"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— 50 records</a:t>
            </a:r>
            <a:endParaRPr lang="en-US" sz="65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2624" y="1945862"/>
            <a:ext cx="132588" cy="13258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810432" y="2165152"/>
            <a:ext cx="66703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ProductID</a:t>
            </a:r>
            <a:endParaRPr lang="en-US" sz="620"/>
          </a:p>
        </p:txBody>
      </p:sp>
      <p:sp>
        <p:nvSpPr>
          <p:cNvPr id="37" name="Text 26"/>
          <p:cNvSpPr/>
          <p:nvPr/>
        </p:nvSpPr>
        <p:spPr>
          <a:xfrm>
            <a:off x="5486747" y="2165152"/>
            <a:ext cx="61739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ProductName</a:t>
            </a:r>
            <a:endParaRPr lang="en-US" sz="620"/>
          </a:p>
        </p:txBody>
      </p:sp>
      <p:sp>
        <p:nvSpPr>
          <p:cNvPr id="38" name="Text 27"/>
          <p:cNvSpPr/>
          <p:nvPr/>
        </p:nvSpPr>
        <p:spPr>
          <a:xfrm>
            <a:off x="6115366" y="2165152"/>
            <a:ext cx="468773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620"/>
          </a:p>
        </p:txBody>
      </p:sp>
      <p:sp>
        <p:nvSpPr>
          <p:cNvPr id="39" name="Text 28"/>
          <p:cNvSpPr/>
          <p:nvPr/>
        </p:nvSpPr>
        <p:spPr>
          <a:xfrm>
            <a:off x="6596339" y="2165152"/>
            <a:ext cx="518261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UnitPrice</a:t>
            </a:r>
            <a:endParaRPr lang="en-US" sz="620"/>
          </a:p>
        </p:txBody>
      </p:sp>
      <p:sp>
        <p:nvSpPr>
          <p:cNvPr id="40" name="Text 29"/>
          <p:cNvSpPr/>
          <p:nvPr/>
        </p:nvSpPr>
        <p:spPr>
          <a:xfrm>
            <a:off x="7124373" y="2165152"/>
            <a:ext cx="716518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SupplierID</a:t>
            </a:r>
            <a:endParaRPr lang="en-US" sz="620"/>
          </a:p>
        </p:txBody>
      </p:sp>
      <p:sp>
        <p:nvSpPr>
          <p:cNvPr id="41" name="Text 30"/>
          <p:cNvSpPr/>
          <p:nvPr/>
        </p:nvSpPr>
        <p:spPr>
          <a:xfrm>
            <a:off x="7849691" y="2165152"/>
            <a:ext cx="61739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620"/>
          </a:p>
        </p:txBody>
      </p:sp>
      <p:sp>
        <p:nvSpPr>
          <p:cNvPr id="42" name="Text 31"/>
          <p:cNvSpPr/>
          <p:nvPr/>
        </p:nvSpPr>
        <p:spPr>
          <a:xfrm>
            <a:off x="4813347" y="2291060"/>
            <a:ext cx="369644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620"/>
          </a:p>
        </p:txBody>
      </p:sp>
      <p:sp>
        <p:nvSpPr>
          <p:cNvPr id="43" name="Text 32"/>
          <p:cNvSpPr/>
          <p:nvPr/>
        </p:nvSpPr>
        <p:spPr>
          <a:xfrm>
            <a:off x="400050" y="2943076"/>
            <a:ext cx="4107805" cy="1942654"/>
          </a:xfrm>
          <a:prstGeom prst="roundRect">
            <a:avLst>
              <a:gd name="adj" fmla="val 5165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4" name="Text 33"/>
          <p:cNvSpPr/>
          <p:nvPr/>
        </p:nvSpPr>
        <p:spPr>
          <a:xfrm>
            <a:off x="581025" y="3110061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542" y="3172578"/>
            <a:ext cx="132588" cy="13258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925116" y="3167509"/>
            <a:ext cx="61620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960" b="1" kern="0" spc="1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</a:t>
            </a:r>
            <a:endParaRPr lang="en-US" sz="960"/>
          </a:p>
        </p:txBody>
      </p:sp>
      <p:sp>
        <p:nvSpPr>
          <p:cNvPr id="47" name="Text 35"/>
          <p:cNvSpPr/>
          <p:nvPr/>
        </p:nvSpPr>
        <p:spPr>
          <a:xfrm>
            <a:off x="581025" y="3468142"/>
            <a:ext cx="1178915" cy="157460"/>
          </a:xfrm>
          <a:prstGeom prst="roundRect">
            <a:avLst>
              <a:gd name="adj" fmla="val 27423"/>
            </a:avLst>
          </a:prstGeom>
          <a:solidFill>
            <a:srgbClr val="00B4D8">
              <a:alpha val="10000"/>
            </a:srgbClr>
          </a:solidFill>
          <a:ln w="9525">
            <a:solidFill>
              <a:srgbClr val="00B4D8">
                <a:alpha val="18000"/>
              </a:srgbClr>
            </a:solidFill>
          </a:ln>
        </p:spPr>
        <p:txBody>
          <a:bodyPr wrap="none" lIns="149543" tIns="21590" rIns="71120" bIns="21590" rtlCol="0" anchor="ctr"/>
          <a:lstStyle/>
          <a:p>
            <a:pPr marL="0" indent="0" algn="l"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— 50 records</a:t>
            </a:r>
            <a:endParaRPr lang="en-US" sz="65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678" y="3480578"/>
            <a:ext cx="132588" cy="13258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573515" y="3699867"/>
            <a:ext cx="766006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InventoryID</a:t>
            </a:r>
            <a:endParaRPr lang="en-US" sz="620"/>
          </a:p>
        </p:txBody>
      </p:sp>
      <p:sp>
        <p:nvSpPr>
          <p:cNvPr id="50" name="Text 37"/>
          <p:cNvSpPr/>
          <p:nvPr/>
        </p:nvSpPr>
        <p:spPr>
          <a:xfrm>
            <a:off x="1347350" y="3699867"/>
            <a:ext cx="66703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ProductID</a:t>
            </a:r>
            <a:endParaRPr lang="en-US" sz="620"/>
          </a:p>
        </p:txBody>
      </p:sp>
      <p:sp>
        <p:nvSpPr>
          <p:cNvPr id="51" name="Text 38"/>
          <p:cNvSpPr/>
          <p:nvPr/>
        </p:nvSpPr>
        <p:spPr>
          <a:xfrm>
            <a:off x="2022208" y="3699867"/>
            <a:ext cx="766006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QuantityOnHand</a:t>
            </a:r>
            <a:endParaRPr lang="en-US" sz="620"/>
          </a:p>
        </p:txBody>
      </p:sp>
      <p:sp>
        <p:nvSpPr>
          <p:cNvPr id="52" name="Text 39"/>
          <p:cNvSpPr/>
          <p:nvPr/>
        </p:nvSpPr>
        <p:spPr>
          <a:xfrm>
            <a:off x="2793614" y="3699867"/>
            <a:ext cx="914775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WarehouseLocation</a:t>
            </a:r>
            <a:endParaRPr lang="en-US" sz="620"/>
          </a:p>
        </p:txBody>
      </p:sp>
      <p:sp>
        <p:nvSpPr>
          <p:cNvPr id="53" name="Text 40"/>
          <p:cNvSpPr/>
          <p:nvPr/>
        </p:nvSpPr>
        <p:spPr>
          <a:xfrm>
            <a:off x="574487" y="3825776"/>
            <a:ext cx="666878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ReorderLevel</a:t>
            </a:r>
            <a:endParaRPr lang="en-US" sz="620"/>
          </a:p>
        </p:txBody>
      </p:sp>
      <p:sp>
        <p:nvSpPr>
          <p:cNvPr id="54" name="Text 41"/>
          <p:cNvSpPr/>
          <p:nvPr/>
        </p:nvSpPr>
        <p:spPr>
          <a:xfrm>
            <a:off x="1248708" y="3825776"/>
            <a:ext cx="815647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ReorderQuantity</a:t>
            </a:r>
            <a:endParaRPr lang="en-US" sz="620"/>
          </a:p>
        </p:txBody>
      </p:sp>
      <p:sp>
        <p:nvSpPr>
          <p:cNvPr id="55" name="Text 42"/>
          <p:cNvSpPr/>
          <p:nvPr/>
        </p:nvSpPr>
        <p:spPr>
          <a:xfrm>
            <a:off x="2072183" y="3825776"/>
            <a:ext cx="61739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LastUpdated</a:t>
            </a:r>
            <a:endParaRPr lang="en-US" sz="620"/>
          </a:p>
        </p:txBody>
      </p:sp>
      <p:sp>
        <p:nvSpPr>
          <p:cNvPr id="56" name="Text 43"/>
          <p:cNvSpPr/>
          <p:nvPr/>
        </p:nvSpPr>
        <p:spPr>
          <a:xfrm>
            <a:off x="581025" y="4079230"/>
            <a:ext cx="3745855" cy="7590"/>
          </a:xfrm>
          <a:prstGeom prst="rect">
            <a:avLst/>
          </a:prstGeom>
          <a:solidFill>
            <a:srgbClr val="8899B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7" name="Text 44"/>
          <p:cNvSpPr/>
          <p:nvPr/>
        </p:nvSpPr>
        <p:spPr>
          <a:xfrm>
            <a:off x="674936" y="4202311"/>
            <a:ext cx="342156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 across the Austin distribution center</a:t>
            </a:r>
            <a:endParaRPr lang="en-US" sz="70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7101" y="4204850"/>
            <a:ext cx="132588" cy="132588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4635996" y="2943076"/>
            <a:ext cx="4107954" cy="1942654"/>
          </a:xfrm>
          <a:prstGeom prst="roundRect">
            <a:avLst>
              <a:gd name="adj" fmla="val 5165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0" name="Text 46"/>
          <p:cNvSpPr/>
          <p:nvPr/>
        </p:nvSpPr>
        <p:spPr>
          <a:xfrm>
            <a:off x="4816971" y="3110061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79488" y="3172578"/>
            <a:ext cx="132588" cy="132588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5161062" y="3167509"/>
            <a:ext cx="19925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960" b="1" kern="0" spc="1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Shipping/Receiving &amp; Invoices</a:t>
            </a:r>
            <a:endParaRPr lang="en-US" sz="960"/>
          </a:p>
        </p:txBody>
      </p:sp>
      <p:sp>
        <p:nvSpPr>
          <p:cNvPr id="63" name="Text 48"/>
          <p:cNvSpPr/>
          <p:nvPr/>
        </p:nvSpPr>
        <p:spPr>
          <a:xfrm>
            <a:off x="4816971" y="3468142"/>
            <a:ext cx="1580742" cy="157460"/>
          </a:xfrm>
          <a:prstGeom prst="roundRect">
            <a:avLst>
              <a:gd name="adj" fmla="val 27423"/>
            </a:avLst>
          </a:prstGeom>
          <a:solidFill>
            <a:srgbClr val="00B4D8">
              <a:alpha val="10000"/>
            </a:srgbClr>
          </a:solidFill>
          <a:ln w="9525">
            <a:solidFill>
              <a:srgbClr val="00B4D8">
                <a:alpha val="18000"/>
              </a:srgbClr>
            </a:solidFill>
          </a:ln>
        </p:spPr>
        <p:txBody>
          <a:bodyPr wrap="none" lIns="149543" tIns="21590" rIns="71120" bIns="21590" rtlCol="0" anchor="ctr"/>
          <a:lstStyle/>
          <a:p>
            <a:pPr marL="0" indent="0" algn="l"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Shipping/Receiving — 30 records</a:t>
            </a:r>
            <a:endParaRPr lang="en-US" sz="650"/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52624" y="3480578"/>
            <a:ext cx="132588" cy="132588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4809946" y="3699867"/>
            <a:ext cx="716518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ShipRecvID</a:t>
            </a:r>
            <a:endParaRPr lang="en-US" sz="620"/>
          </a:p>
        </p:txBody>
      </p:sp>
      <p:sp>
        <p:nvSpPr>
          <p:cNvPr id="66" name="Text 50"/>
          <p:cNvSpPr/>
          <p:nvPr/>
        </p:nvSpPr>
        <p:spPr>
          <a:xfrm>
            <a:off x="5536237" y="3699867"/>
            <a:ext cx="518261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OrderType</a:t>
            </a:r>
            <a:endParaRPr lang="en-US" sz="620"/>
          </a:p>
        </p:txBody>
      </p:sp>
      <p:sp>
        <p:nvSpPr>
          <p:cNvPr id="67" name="Text 51"/>
          <p:cNvSpPr/>
          <p:nvPr/>
        </p:nvSpPr>
        <p:spPr>
          <a:xfrm>
            <a:off x="6064755" y="3699867"/>
            <a:ext cx="66703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ProductID</a:t>
            </a:r>
            <a:endParaRPr lang="en-US" sz="620"/>
          </a:p>
        </p:txBody>
      </p:sp>
      <p:sp>
        <p:nvSpPr>
          <p:cNvPr id="68" name="Text 52"/>
          <p:cNvSpPr/>
          <p:nvPr/>
        </p:nvSpPr>
        <p:spPr>
          <a:xfrm>
            <a:off x="6742527" y="3699867"/>
            <a:ext cx="468773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620"/>
          </a:p>
        </p:txBody>
      </p:sp>
      <p:sp>
        <p:nvSpPr>
          <p:cNvPr id="69" name="Text 53"/>
          <p:cNvSpPr/>
          <p:nvPr/>
        </p:nvSpPr>
        <p:spPr>
          <a:xfrm>
            <a:off x="7224473" y="3699867"/>
            <a:ext cx="419133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Carrier</a:t>
            </a:r>
            <a:endParaRPr lang="en-US" sz="620"/>
          </a:p>
        </p:txBody>
      </p:sp>
      <p:sp>
        <p:nvSpPr>
          <p:cNvPr id="70" name="Text 54"/>
          <p:cNvSpPr/>
          <p:nvPr/>
        </p:nvSpPr>
        <p:spPr>
          <a:xfrm>
            <a:off x="7655807" y="3699867"/>
            <a:ext cx="567901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TrackingNo</a:t>
            </a:r>
            <a:endParaRPr lang="en-US" sz="620"/>
          </a:p>
        </p:txBody>
      </p:sp>
      <p:sp>
        <p:nvSpPr>
          <p:cNvPr id="71" name="Text 55"/>
          <p:cNvSpPr/>
          <p:nvPr/>
        </p:nvSpPr>
        <p:spPr>
          <a:xfrm>
            <a:off x="4812375" y="3825776"/>
            <a:ext cx="468773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ShipDate</a:t>
            </a:r>
            <a:endParaRPr lang="en-US" sz="620"/>
          </a:p>
        </p:txBody>
      </p:sp>
      <p:sp>
        <p:nvSpPr>
          <p:cNvPr id="72" name="Text 56"/>
          <p:cNvSpPr/>
          <p:nvPr/>
        </p:nvSpPr>
        <p:spPr>
          <a:xfrm>
            <a:off x="5293834" y="3825776"/>
            <a:ext cx="468773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RecvDate</a:t>
            </a:r>
            <a:endParaRPr lang="en-US" sz="620"/>
          </a:p>
        </p:txBody>
      </p:sp>
      <p:sp>
        <p:nvSpPr>
          <p:cNvPr id="73" name="Text 57"/>
          <p:cNvSpPr/>
          <p:nvPr/>
        </p:nvSpPr>
        <p:spPr>
          <a:xfrm>
            <a:off x="5776265" y="3825776"/>
            <a:ext cx="369644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620"/>
          </a:p>
        </p:txBody>
      </p:sp>
      <p:sp>
        <p:nvSpPr>
          <p:cNvPr id="74" name="Text 58"/>
          <p:cNvSpPr/>
          <p:nvPr/>
        </p:nvSpPr>
        <p:spPr>
          <a:xfrm>
            <a:off x="4816971" y="4036070"/>
            <a:ext cx="3746004" cy="7590"/>
          </a:xfrm>
          <a:prstGeom prst="rect">
            <a:avLst/>
          </a:prstGeom>
          <a:solidFill>
            <a:srgbClr val="8899B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5" name="Text 59"/>
          <p:cNvSpPr/>
          <p:nvPr/>
        </p:nvSpPr>
        <p:spPr>
          <a:xfrm>
            <a:off x="4816971" y="4129980"/>
            <a:ext cx="1137017" cy="157460"/>
          </a:xfrm>
          <a:prstGeom prst="roundRect">
            <a:avLst>
              <a:gd name="adj" fmla="val 27423"/>
            </a:avLst>
          </a:prstGeom>
          <a:solidFill>
            <a:srgbClr val="00B4D8">
              <a:alpha val="10000"/>
            </a:srgbClr>
          </a:solidFill>
          <a:ln w="9525">
            <a:solidFill>
              <a:srgbClr val="00B4D8">
                <a:alpha val="18000"/>
              </a:srgbClr>
            </a:solidFill>
          </a:ln>
        </p:spPr>
        <p:txBody>
          <a:bodyPr wrap="none" lIns="149543" tIns="21590" rIns="71120" bIns="21590" rtlCol="0" anchor="ctr"/>
          <a:lstStyle/>
          <a:p>
            <a:pPr marL="0" indent="0" algn="l"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— 30 records</a:t>
            </a:r>
            <a:endParaRPr lang="en-US" sz="650"/>
          </a:p>
        </p:txBody>
      </p:sp>
      <p:pic>
        <p:nvPicPr>
          <p:cNvPr id="7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52624" y="4142417"/>
            <a:ext cx="132588" cy="132588"/>
          </a:xfrm>
          <a:prstGeom prst="rect">
            <a:avLst/>
          </a:prstGeom>
        </p:spPr>
      </p:pic>
      <p:sp>
        <p:nvSpPr>
          <p:cNvPr id="77" name="Text 60"/>
          <p:cNvSpPr/>
          <p:nvPr/>
        </p:nvSpPr>
        <p:spPr>
          <a:xfrm>
            <a:off x="4810432" y="4361706"/>
            <a:ext cx="66703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InvoiceID</a:t>
            </a:r>
            <a:endParaRPr lang="en-US" sz="620"/>
          </a:p>
        </p:txBody>
      </p:sp>
      <p:sp>
        <p:nvSpPr>
          <p:cNvPr id="78" name="Text 61"/>
          <p:cNvSpPr/>
          <p:nvPr/>
        </p:nvSpPr>
        <p:spPr>
          <a:xfrm>
            <a:off x="5485775" y="4361706"/>
            <a:ext cx="716518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SupplierID</a:t>
            </a:r>
            <a:endParaRPr lang="en-US" sz="620"/>
          </a:p>
        </p:txBody>
      </p:sp>
      <p:sp>
        <p:nvSpPr>
          <p:cNvPr id="79" name="Text 62"/>
          <p:cNvSpPr/>
          <p:nvPr/>
        </p:nvSpPr>
        <p:spPr>
          <a:xfrm>
            <a:off x="6211093" y="4361706"/>
            <a:ext cx="61739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InvoiceDate</a:t>
            </a:r>
            <a:endParaRPr lang="en-US" sz="620"/>
          </a:p>
        </p:txBody>
      </p:sp>
      <p:sp>
        <p:nvSpPr>
          <p:cNvPr id="80" name="Text 63"/>
          <p:cNvSpPr/>
          <p:nvPr/>
        </p:nvSpPr>
        <p:spPr>
          <a:xfrm>
            <a:off x="6840199" y="4361706"/>
            <a:ext cx="419133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DueDate</a:t>
            </a:r>
            <a:endParaRPr lang="en-US" sz="620"/>
          </a:p>
        </p:txBody>
      </p:sp>
      <p:sp>
        <p:nvSpPr>
          <p:cNvPr id="81" name="Text 64"/>
          <p:cNvSpPr/>
          <p:nvPr/>
        </p:nvSpPr>
        <p:spPr>
          <a:xfrm>
            <a:off x="7271047" y="4361706"/>
            <a:ext cx="617390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TotalAmount</a:t>
            </a:r>
            <a:endParaRPr lang="en-US" sz="620"/>
          </a:p>
        </p:txBody>
      </p:sp>
      <p:sp>
        <p:nvSpPr>
          <p:cNvPr id="82" name="Text 65"/>
          <p:cNvSpPr/>
          <p:nvPr/>
        </p:nvSpPr>
        <p:spPr>
          <a:xfrm>
            <a:off x="4809946" y="4487614"/>
            <a:ext cx="716518" cy="110430"/>
          </a:xfrm>
          <a:prstGeom prst="roundRect">
            <a:avLst>
              <a:gd name="adj" fmla="val 19551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PaymentStatus</a:t>
            </a:r>
            <a:endParaRPr lang="en-US" sz="620"/>
          </a:p>
        </p:txBody>
      </p:sp>
      <p:sp>
        <p:nvSpPr>
          <p:cNvPr id="83" name="Text 66"/>
          <p:cNvSpPr/>
          <p:nvPr/>
        </p:nvSpPr>
        <p:spPr>
          <a:xfrm>
            <a:off x="409575" y="881955"/>
            <a:ext cx="4088759" cy="21580"/>
          </a:xfrm>
          <a:custGeom>
            <a:avLst/>
            <a:gdLst/>
            <a:ahLst/>
            <a:cxnLst/>
            <a:rect l="l" t="t" r="r" b="b"/>
            <a:pathLst>
              <a:path w="4088759" h="21580">
                <a:moveTo>
                  <a:pt x="100330" y="0"/>
                </a:moveTo>
                <a:lnTo>
                  <a:pt x="3988429" y="0"/>
                </a:lnTo>
                <a:lnTo>
                  <a:pt x="4011537" y="2698"/>
                </a:lnTo>
                <a:lnTo>
                  <a:pt x="4020886" y="5395"/>
                </a:lnTo>
                <a:lnTo>
                  <a:pt x="4027905" y="8093"/>
                </a:lnTo>
                <a:lnTo>
                  <a:pt x="4033691" y="10790"/>
                </a:lnTo>
                <a:lnTo>
                  <a:pt x="4038673" y="13488"/>
                </a:lnTo>
                <a:lnTo>
                  <a:pt x="4043071" y="16185"/>
                </a:lnTo>
                <a:lnTo>
                  <a:pt x="4047016" y="18883"/>
                </a:lnTo>
                <a:lnTo>
                  <a:pt x="4050594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4" name="Text 67"/>
          <p:cNvSpPr/>
          <p:nvPr/>
        </p:nvSpPr>
        <p:spPr>
          <a:xfrm>
            <a:off x="4645521" y="881955"/>
            <a:ext cx="4088902" cy="21580"/>
          </a:xfrm>
          <a:custGeom>
            <a:avLst/>
            <a:gdLst/>
            <a:ahLst/>
            <a:cxnLst/>
            <a:rect l="l" t="t" r="r" b="b"/>
            <a:pathLst>
              <a:path w="4088902" h="21580">
                <a:moveTo>
                  <a:pt x="100330" y="0"/>
                </a:moveTo>
                <a:lnTo>
                  <a:pt x="3988572" y="0"/>
                </a:lnTo>
                <a:lnTo>
                  <a:pt x="4011680" y="2698"/>
                </a:lnTo>
                <a:lnTo>
                  <a:pt x="4021029" y="5395"/>
                </a:lnTo>
                <a:lnTo>
                  <a:pt x="4028048" y="8093"/>
                </a:lnTo>
                <a:lnTo>
                  <a:pt x="4033834" y="10790"/>
                </a:lnTo>
                <a:lnTo>
                  <a:pt x="4038816" y="13488"/>
                </a:lnTo>
                <a:lnTo>
                  <a:pt x="4043214" y="16185"/>
                </a:lnTo>
                <a:lnTo>
                  <a:pt x="4047159" y="18883"/>
                </a:lnTo>
                <a:lnTo>
                  <a:pt x="4050737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5" name="Text 68"/>
          <p:cNvSpPr/>
          <p:nvPr/>
        </p:nvSpPr>
        <p:spPr>
          <a:xfrm>
            <a:off x="409575" y="2952601"/>
            <a:ext cx="4088759" cy="21580"/>
          </a:xfrm>
          <a:custGeom>
            <a:avLst/>
            <a:gdLst/>
            <a:ahLst/>
            <a:cxnLst/>
            <a:rect l="l" t="t" r="r" b="b"/>
            <a:pathLst>
              <a:path w="4088759" h="21580">
                <a:moveTo>
                  <a:pt x="100330" y="0"/>
                </a:moveTo>
                <a:lnTo>
                  <a:pt x="3988429" y="0"/>
                </a:lnTo>
                <a:lnTo>
                  <a:pt x="4011537" y="2698"/>
                </a:lnTo>
                <a:lnTo>
                  <a:pt x="4020886" y="5395"/>
                </a:lnTo>
                <a:lnTo>
                  <a:pt x="4027905" y="8093"/>
                </a:lnTo>
                <a:lnTo>
                  <a:pt x="4033691" y="10790"/>
                </a:lnTo>
                <a:lnTo>
                  <a:pt x="4038673" y="13488"/>
                </a:lnTo>
                <a:lnTo>
                  <a:pt x="4043071" y="16185"/>
                </a:lnTo>
                <a:lnTo>
                  <a:pt x="4047016" y="18883"/>
                </a:lnTo>
                <a:lnTo>
                  <a:pt x="4050594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6" name="Text 69"/>
          <p:cNvSpPr/>
          <p:nvPr/>
        </p:nvSpPr>
        <p:spPr>
          <a:xfrm>
            <a:off x="4645521" y="2952601"/>
            <a:ext cx="4088902" cy="21580"/>
          </a:xfrm>
          <a:custGeom>
            <a:avLst/>
            <a:gdLst/>
            <a:ahLst/>
            <a:cxnLst/>
            <a:rect l="l" t="t" r="r" b="b"/>
            <a:pathLst>
              <a:path w="4088902" h="21580">
                <a:moveTo>
                  <a:pt x="100330" y="0"/>
                </a:moveTo>
                <a:lnTo>
                  <a:pt x="3988572" y="0"/>
                </a:lnTo>
                <a:lnTo>
                  <a:pt x="4011680" y="2698"/>
                </a:lnTo>
                <a:lnTo>
                  <a:pt x="4021029" y="5395"/>
                </a:lnTo>
                <a:lnTo>
                  <a:pt x="4028048" y="8093"/>
                </a:lnTo>
                <a:lnTo>
                  <a:pt x="4033834" y="10790"/>
                </a:lnTo>
                <a:lnTo>
                  <a:pt x="4038816" y="13488"/>
                </a:lnTo>
                <a:lnTo>
                  <a:pt x="4043214" y="16185"/>
                </a:lnTo>
                <a:lnTo>
                  <a:pt x="4047159" y="18883"/>
                </a:lnTo>
                <a:lnTo>
                  <a:pt x="4050737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00427-7839-24E9-66A9-E824F2A6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CF103E-0200-2198-4D6B-3102153C3297}"/>
              </a:ext>
            </a:extLst>
          </p:cNvPr>
          <p:cNvSpPr/>
          <p:nvPr/>
        </p:nvSpPr>
        <p:spPr>
          <a:xfrm>
            <a:off x="457200" y="357336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EC0D3B4-BE55-E3BA-D840-92FD8DA8A8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147" y="459284"/>
            <a:ext cx="139005" cy="13900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5E8F2EE-315B-FC1A-452C-B0D8830C4417}"/>
              </a:ext>
            </a:extLst>
          </p:cNvPr>
          <p:cNvSpPr/>
          <p:nvPr/>
        </p:nvSpPr>
        <p:spPr>
          <a:xfrm>
            <a:off x="914400" y="299591"/>
            <a:ext cx="3882420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kern="0" spc="-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 Schema &amp; Relationships</a:t>
            </a:r>
            <a:endParaRPr lang="en-US" sz="191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B58E25C-FBE6-A3CF-CE7B-A35CA2AE4865}"/>
              </a:ext>
            </a:extLst>
          </p:cNvPr>
          <p:cNvSpPr/>
          <p:nvPr/>
        </p:nvSpPr>
        <p:spPr>
          <a:xfrm>
            <a:off x="914400" y="607665"/>
            <a:ext cx="399127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kern="0" spc="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enforced through foreign key constraints</a:t>
            </a:r>
            <a:endParaRPr lang="en-US" sz="790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7522F0BC-239B-49E6-6315-B58E6C791012}"/>
              </a:ext>
            </a:extLst>
          </p:cNvPr>
          <p:cNvSpPr/>
          <p:nvPr/>
        </p:nvSpPr>
        <p:spPr>
          <a:xfrm>
            <a:off x="0" y="4803874"/>
            <a:ext cx="9144000" cy="339626"/>
          </a:xfrm>
          <a:prstGeom prst="rect">
            <a:avLst/>
          </a:prstGeom>
          <a:solidFill>
            <a:srgbClr val="162032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8" name="Text 38">
            <a:extLst>
              <a:ext uri="{FF2B5EF4-FFF2-40B4-BE49-F238E27FC236}">
                <a16:creationId xmlns:a16="http://schemas.microsoft.com/office/drawing/2014/main" id="{2838F65C-92D2-4720-E934-EA630BE8479D}"/>
              </a:ext>
            </a:extLst>
          </p:cNvPr>
          <p:cNvSpPr/>
          <p:nvPr/>
        </p:nvSpPr>
        <p:spPr>
          <a:xfrm>
            <a:off x="0" y="4803874"/>
            <a:ext cx="9144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9" name="Image 8" descr="preencoded.png">
            <a:extLst>
              <a:ext uri="{FF2B5EF4-FFF2-40B4-BE49-F238E27FC236}">
                <a16:creationId xmlns:a16="http://schemas.microsoft.com/office/drawing/2014/main" id="{613DA3B3-4B46-DB7F-2627-12C44FA293F3}"/>
              </a:ext>
            </a:extLst>
          </p:cNvPr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1590" y="4912081"/>
            <a:ext cx="132588" cy="132588"/>
          </a:xfrm>
          <a:prstGeom prst="rect">
            <a:avLst/>
          </a:prstGeom>
        </p:spPr>
      </p:pic>
      <p:sp>
        <p:nvSpPr>
          <p:cNvPr id="50" name="Text 39">
            <a:extLst>
              <a:ext uri="{FF2B5EF4-FFF2-40B4-BE49-F238E27FC236}">
                <a16:creationId xmlns:a16="http://schemas.microsoft.com/office/drawing/2014/main" id="{8C481DBC-6DE2-058D-BAC6-50874A8EDE2D}"/>
              </a:ext>
            </a:extLst>
          </p:cNvPr>
          <p:cNvSpPr/>
          <p:nvPr/>
        </p:nvSpPr>
        <p:spPr>
          <a:xfrm>
            <a:off x="1382613" y="4913709"/>
            <a:ext cx="206472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designed in Third Normal Form (3NF)</a:t>
            </a:r>
            <a:endParaRPr lang="en-US" sz="680"/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F07CC48C-B016-2231-0149-F8277C84E832}"/>
              </a:ext>
            </a:extLst>
          </p:cNvPr>
          <p:cNvSpPr/>
          <p:nvPr/>
        </p:nvSpPr>
        <p:spPr>
          <a:xfrm>
            <a:off x="3488234" y="4921300"/>
            <a:ext cx="7590" cy="1143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2" name="Image 9" descr="preencoded.png">
            <a:extLst>
              <a:ext uri="{FF2B5EF4-FFF2-40B4-BE49-F238E27FC236}">
                <a16:creationId xmlns:a16="http://schemas.microsoft.com/office/drawing/2014/main" id="{7EF21E35-2C24-4469-9EEC-73FB90D5CE17}"/>
              </a:ext>
            </a:extLst>
          </p:cNvPr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5709" y="4912081"/>
            <a:ext cx="132588" cy="132588"/>
          </a:xfrm>
          <a:prstGeom prst="rect">
            <a:avLst/>
          </a:prstGeom>
        </p:spPr>
      </p:pic>
      <p:sp>
        <p:nvSpPr>
          <p:cNvPr id="53" name="Text 41">
            <a:extLst>
              <a:ext uri="{FF2B5EF4-FFF2-40B4-BE49-F238E27FC236}">
                <a16:creationId xmlns:a16="http://schemas.microsoft.com/office/drawing/2014/main" id="{4F005A9A-69E1-34DA-84E8-6E6BB8B021B4}"/>
              </a:ext>
            </a:extLst>
          </p:cNvPr>
          <p:cNvSpPr/>
          <p:nvPr/>
        </p:nvSpPr>
        <p:spPr>
          <a:xfrm>
            <a:off x="3856732" y="4913709"/>
            <a:ext cx="204442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submitted for instructor review &amp; sign-off</a:t>
            </a:r>
            <a:endParaRPr lang="en-US" sz="680"/>
          </a:p>
        </p:txBody>
      </p:sp>
      <p:sp>
        <p:nvSpPr>
          <p:cNvPr id="54" name="Text 42">
            <a:extLst>
              <a:ext uri="{FF2B5EF4-FFF2-40B4-BE49-F238E27FC236}">
                <a16:creationId xmlns:a16="http://schemas.microsoft.com/office/drawing/2014/main" id="{4CEA2C98-1F34-22C7-D386-3E55AE1D32F4}"/>
              </a:ext>
            </a:extLst>
          </p:cNvPr>
          <p:cNvSpPr/>
          <p:nvPr/>
        </p:nvSpPr>
        <p:spPr>
          <a:xfrm>
            <a:off x="5943898" y="4921300"/>
            <a:ext cx="7590" cy="1143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5" name="Image 10" descr="preencoded.png">
            <a:extLst>
              <a:ext uri="{FF2B5EF4-FFF2-40B4-BE49-F238E27FC236}">
                <a16:creationId xmlns:a16="http://schemas.microsoft.com/office/drawing/2014/main" id="{F5F191A2-7259-C292-9450-17EF59D08C34}"/>
              </a:ext>
            </a:extLst>
          </p:cNvPr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1373" y="4912081"/>
            <a:ext cx="132588" cy="132588"/>
          </a:xfrm>
          <a:prstGeom prst="rect">
            <a:avLst/>
          </a:prstGeom>
        </p:spPr>
      </p:pic>
      <p:sp>
        <p:nvSpPr>
          <p:cNvPr id="56" name="Text 43">
            <a:extLst>
              <a:ext uri="{FF2B5EF4-FFF2-40B4-BE49-F238E27FC236}">
                <a16:creationId xmlns:a16="http://schemas.microsoft.com/office/drawing/2014/main" id="{EA62E370-01BF-21BE-40F5-F854E412F004}"/>
              </a:ext>
            </a:extLst>
          </p:cNvPr>
          <p:cNvSpPr/>
          <p:nvPr/>
        </p:nvSpPr>
        <p:spPr>
          <a:xfrm>
            <a:off x="6312396" y="4913709"/>
            <a:ext cx="17392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PKs, FKs, and constraints documented</a:t>
            </a:r>
            <a:endParaRPr lang="en-US" sz="68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0EA9DDB2-8A6F-8727-0B22-4EC5DD520F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23838"/>
            <a:ext cx="7914757" cy="365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34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7336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147" y="459284"/>
            <a:ext cx="139005" cy="139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99591"/>
            <a:ext cx="3882420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kern="0" spc="-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 Schema &amp; Relationships</a:t>
            </a:r>
            <a:endParaRPr lang="en-US" sz="1910"/>
          </a:p>
        </p:txBody>
      </p:sp>
      <p:sp>
        <p:nvSpPr>
          <p:cNvPr id="5" name="Text 2"/>
          <p:cNvSpPr/>
          <p:nvPr/>
        </p:nvSpPr>
        <p:spPr>
          <a:xfrm>
            <a:off x="914400" y="607665"/>
            <a:ext cx="399127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kern="0" spc="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enforced through foreign key constraints</a:t>
            </a:r>
            <a:endParaRPr lang="en-US" sz="790"/>
          </a:p>
        </p:txBody>
      </p:sp>
      <p:sp>
        <p:nvSpPr>
          <p:cNvPr id="6" name="Text 3"/>
          <p:cNvSpPr/>
          <p:nvPr/>
        </p:nvSpPr>
        <p:spPr>
          <a:xfrm>
            <a:off x="372070" y="958751"/>
            <a:ext cx="1949500" cy="1804839"/>
          </a:xfrm>
          <a:prstGeom prst="roundRect">
            <a:avLst>
              <a:gd name="adj" fmla="val 55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9055" y="1125736"/>
            <a:ext cx="242441" cy="266685"/>
          </a:xfrm>
          <a:prstGeom prst="ellipse">
            <a:avLst/>
          </a:prstGeom>
          <a:solidFill>
            <a:srgbClr val="00B4D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204" y="1180662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055" y="1468487"/>
            <a:ext cx="17770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230"/>
              </a:spcAft>
              <a:buNone/>
            </a:pPr>
            <a:r>
              <a:rPr lang="en-US" sz="730" b="1" kern="0" spc="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→ PRODUCTS</a:t>
            </a:r>
            <a:endParaRPr lang="en-US" sz="730"/>
          </a:p>
        </p:txBody>
      </p:sp>
      <p:sp>
        <p:nvSpPr>
          <p:cNvPr id="10" name="Text 6"/>
          <p:cNvSpPr/>
          <p:nvPr/>
        </p:nvSpPr>
        <p:spPr>
          <a:xfrm>
            <a:off x="539055" y="1636663"/>
            <a:ext cx="17770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60"/>
              </a:spcAft>
              <a:buNone/>
            </a:pPr>
            <a:r>
              <a:rPr lang="en-US" sz="84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840"/>
          </a:p>
        </p:txBody>
      </p:sp>
      <p:sp>
        <p:nvSpPr>
          <p:cNvPr id="11" name="Text 7"/>
          <p:cNvSpPr/>
          <p:nvPr/>
        </p:nvSpPr>
        <p:spPr>
          <a:xfrm>
            <a:off x="539055" y="1910804"/>
            <a:ext cx="35421" cy="35421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3888" y="1867644"/>
            <a:ext cx="148878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SupplierID foreign key</a:t>
            </a:r>
            <a:endParaRPr lang="en-US" sz="730"/>
          </a:p>
        </p:txBody>
      </p:sp>
      <p:sp>
        <p:nvSpPr>
          <p:cNvPr id="13" name="Text 9"/>
          <p:cNvSpPr/>
          <p:nvPr/>
        </p:nvSpPr>
        <p:spPr>
          <a:xfrm>
            <a:off x="539055" y="2088356"/>
            <a:ext cx="35421" cy="35421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23888" y="2045196"/>
            <a:ext cx="1561311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supplier can provide multiple products</a:t>
            </a:r>
            <a:endParaRPr lang="en-US" sz="730"/>
          </a:p>
        </p:txBody>
      </p:sp>
      <p:sp>
        <p:nvSpPr>
          <p:cNvPr id="15" name="Text 11"/>
          <p:cNvSpPr/>
          <p:nvPr/>
        </p:nvSpPr>
        <p:spPr>
          <a:xfrm>
            <a:off x="539055" y="2400300"/>
            <a:ext cx="35421" cy="35421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3888" y="2357140"/>
            <a:ext cx="1561311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enforced with CASCADE on update</a:t>
            </a:r>
            <a:endParaRPr lang="en-US" sz="73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5512" y="1794876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22190" y="958751"/>
            <a:ext cx="1949500" cy="1804839"/>
          </a:xfrm>
          <a:prstGeom prst="roundRect">
            <a:avLst>
              <a:gd name="adj" fmla="val 55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2689175" y="1125736"/>
            <a:ext cx="242441" cy="266685"/>
          </a:xfrm>
          <a:prstGeom prst="ellipse">
            <a:avLst/>
          </a:prstGeom>
          <a:solidFill>
            <a:srgbClr val="F4A261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5324" y="1180662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689175" y="1468487"/>
            <a:ext cx="17770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230"/>
              </a:spcAft>
              <a:buNone/>
            </a:pPr>
            <a:r>
              <a:rPr lang="en-US" sz="730" b="1" kern="0" spc="3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INVENTORY</a:t>
            </a:r>
            <a:endParaRPr lang="en-US" sz="730"/>
          </a:p>
        </p:txBody>
      </p:sp>
      <p:sp>
        <p:nvSpPr>
          <p:cNvPr id="22" name="Text 16"/>
          <p:cNvSpPr/>
          <p:nvPr/>
        </p:nvSpPr>
        <p:spPr>
          <a:xfrm>
            <a:off x="2689175" y="1636663"/>
            <a:ext cx="17770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60"/>
              </a:spcAft>
              <a:buNone/>
            </a:pPr>
            <a:r>
              <a:rPr lang="en-US" sz="84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/ One-to-Many</a:t>
            </a:r>
            <a:endParaRPr lang="en-US" sz="840"/>
          </a:p>
        </p:txBody>
      </p:sp>
      <p:sp>
        <p:nvSpPr>
          <p:cNvPr id="23" name="Text 17"/>
          <p:cNvSpPr/>
          <p:nvPr/>
        </p:nvSpPr>
        <p:spPr>
          <a:xfrm>
            <a:off x="2689175" y="1910804"/>
            <a:ext cx="35421" cy="35421"/>
          </a:xfrm>
          <a:prstGeom prst="ellipse">
            <a:avLst/>
          </a:prstGeom>
          <a:solidFill>
            <a:srgbClr val="F4A261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2774007" y="1867644"/>
            <a:ext cx="146603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ProductID foreign key</a:t>
            </a:r>
            <a:endParaRPr lang="en-US" sz="730"/>
          </a:p>
        </p:txBody>
      </p:sp>
      <p:sp>
        <p:nvSpPr>
          <p:cNvPr id="25" name="Text 19"/>
          <p:cNvSpPr/>
          <p:nvPr/>
        </p:nvSpPr>
        <p:spPr>
          <a:xfrm>
            <a:off x="2689175" y="2088356"/>
            <a:ext cx="35421" cy="35421"/>
          </a:xfrm>
          <a:prstGeom prst="ellipse">
            <a:avLst/>
          </a:prstGeom>
          <a:solidFill>
            <a:srgbClr val="F4A261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2774007" y="2045196"/>
            <a:ext cx="1561311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quantity, location, and reorder levels</a:t>
            </a:r>
            <a:endParaRPr lang="en-US" sz="730"/>
          </a:p>
        </p:txBody>
      </p:sp>
      <p:sp>
        <p:nvSpPr>
          <p:cNvPr id="27" name="Text 21"/>
          <p:cNvSpPr/>
          <p:nvPr/>
        </p:nvSpPr>
        <p:spPr>
          <a:xfrm>
            <a:off x="2689175" y="2400300"/>
            <a:ext cx="35421" cy="35421"/>
          </a:xfrm>
          <a:prstGeom prst="ellipse">
            <a:avLst/>
          </a:prstGeom>
          <a:solidFill>
            <a:srgbClr val="F4A261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2774007" y="2357140"/>
            <a:ext cx="1561311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tracked in inventory records</a:t>
            </a:r>
            <a:endParaRPr lang="en-US" sz="73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5632" y="1794876"/>
            <a:ext cx="132588" cy="1325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72310" y="958751"/>
            <a:ext cx="1949500" cy="1804839"/>
          </a:xfrm>
          <a:prstGeom prst="roundRect">
            <a:avLst>
              <a:gd name="adj" fmla="val 55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930825" y="1166961"/>
            <a:ext cx="653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5444" y="1180662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839295" y="1468487"/>
            <a:ext cx="17770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230"/>
              </a:spcAft>
              <a:buNone/>
            </a:pPr>
            <a:r>
              <a:rPr lang="en-US" sz="730" b="1" kern="0" spc="3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SHIPPING</a:t>
            </a:r>
            <a:endParaRPr lang="en-US" sz="730"/>
          </a:p>
        </p:txBody>
      </p:sp>
      <p:sp>
        <p:nvSpPr>
          <p:cNvPr id="34" name="Text 26"/>
          <p:cNvSpPr/>
          <p:nvPr/>
        </p:nvSpPr>
        <p:spPr>
          <a:xfrm>
            <a:off x="4839295" y="1636663"/>
            <a:ext cx="17770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60"/>
              </a:spcAft>
              <a:buNone/>
            </a:pPr>
            <a:r>
              <a:rPr lang="en-US" sz="84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840"/>
          </a:p>
        </p:txBody>
      </p:sp>
      <p:sp>
        <p:nvSpPr>
          <p:cNvPr id="35" name="Text 27"/>
          <p:cNvSpPr/>
          <p:nvPr/>
        </p:nvSpPr>
        <p:spPr>
          <a:xfrm>
            <a:off x="4924127" y="1867644"/>
            <a:ext cx="146603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ProductID foreign key</a:t>
            </a:r>
            <a:endParaRPr lang="en-US" sz="730"/>
          </a:p>
        </p:txBody>
      </p:sp>
      <p:sp>
        <p:nvSpPr>
          <p:cNvPr id="36" name="Text 28"/>
          <p:cNvSpPr/>
          <p:nvPr/>
        </p:nvSpPr>
        <p:spPr>
          <a:xfrm>
            <a:off x="4924127" y="2045196"/>
            <a:ext cx="1561311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inbound &amp; outbound shipments</a:t>
            </a:r>
            <a:endParaRPr lang="en-US" sz="730"/>
          </a:p>
        </p:txBody>
      </p:sp>
      <p:sp>
        <p:nvSpPr>
          <p:cNvPr id="37" name="Text 29"/>
          <p:cNvSpPr/>
          <p:nvPr/>
        </p:nvSpPr>
        <p:spPr>
          <a:xfrm>
            <a:off x="4924127" y="2357140"/>
            <a:ext cx="1561311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Chicago and Milwaukee locations</a:t>
            </a:r>
            <a:endParaRPr lang="en-US" sz="73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5752" y="1794876"/>
            <a:ext cx="132588" cy="1325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22430" y="958751"/>
            <a:ext cx="1949500" cy="1804839"/>
          </a:xfrm>
          <a:prstGeom prst="roundRect">
            <a:avLst>
              <a:gd name="adj" fmla="val 5559"/>
            </a:avLst>
          </a:prstGeom>
          <a:solidFill>
            <a:srgbClr val="16203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0" name="Text 31"/>
          <p:cNvSpPr/>
          <p:nvPr/>
        </p:nvSpPr>
        <p:spPr>
          <a:xfrm>
            <a:off x="7080945" y="1166961"/>
            <a:ext cx="653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4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5564" y="1180662"/>
            <a:ext cx="132588" cy="13258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89415" y="1468487"/>
            <a:ext cx="17770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230"/>
              </a:spcAft>
              <a:buNone/>
            </a:pPr>
            <a:r>
              <a:rPr lang="en-US" sz="730" b="1" kern="0" spc="3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→ INVOICES</a:t>
            </a:r>
            <a:endParaRPr lang="en-US" sz="730"/>
          </a:p>
        </p:txBody>
      </p:sp>
      <p:sp>
        <p:nvSpPr>
          <p:cNvPr id="43" name="Text 33"/>
          <p:cNvSpPr/>
          <p:nvPr/>
        </p:nvSpPr>
        <p:spPr>
          <a:xfrm>
            <a:off x="6989415" y="1636663"/>
            <a:ext cx="177708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60"/>
              </a:spcAft>
              <a:buNone/>
            </a:pPr>
            <a:r>
              <a:rPr lang="en-US" sz="84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840"/>
          </a:p>
        </p:txBody>
      </p:sp>
      <p:sp>
        <p:nvSpPr>
          <p:cNvPr id="44" name="Text 34"/>
          <p:cNvSpPr/>
          <p:nvPr/>
        </p:nvSpPr>
        <p:spPr>
          <a:xfrm>
            <a:off x="7074247" y="1867644"/>
            <a:ext cx="148878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SupplierID foreign key</a:t>
            </a:r>
            <a:endParaRPr lang="en-US" sz="730"/>
          </a:p>
        </p:txBody>
      </p:sp>
      <p:sp>
        <p:nvSpPr>
          <p:cNvPr id="45" name="Text 35"/>
          <p:cNvSpPr/>
          <p:nvPr/>
        </p:nvSpPr>
        <p:spPr>
          <a:xfrm>
            <a:off x="7074247" y="2045196"/>
            <a:ext cx="1561311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invoices per supplier for parts purchased</a:t>
            </a:r>
            <a:endParaRPr lang="en-US" sz="730"/>
          </a:p>
        </p:txBody>
      </p:sp>
      <p:sp>
        <p:nvSpPr>
          <p:cNvPr id="46" name="Text 36"/>
          <p:cNvSpPr/>
          <p:nvPr/>
        </p:nvSpPr>
        <p:spPr>
          <a:xfrm>
            <a:off x="7074247" y="2357140"/>
            <a:ext cx="1561311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payment status and due dates</a:t>
            </a:r>
            <a:endParaRPr lang="en-US" sz="730"/>
          </a:p>
        </p:txBody>
      </p:sp>
      <p:sp>
        <p:nvSpPr>
          <p:cNvPr id="47" name="Text 37"/>
          <p:cNvSpPr/>
          <p:nvPr/>
        </p:nvSpPr>
        <p:spPr>
          <a:xfrm>
            <a:off x="0" y="4803874"/>
            <a:ext cx="9144000" cy="339626"/>
          </a:xfrm>
          <a:prstGeom prst="rect">
            <a:avLst/>
          </a:prstGeom>
          <a:solidFill>
            <a:srgbClr val="162032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8" name="Text 38"/>
          <p:cNvSpPr/>
          <p:nvPr/>
        </p:nvSpPr>
        <p:spPr>
          <a:xfrm>
            <a:off x="0" y="4803874"/>
            <a:ext cx="9144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1590" y="4912081"/>
            <a:ext cx="132588" cy="13258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1382613" y="4913709"/>
            <a:ext cx="206472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designed in Third Normal Form (3NF)</a:t>
            </a:r>
            <a:endParaRPr lang="en-US" sz="680"/>
          </a:p>
        </p:txBody>
      </p:sp>
      <p:sp>
        <p:nvSpPr>
          <p:cNvPr id="51" name="Text 40"/>
          <p:cNvSpPr/>
          <p:nvPr/>
        </p:nvSpPr>
        <p:spPr>
          <a:xfrm>
            <a:off x="3488234" y="4921300"/>
            <a:ext cx="7590" cy="1143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95709" y="4912081"/>
            <a:ext cx="132588" cy="13258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3856732" y="4913709"/>
            <a:ext cx="204442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submitted for instructor review &amp; sign-off</a:t>
            </a:r>
            <a:endParaRPr lang="en-US" sz="680"/>
          </a:p>
        </p:txBody>
      </p:sp>
      <p:sp>
        <p:nvSpPr>
          <p:cNvPr id="54" name="Text 42"/>
          <p:cNvSpPr/>
          <p:nvPr/>
        </p:nvSpPr>
        <p:spPr>
          <a:xfrm>
            <a:off x="5943898" y="4921300"/>
            <a:ext cx="7590" cy="1143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51373" y="4912081"/>
            <a:ext cx="132588" cy="132588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312396" y="4913709"/>
            <a:ext cx="17392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PKs, FKs, and constraints documented</a:t>
            </a:r>
            <a:endParaRPr lang="en-US" sz="680"/>
          </a:p>
        </p:txBody>
      </p:sp>
      <p:sp>
        <p:nvSpPr>
          <p:cNvPr id="57" name="Text 44"/>
          <p:cNvSpPr/>
          <p:nvPr/>
        </p:nvSpPr>
        <p:spPr>
          <a:xfrm>
            <a:off x="381595" y="968276"/>
            <a:ext cx="1930451" cy="29170"/>
          </a:xfrm>
          <a:custGeom>
            <a:avLst/>
            <a:gdLst/>
            <a:ahLst/>
            <a:cxnLst/>
            <a:rect l="l" t="t" r="r" b="b"/>
            <a:pathLst>
              <a:path w="1930451" h="29170">
                <a:moveTo>
                  <a:pt x="100330" y="0"/>
                </a:moveTo>
                <a:lnTo>
                  <a:pt x="1830121" y="0"/>
                </a:lnTo>
                <a:lnTo>
                  <a:pt x="1830121" y="0"/>
                </a:lnTo>
                <a:lnTo>
                  <a:pt x="1849694" y="1928"/>
                </a:lnTo>
                <a:lnTo>
                  <a:pt x="1868516" y="7637"/>
                </a:lnTo>
                <a:lnTo>
                  <a:pt x="1885861" y="16909"/>
                </a:lnTo>
                <a:lnTo>
                  <a:pt x="1901065" y="29170"/>
                </a:lnTo>
                <a:lnTo>
                  <a:pt x="1913542" y="29170"/>
                </a:lnTo>
                <a:lnTo>
                  <a:pt x="1922814" y="29170"/>
                </a:lnTo>
                <a:lnTo>
                  <a:pt x="1928523" y="29170"/>
                </a:lnTo>
                <a:lnTo>
                  <a:pt x="1930451" y="29170"/>
                </a:lnTo>
                <a:lnTo>
                  <a:pt x="1930451" y="29170"/>
                </a:lnTo>
                <a:lnTo>
                  <a:pt x="0" y="29170"/>
                </a:lnTo>
                <a:lnTo>
                  <a:pt x="0" y="100330"/>
                </a:lnTo>
                <a:lnTo>
                  <a:pt x="100330" y="0"/>
                </a:lnTo>
                <a:lnTo>
                  <a:pt x="80756" y="1928"/>
                </a:lnTo>
                <a:lnTo>
                  <a:pt x="61935" y="7637"/>
                </a:lnTo>
                <a:lnTo>
                  <a:pt x="44589" y="16909"/>
                </a:lnTo>
                <a:lnTo>
                  <a:pt x="29386" y="29170"/>
                </a:lnTo>
                <a:lnTo>
                  <a:pt x="16909" y="29170"/>
                </a:lnTo>
                <a:lnTo>
                  <a:pt x="7637" y="29170"/>
                </a:lnTo>
                <a:lnTo>
                  <a:pt x="1928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8" name="Text 45"/>
          <p:cNvSpPr/>
          <p:nvPr/>
        </p:nvSpPr>
        <p:spPr>
          <a:xfrm>
            <a:off x="2531715" y="968276"/>
            <a:ext cx="1930451" cy="29170"/>
          </a:xfrm>
          <a:custGeom>
            <a:avLst/>
            <a:gdLst/>
            <a:ahLst/>
            <a:cxnLst/>
            <a:rect l="l" t="t" r="r" b="b"/>
            <a:pathLst>
              <a:path w="1930451" h="29170">
                <a:moveTo>
                  <a:pt x="100330" y="0"/>
                </a:moveTo>
                <a:lnTo>
                  <a:pt x="1830121" y="0"/>
                </a:lnTo>
                <a:lnTo>
                  <a:pt x="1830121" y="0"/>
                </a:lnTo>
                <a:lnTo>
                  <a:pt x="1849694" y="1928"/>
                </a:lnTo>
                <a:lnTo>
                  <a:pt x="1868516" y="7637"/>
                </a:lnTo>
                <a:lnTo>
                  <a:pt x="1885861" y="16909"/>
                </a:lnTo>
                <a:lnTo>
                  <a:pt x="1901065" y="29170"/>
                </a:lnTo>
                <a:lnTo>
                  <a:pt x="1913542" y="29170"/>
                </a:lnTo>
                <a:lnTo>
                  <a:pt x="1922814" y="29170"/>
                </a:lnTo>
                <a:lnTo>
                  <a:pt x="1928523" y="29170"/>
                </a:lnTo>
                <a:lnTo>
                  <a:pt x="1930451" y="29170"/>
                </a:lnTo>
                <a:lnTo>
                  <a:pt x="1930451" y="29170"/>
                </a:lnTo>
                <a:lnTo>
                  <a:pt x="0" y="29170"/>
                </a:lnTo>
                <a:lnTo>
                  <a:pt x="0" y="100330"/>
                </a:lnTo>
                <a:lnTo>
                  <a:pt x="100330" y="0"/>
                </a:lnTo>
                <a:lnTo>
                  <a:pt x="80756" y="1928"/>
                </a:lnTo>
                <a:lnTo>
                  <a:pt x="61935" y="7637"/>
                </a:lnTo>
                <a:lnTo>
                  <a:pt x="44589" y="16909"/>
                </a:lnTo>
                <a:lnTo>
                  <a:pt x="29386" y="29170"/>
                </a:lnTo>
                <a:lnTo>
                  <a:pt x="16909" y="29170"/>
                </a:lnTo>
                <a:lnTo>
                  <a:pt x="7637" y="29170"/>
                </a:lnTo>
                <a:lnTo>
                  <a:pt x="1928" y="29170"/>
                </a:lnTo>
                <a:lnTo>
                  <a:pt x="0" y="29170"/>
                </a:lnTo>
                <a:close/>
              </a:path>
            </a:pathLst>
          </a:custGeom>
          <a:solidFill>
            <a:srgbClr val="F4A26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7625" y="285750"/>
            <a:ext cx="142875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863" y="285750"/>
            <a:ext cx="905027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340"/>
              </a:spcAft>
              <a:buNone/>
            </a:pPr>
            <a:r>
              <a:rPr lang="en-US" sz="1800" kern="0" spc="-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 Security </a:t>
            </a:r>
            <a:r>
              <a:rPr lang="en-US" sz="1800" b="1" kern="0" spc="-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</a:t>
            </a:r>
            <a:r>
              <a:rPr lang="en-US" sz="1800" kern="0" spc="-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Permissions Matrix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-80010" y="671810"/>
            <a:ext cx="930402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access controls aligned with organizational roles and compliance requirements</a:t>
            </a:r>
            <a:endParaRPr lang="en-US" sz="790"/>
          </a:p>
        </p:txBody>
      </p:sp>
      <p:sp>
        <p:nvSpPr>
          <p:cNvPr id="5" name="Text 3"/>
          <p:cNvSpPr/>
          <p:nvPr/>
        </p:nvSpPr>
        <p:spPr>
          <a:xfrm>
            <a:off x="342900" y="1022896"/>
            <a:ext cx="3854351" cy="3588693"/>
          </a:xfrm>
          <a:prstGeom prst="roundRect">
            <a:avLst>
              <a:gd name="adj" fmla="val 2796"/>
            </a:avLst>
          </a:prstGeom>
          <a:solidFill>
            <a:srgbClr val="162032"/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3875" y="1619101"/>
            <a:ext cx="3492401" cy="9525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3875" y="123304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82" y="1309548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5945" y="1279624"/>
            <a:ext cx="155918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 Security Plan</a:t>
            </a:r>
            <a:endParaRPr lang="en-US" sz="1010"/>
          </a:p>
        </p:txBody>
      </p:sp>
      <p:sp>
        <p:nvSpPr>
          <p:cNvPr id="10" name="Text 7"/>
          <p:cNvSpPr/>
          <p:nvPr/>
        </p:nvSpPr>
        <p:spPr>
          <a:xfrm>
            <a:off x="523875" y="1785938"/>
            <a:ext cx="157460" cy="173206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/>
          </a:p>
        </p:txBody>
      </p:sp>
      <p:sp>
        <p:nvSpPr>
          <p:cNvPr id="11" name="Text 8"/>
          <p:cNvSpPr/>
          <p:nvPr/>
        </p:nvSpPr>
        <p:spPr>
          <a:xfrm>
            <a:off x="752326" y="1772096"/>
            <a:ext cx="3361477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Authentication</a:t>
            </a:r>
            <a:endParaRPr lang="en-US" sz="760"/>
          </a:p>
        </p:txBody>
      </p:sp>
      <p:sp>
        <p:nvSpPr>
          <p:cNvPr id="12" name="Text 9"/>
          <p:cNvSpPr/>
          <p:nvPr/>
        </p:nvSpPr>
        <p:spPr>
          <a:xfrm>
            <a:off x="752326" y="1906637"/>
            <a:ext cx="3361477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Active Directory; users authenticate with their domain credentials</a:t>
            </a:r>
            <a:endParaRPr lang="en-US" sz="680"/>
          </a:p>
        </p:txBody>
      </p:sp>
      <p:sp>
        <p:nvSpPr>
          <p:cNvPr id="13" name="Text 10"/>
          <p:cNvSpPr/>
          <p:nvPr/>
        </p:nvSpPr>
        <p:spPr>
          <a:xfrm>
            <a:off x="523875" y="2141488"/>
            <a:ext cx="157460" cy="173206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/>
          </a:p>
        </p:txBody>
      </p:sp>
      <p:sp>
        <p:nvSpPr>
          <p:cNvPr id="14" name="Text 11"/>
          <p:cNvSpPr/>
          <p:nvPr/>
        </p:nvSpPr>
        <p:spPr>
          <a:xfrm>
            <a:off x="752326" y="2127647"/>
            <a:ext cx="2655555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760"/>
          </a:p>
        </p:txBody>
      </p:sp>
      <p:sp>
        <p:nvSpPr>
          <p:cNvPr id="15" name="Text 12"/>
          <p:cNvSpPr/>
          <p:nvPr/>
        </p:nvSpPr>
        <p:spPr>
          <a:xfrm>
            <a:off x="752326" y="2262188"/>
            <a:ext cx="2655555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roles aligned with AD security groups per department</a:t>
            </a:r>
            <a:endParaRPr lang="en-US" sz="680"/>
          </a:p>
        </p:txBody>
      </p:sp>
      <p:sp>
        <p:nvSpPr>
          <p:cNvPr id="16" name="Text 13"/>
          <p:cNvSpPr/>
          <p:nvPr/>
        </p:nvSpPr>
        <p:spPr>
          <a:xfrm>
            <a:off x="523875" y="2497038"/>
            <a:ext cx="157460" cy="173206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/>
          </a:p>
        </p:txBody>
      </p:sp>
      <p:sp>
        <p:nvSpPr>
          <p:cNvPr id="17" name="Text 14"/>
          <p:cNvSpPr/>
          <p:nvPr/>
        </p:nvSpPr>
        <p:spPr>
          <a:xfrm>
            <a:off x="752326" y="2483197"/>
            <a:ext cx="3240167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760"/>
          </a:p>
        </p:txBody>
      </p:sp>
      <p:sp>
        <p:nvSpPr>
          <p:cNvPr id="18" name="Text 15"/>
          <p:cNvSpPr/>
          <p:nvPr/>
        </p:nvSpPr>
        <p:spPr>
          <a:xfrm>
            <a:off x="752326" y="2617738"/>
            <a:ext cx="3240167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for data in transit; Transparent Data Encryption (TDE) for data at rest</a:t>
            </a:r>
            <a:endParaRPr lang="en-US" sz="680"/>
          </a:p>
        </p:txBody>
      </p:sp>
      <p:sp>
        <p:nvSpPr>
          <p:cNvPr id="19" name="Text 16"/>
          <p:cNvSpPr/>
          <p:nvPr/>
        </p:nvSpPr>
        <p:spPr>
          <a:xfrm>
            <a:off x="523875" y="2852589"/>
            <a:ext cx="157460" cy="173206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/>
          </a:p>
        </p:txBody>
      </p:sp>
      <p:sp>
        <p:nvSpPr>
          <p:cNvPr id="20" name="Text 17"/>
          <p:cNvSpPr/>
          <p:nvPr/>
        </p:nvSpPr>
        <p:spPr>
          <a:xfrm>
            <a:off x="752326" y="2838748"/>
            <a:ext cx="3590345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760"/>
          </a:p>
        </p:txBody>
      </p:sp>
      <p:sp>
        <p:nvSpPr>
          <p:cNvPr id="21" name="Text 18"/>
          <p:cNvSpPr/>
          <p:nvPr/>
        </p:nvSpPr>
        <p:spPr>
          <a:xfrm>
            <a:off x="752326" y="2973288"/>
            <a:ext cx="3329229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audit logging tracks all data modifications, login attempts, and permission changes</a:t>
            </a:r>
            <a:endParaRPr lang="en-US" sz="680"/>
          </a:p>
        </p:txBody>
      </p:sp>
      <p:sp>
        <p:nvSpPr>
          <p:cNvPr id="22" name="Text 19"/>
          <p:cNvSpPr/>
          <p:nvPr/>
        </p:nvSpPr>
        <p:spPr>
          <a:xfrm>
            <a:off x="523875" y="3328988"/>
            <a:ext cx="157460" cy="173206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20"/>
          </a:p>
        </p:txBody>
      </p:sp>
      <p:sp>
        <p:nvSpPr>
          <p:cNvPr id="23" name="Text 20"/>
          <p:cNvSpPr/>
          <p:nvPr/>
        </p:nvSpPr>
        <p:spPr>
          <a:xfrm>
            <a:off x="752326" y="3315146"/>
            <a:ext cx="3299430" cy="1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760"/>
          </a:p>
        </p:txBody>
      </p:sp>
      <p:sp>
        <p:nvSpPr>
          <p:cNvPr id="24" name="Text 21"/>
          <p:cNvSpPr/>
          <p:nvPr/>
        </p:nvSpPr>
        <p:spPr>
          <a:xfrm>
            <a:off x="752326" y="3449687"/>
            <a:ext cx="3299430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nightly backups with 30-day retention; weekly full + daily differential</a:t>
            </a:r>
            <a:endParaRPr lang="en-US" sz="680"/>
          </a:p>
        </p:txBody>
      </p:sp>
      <p:sp>
        <p:nvSpPr>
          <p:cNvPr id="25" name="Text 22"/>
          <p:cNvSpPr/>
          <p:nvPr/>
        </p:nvSpPr>
        <p:spPr>
          <a:xfrm>
            <a:off x="4368701" y="1022896"/>
            <a:ext cx="4432399" cy="3588693"/>
          </a:xfrm>
          <a:prstGeom prst="roundRect">
            <a:avLst>
              <a:gd name="adj" fmla="val 2796"/>
            </a:avLst>
          </a:prstGeom>
          <a:solidFill>
            <a:srgbClr val="162032"/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49676" y="1619101"/>
            <a:ext cx="4070449" cy="9525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49676" y="1233041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182" y="1309548"/>
            <a:ext cx="132588" cy="13258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921746" y="1279624"/>
            <a:ext cx="184092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Permissions Matrix by Role</a:t>
            </a:r>
            <a:endParaRPr lang="en-US" sz="1010"/>
          </a:p>
        </p:txBody>
      </p:sp>
      <p:sp>
        <p:nvSpPr>
          <p:cNvPr id="30" name="Text 26"/>
          <p:cNvSpPr/>
          <p:nvPr/>
        </p:nvSpPr>
        <p:spPr>
          <a:xfrm>
            <a:off x="4549676" y="1772096"/>
            <a:ext cx="4151858" cy="378172"/>
          </a:xfrm>
          <a:prstGeom prst="roundRect">
            <a:avLst>
              <a:gd name="adj" fmla="val 15112"/>
            </a:avLst>
          </a:prstGeom>
          <a:solidFill>
            <a:srgbClr val="34D399">
              <a:alpha val="6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l">
              <a:buNone/>
            </a:pPr>
            <a:r>
              <a:rPr lang="en-US" sz="530" b="1" kern="0" spc="20">
                <a:solidFill>
                  <a:srgbClr val="34D399"/>
                </a:solidFill>
                <a:highlight>
                  <a:srgbClr val="34D399">
                    <a:alpha val="18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r>
              <a:rPr lang="en-US" sz="70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Executive / IT Admin</a:t>
            </a:r>
            <a:endParaRPr lang="en-US" sz="700"/>
          </a:p>
          <a:p>
            <a:pPr marL="0" indent="0" algn="l"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 on all 5 tables · Can manage schema &amp; database settings</a:t>
            </a:r>
            <a:endParaRPr lang="en-US" sz="700"/>
          </a:p>
        </p:txBody>
      </p:sp>
      <p:sp>
        <p:nvSpPr>
          <p:cNvPr id="31" name="Text 27"/>
          <p:cNvSpPr/>
          <p:nvPr/>
        </p:nvSpPr>
        <p:spPr>
          <a:xfrm>
            <a:off x="4549676" y="1772096"/>
            <a:ext cx="19050" cy="378172"/>
          </a:xfrm>
          <a:custGeom>
            <a:avLst/>
            <a:gdLst/>
            <a:ahLst/>
            <a:cxnLst/>
            <a:rect l="l" t="t" r="r" b="b"/>
            <a:pathLst>
              <a:path w="19050" h="378172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63619"/>
                </a:lnTo>
                <a:lnTo>
                  <a:pt x="16669" y="361363"/>
                </a:lnTo>
                <a:lnTo>
                  <a:pt x="14288" y="358823"/>
                </a:lnTo>
                <a:lnTo>
                  <a:pt x="11906" y="355938"/>
                </a:lnTo>
                <a:lnTo>
                  <a:pt x="9525" y="352613"/>
                </a:lnTo>
                <a:lnTo>
                  <a:pt x="7144" y="348690"/>
                </a:lnTo>
                <a:lnTo>
                  <a:pt x="4763" y="343862"/>
                </a:lnTo>
                <a:lnTo>
                  <a:pt x="2381" y="337347"/>
                </a:lnTo>
                <a:lnTo>
                  <a:pt x="0" y="321022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4549676" y="2179439"/>
            <a:ext cx="4151858" cy="390376"/>
          </a:xfrm>
          <a:prstGeom prst="roundRect">
            <a:avLst>
              <a:gd name="adj" fmla="val 14640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l">
              <a:buNone/>
            </a:pPr>
            <a:r>
              <a:rPr lang="en-US" sz="530" b="1" kern="0" spc="20">
                <a:solidFill>
                  <a:srgbClr val="00B4D8"/>
                </a:solidFill>
                <a:highlight>
                  <a:srgbClr val="00B4D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r>
              <a:rPr lang="en-US" sz="70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Shipping/Receiving Staff </a:t>
            </a:r>
            <a:r>
              <a:rPr lang="en-US" sz="62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Chicago, Milwaukee</a:t>
            </a:r>
            <a:endParaRPr lang="en-US" sz="700"/>
          </a:p>
          <a:p>
            <a:pPr marL="0" indent="0" algn="l"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 on Shipping/Receiving, Inventory, Products · </a:t>
            </a:r>
            <a:r>
              <a:rPr lang="en-US" sz="530" b="1" kern="0" spc="20">
                <a:solidFill>
                  <a:srgbClr val="FBBF24"/>
                </a:solidFill>
                <a:highlight>
                  <a:srgbClr val="FBBF24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Suppliers, Invoices</a:t>
            </a:r>
            <a:endParaRPr lang="en-US" sz="700"/>
          </a:p>
        </p:txBody>
      </p:sp>
      <p:sp>
        <p:nvSpPr>
          <p:cNvPr id="33" name="Text 29"/>
          <p:cNvSpPr/>
          <p:nvPr/>
        </p:nvSpPr>
        <p:spPr>
          <a:xfrm>
            <a:off x="4549676" y="2179439"/>
            <a:ext cx="19050" cy="390376"/>
          </a:xfrm>
          <a:custGeom>
            <a:avLst/>
            <a:gdLst/>
            <a:ahLst/>
            <a:cxnLst/>
            <a:rect l="l" t="t" r="r" b="b"/>
            <a:pathLst>
              <a:path w="19050" h="390376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75823"/>
                </a:lnTo>
                <a:lnTo>
                  <a:pt x="16669" y="373567"/>
                </a:lnTo>
                <a:lnTo>
                  <a:pt x="14288" y="371027"/>
                </a:lnTo>
                <a:lnTo>
                  <a:pt x="11906" y="368142"/>
                </a:lnTo>
                <a:lnTo>
                  <a:pt x="9525" y="364817"/>
                </a:lnTo>
                <a:lnTo>
                  <a:pt x="7144" y="360894"/>
                </a:lnTo>
                <a:lnTo>
                  <a:pt x="4763" y="356066"/>
                </a:lnTo>
                <a:lnTo>
                  <a:pt x="2381" y="349551"/>
                </a:lnTo>
                <a:lnTo>
                  <a:pt x="0" y="333226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549676" y="2598986"/>
            <a:ext cx="4151858" cy="390376"/>
          </a:xfrm>
          <a:prstGeom prst="roundRect">
            <a:avLst>
              <a:gd name="adj" fmla="val 14640"/>
            </a:avLst>
          </a:prstGeom>
          <a:solidFill>
            <a:srgbClr val="00B4D8">
              <a:alpha val="6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l">
              <a:buNone/>
            </a:pPr>
            <a:r>
              <a:rPr lang="en-US" sz="530" b="1" kern="0" spc="20">
                <a:solidFill>
                  <a:srgbClr val="00B4D8"/>
                </a:solidFill>
                <a:highlight>
                  <a:srgbClr val="00B4D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r>
              <a:rPr lang="en-US" sz="70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Distribution Staff </a:t>
            </a:r>
            <a:r>
              <a:rPr lang="en-US" sz="62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Austin</a:t>
            </a:r>
            <a:endParaRPr lang="en-US" sz="700"/>
          </a:p>
          <a:p>
            <a:pPr marL="0" indent="0" algn="l"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 on Inventory, Shipping/Receiving · </a:t>
            </a:r>
            <a:r>
              <a:rPr lang="en-US" sz="530" b="1" kern="0" spc="20">
                <a:solidFill>
                  <a:srgbClr val="FBBF24"/>
                </a:solidFill>
                <a:highlight>
                  <a:srgbClr val="FBBF24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Products, Suppliers, Invoices</a:t>
            </a:r>
            <a:endParaRPr lang="en-US" sz="700"/>
          </a:p>
        </p:txBody>
      </p:sp>
      <p:sp>
        <p:nvSpPr>
          <p:cNvPr id="35" name="Text 31"/>
          <p:cNvSpPr/>
          <p:nvPr/>
        </p:nvSpPr>
        <p:spPr>
          <a:xfrm>
            <a:off x="4549676" y="2598986"/>
            <a:ext cx="19050" cy="390376"/>
          </a:xfrm>
          <a:custGeom>
            <a:avLst/>
            <a:gdLst/>
            <a:ahLst/>
            <a:cxnLst/>
            <a:rect l="l" t="t" r="r" b="b"/>
            <a:pathLst>
              <a:path w="19050" h="390376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75823"/>
                </a:lnTo>
                <a:lnTo>
                  <a:pt x="16669" y="373567"/>
                </a:lnTo>
                <a:lnTo>
                  <a:pt x="14288" y="371027"/>
                </a:lnTo>
                <a:lnTo>
                  <a:pt x="11906" y="368142"/>
                </a:lnTo>
                <a:lnTo>
                  <a:pt x="9525" y="364817"/>
                </a:lnTo>
                <a:lnTo>
                  <a:pt x="7144" y="360894"/>
                </a:lnTo>
                <a:lnTo>
                  <a:pt x="4763" y="356066"/>
                </a:lnTo>
                <a:lnTo>
                  <a:pt x="2381" y="349551"/>
                </a:lnTo>
                <a:lnTo>
                  <a:pt x="0" y="333226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4549676" y="3018532"/>
            <a:ext cx="4151858" cy="390376"/>
          </a:xfrm>
          <a:prstGeom prst="roundRect">
            <a:avLst>
              <a:gd name="adj" fmla="val 14640"/>
            </a:avLst>
          </a:prstGeom>
          <a:solidFill>
            <a:srgbClr val="FBBF24">
              <a:alpha val="6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l">
              <a:buNone/>
            </a:pPr>
            <a:r>
              <a:rPr lang="en-US" sz="530" b="1" kern="0" spc="20">
                <a:solidFill>
                  <a:srgbClr val="FBBF24"/>
                </a:solidFill>
                <a:highlight>
                  <a:srgbClr val="FBBF24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r>
              <a:rPr lang="en-US" sz="70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 / CS </a:t>
            </a:r>
            <a:r>
              <a:rPr lang="en-US" sz="62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Atlanta, San Francisco</a:t>
            </a:r>
            <a:endParaRPr lang="en-US" sz="700"/>
          </a:p>
          <a:p>
            <a:pPr marL="0" indent="0" algn="l"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 Products &amp; Inventory only · </a:t>
            </a:r>
            <a:r>
              <a:rPr lang="en-US" sz="530" b="1" kern="0" spc="20">
                <a:solidFill>
                  <a:srgbClr val="EF4444"/>
                </a:solidFill>
                <a:highlight>
                  <a:srgbClr val="EF4444">
                    <a:alpha val="12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 ACCESS</a:t>
            </a: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Suppliers, Shipping/Receiving, Invoices</a:t>
            </a:r>
            <a:endParaRPr lang="en-US" sz="700"/>
          </a:p>
        </p:txBody>
      </p:sp>
      <p:sp>
        <p:nvSpPr>
          <p:cNvPr id="37" name="Text 33"/>
          <p:cNvSpPr/>
          <p:nvPr/>
        </p:nvSpPr>
        <p:spPr>
          <a:xfrm>
            <a:off x="4549676" y="3018532"/>
            <a:ext cx="19050" cy="390376"/>
          </a:xfrm>
          <a:custGeom>
            <a:avLst/>
            <a:gdLst/>
            <a:ahLst/>
            <a:cxnLst/>
            <a:rect l="l" t="t" r="r" b="b"/>
            <a:pathLst>
              <a:path w="19050" h="390376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75823"/>
                </a:lnTo>
                <a:lnTo>
                  <a:pt x="16669" y="373567"/>
                </a:lnTo>
                <a:lnTo>
                  <a:pt x="14288" y="371027"/>
                </a:lnTo>
                <a:lnTo>
                  <a:pt x="11906" y="368142"/>
                </a:lnTo>
                <a:lnTo>
                  <a:pt x="9525" y="364817"/>
                </a:lnTo>
                <a:lnTo>
                  <a:pt x="7144" y="360894"/>
                </a:lnTo>
                <a:lnTo>
                  <a:pt x="4763" y="356066"/>
                </a:lnTo>
                <a:lnTo>
                  <a:pt x="2381" y="349551"/>
                </a:lnTo>
                <a:lnTo>
                  <a:pt x="0" y="333226"/>
                </a:lnTo>
                <a:close/>
              </a:path>
            </a:pathLst>
          </a:custGeom>
          <a:solidFill>
            <a:srgbClr val="FBBF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549676" y="3438079"/>
            <a:ext cx="4151858" cy="378172"/>
          </a:xfrm>
          <a:prstGeom prst="roundRect">
            <a:avLst>
              <a:gd name="adj" fmla="val 15112"/>
            </a:avLst>
          </a:prstGeom>
          <a:solidFill>
            <a:srgbClr val="A855F7">
              <a:alpha val="6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l">
              <a:buNone/>
            </a:pPr>
            <a:r>
              <a:rPr lang="en-US" sz="530" b="1" kern="0" spc="20">
                <a:solidFill>
                  <a:srgbClr val="A855F7"/>
                </a:solidFill>
                <a:highlight>
                  <a:srgbClr val="A855F7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r>
              <a:rPr lang="en-US" sz="70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Center Staff </a:t>
            </a:r>
            <a:r>
              <a:rPr lang="en-US" sz="620" b="1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Seattle, Atlanta DC</a:t>
            </a:r>
            <a:endParaRPr lang="en-US" sz="700"/>
          </a:p>
          <a:p>
            <a:pPr marL="0" indent="0" algn="l"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DBA-level access for database maintenance and backup operations</a:t>
            </a:r>
            <a:endParaRPr lang="en-US" sz="700"/>
          </a:p>
        </p:txBody>
      </p:sp>
      <p:sp>
        <p:nvSpPr>
          <p:cNvPr id="39" name="Text 35"/>
          <p:cNvSpPr/>
          <p:nvPr/>
        </p:nvSpPr>
        <p:spPr>
          <a:xfrm>
            <a:off x="4549676" y="3438079"/>
            <a:ext cx="19050" cy="378172"/>
          </a:xfrm>
          <a:custGeom>
            <a:avLst/>
            <a:gdLst/>
            <a:ahLst/>
            <a:cxnLst/>
            <a:rect l="l" t="t" r="r" b="b"/>
            <a:pathLst>
              <a:path w="19050" h="378172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63619"/>
                </a:lnTo>
                <a:lnTo>
                  <a:pt x="16669" y="361363"/>
                </a:lnTo>
                <a:lnTo>
                  <a:pt x="14288" y="358823"/>
                </a:lnTo>
                <a:lnTo>
                  <a:pt x="11906" y="355938"/>
                </a:lnTo>
                <a:lnTo>
                  <a:pt x="9525" y="352613"/>
                </a:lnTo>
                <a:lnTo>
                  <a:pt x="7144" y="348690"/>
                </a:lnTo>
                <a:lnTo>
                  <a:pt x="4763" y="343862"/>
                </a:lnTo>
                <a:lnTo>
                  <a:pt x="2381" y="337347"/>
                </a:lnTo>
                <a:lnTo>
                  <a:pt x="0" y="321022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342900" y="4794945"/>
            <a:ext cx="2542133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4D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0618" y="4732446"/>
            <a:ext cx="132588" cy="13258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131641" y="4739729"/>
            <a:ext cx="316862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 · DEFENSE IN DEPTH · ZERO TRUST</a:t>
            </a:r>
            <a:endParaRPr lang="en-US" sz="62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0645" y="4732446"/>
            <a:ext cx="132588" cy="13258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258818" y="4794945"/>
            <a:ext cx="2542282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4D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FA0B2-23C5-B2F9-7B1B-8FCB7A9A2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CCD0070-B7FB-083E-0C1D-C031ED4ABDAF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Permissions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7DB35C-90EC-FB76-23B4-D1BF0D2DAFB0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FCB83085-EBC0-23ED-1CA1-4BE0596A8EB0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E6A37B2F-58F7-5BCE-6EC8-53966E405FB3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2C7F99F-5E85-9B01-1567-14CCDCFE0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117" y="938063"/>
            <a:ext cx="6102685" cy="375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4444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" t="20000" r="9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B4D8">
                  <a:alpha val="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90000" t="80000" r="1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72250" y="0"/>
            <a:ext cx="257175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B4D8">
                  <a:alpha val="3000"/>
                </a:srgbClr>
              </a:gs>
              <a:gs pos="100000">
                <a:srgbClr val="00B4D8">
                  <a:alpha val="3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72250" y="0"/>
            <a:ext cx="257175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B4D8">
                  <a:alpha val="3000"/>
                </a:srgbClr>
              </a:gs>
              <a:gs pos="100000">
                <a:srgbClr val="00B4D8">
                  <a:alpha val="3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9575" y="818406"/>
            <a:ext cx="21580" cy="1291981"/>
          </a:xfrm>
          <a:custGeom>
            <a:avLst/>
            <a:gdLst/>
            <a:ahLst/>
            <a:cxnLst/>
            <a:rect l="l" t="t" r="r" b="b"/>
            <a:pathLst>
              <a:path w="21580" h="129198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271888"/>
                </a:lnTo>
                <a:lnTo>
                  <a:pt x="18883" y="1269123"/>
                </a:lnTo>
                <a:lnTo>
                  <a:pt x="16185" y="1266029"/>
                </a:lnTo>
                <a:lnTo>
                  <a:pt x="13488" y="1262532"/>
                </a:lnTo>
                <a:lnTo>
                  <a:pt x="10790" y="1258521"/>
                </a:lnTo>
                <a:lnTo>
                  <a:pt x="8093" y="1253809"/>
                </a:lnTo>
                <a:lnTo>
                  <a:pt x="5395" y="1248032"/>
                </a:lnTo>
                <a:lnTo>
                  <a:pt x="2698" y="1240262"/>
                </a:lnTo>
                <a:lnTo>
                  <a:pt x="0" y="1220860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53260" y="818406"/>
            <a:ext cx="21580" cy="1291981"/>
          </a:xfrm>
          <a:custGeom>
            <a:avLst/>
            <a:gdLst/>
            <a:ahLst/>
            <a:cxnLst/>
            <a:rect l="l" t="t" r="r" b="b"/>
            <a:pathLst>
              <a:path w="21580" h="129198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271888"/>
                </a:lnTo>
                <a:lnTo>
                  <a:pt x="18883" y="1269123"/>
                </a:lnTo>
                <a:lnTo>
                  <a:pt x="16185" y="1266029"/>
                </a:lnTo>
                <a:lnTo>
                  <a:pt x="13488" y="1262532"/>
                </a:lnTo>
                <a:lnTo>
                  <a:pt x="10790" y="1258521"/>
                </a:lnTo>
                <a:lnTo>
                  <a:pt x="8093" y="1253809"/>
                </a:lnTo>
                <a:lnTo>
                  <a:pt x="5395" y="1248032"/>
                </a:lnTo>
                <a:lnTo>
                  <a:pt x="2698" y="1240262"/>
                </a:lnTo>
                <a:lnTo>
                  <a:pt x="0" y="1220860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9575" y="2215753"/>
            <a:ext cx="21580" cy="1292123"/>
          </a:xfrm>
          <a:custGeom>
            <a:avLst/>
            <a:gdLst/>
            <a:ahLst/>
            <a:cxnLst/>
            <a:rect l="l" t="t" r="r" b="b"/>
            <a:pathLst>
              <a:path w="21580" h="129212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272031"/>
                </a:lnTo>
                <a:lnTo>
                  <a:pt x="18883" y="1269266"/>
                </a:lnTo>
                <a:lnTo>
                  <a:pt x="16185" y="1266172"/>
                </a:lnTo>
                <a:lnTo>
                  <a:pt x="13488" y="1262675"/>
                </a:lnTo>
                <a:lnTo>
                  <a:pt x="10790" y="1258664"/>
                </a:lnTo>
                <a:lnTo>
                  <a:pt x="8093" y="1253952"/>
                </a:lnTo>
                <a:lnTo>
                  <a:pt x="5395" y="1248175"/>
                </a:lnTo>
                <a:lnTo>
                  <a:pt x="2698" y="1240405"/>
                </a:lnTo>
                <a:lnTo>
                  <a:pt x="0" y="1221003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53260" y="2215753"/>
            <a:ext cx="21580" cy="1292123"/>
          </a:xfrm>
          <a:custGeom>
            <a:avLst/>
            <a:gdLst/>
            <a:ahLst/>
            <a:cxnLst/>
            <a:rect l="l" t="t" r="r" b="b"/>
            <a:pathLst>
              <a:path w="21580" h="129212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272031"/>
                </a:lnTo>
                <a:lnTo>
                  <a:pt x="18883" y="1269266"/>
                </a:lnTo>
                <a:lnTo>
                  <a:pt x="16185" y="1266172"/>
                </a:lnTo>
                <a:lnTo>
                  <a:pt x="13488" y="1262675"/>
                </a:lnTo>
                <a:lnTo>
                  <a:pt x="10790" y="1258664"/>
                </a:lnTo>
                <a:lnTo>
                  <a:pt x="8093" y="1253952"/>
                </a:lnTo>
                <a:lnTo>
                  <a:pt x="5395" y="1248175"/>
                </a:lnTo>
                <a:lnTo>
                  <a:pt x="2698" y="1240405"/>
                </a:lnTo>
                <a:lnTo>
                  <a:pt x="0" y="1221003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9575" y="3613249"/>
            <a:ext cx="21580" cy="1292123"/>
          </a:xfrm>
          <a:custGeom>
            <a:avLst/>
            <a:gdLst/>
            <a:ahLst/>
            <a:cxnLst/>
            <a:rect l="l" t="t" r="r" b="b"/>
            <a:pathLst>
              <a:path w="21580" h="129212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272031"/>
                </a:lnTo>
                <a:lnTo>
                  <a:pt x="18883" y="1269266"/>
                </a:lnTo>
                <a:lnTo>
                  <a:pt x="16185" y="1266172"/>
                </a:lnTo>
                <a:lnTo>
                  <a:pt x="13488" y="1262675"/>
                </a:lnTo>
                <a:lnTo>
                  <a:pt x="10790" y="1258664"/>
                </a:lnTo>
                <a:lnTo>
                  <a:pt x="8093" y="1253952"/>
                </a:lnTo>
                <a:lnTo>
                  <a:pt x="5395" y="1248175"/>
                </a:lnTo>
                <a:lnTo>
                  <a:pt x="2698" y="1240405"/>
                </a:lnTo>
                <a:lnTo>
                  <a:pt x="0" y="1221003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3260" y="3613249"/>
            <a:ext cx="21580" cy="1292123"/>
          </a:xfrm>
          <a:custGeom>
            <a:avLst/>
            <a:gdLst/>
            <a:ahLst/>
            <a:cxnLst/>
            <a:rect l="l" t="t" r="r" b="b"/>
            <a:pathLst>
              <a:path w="21580" h="129212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1272031"/>
                </a:lnTo>
                <a:lnTo>
                  <a:pt x="18883" y="1269266"/>
                </a:lnTo>
                <a:lnTo>
                  <a:pt x="16185" y="1266172"/>
                </a:lnTo>
                <a:lnTo>
                  <a:pt x="13488" y="1262675"/>
                </a:lnTo>
                <a:lnTo>
                  <a:pt x="10790" y="1258664"/>
                </a:lnTo>
                <a:lnTo>
                  <a:pt x="8093" y="1253952"/>
                </a:lnTo>
                <a:lnTo>
                  <a:pt x="5395" y="1248175"/>
                </a:lnTo>
                <a:lnTo>
                  <a:pt x="2698" y="1240405"/>
                </a:lnTo>
                <a:lnTo>
                  <a:pt x="0" y="1221003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0050" y="285750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00B4D8"/>
              </a:gs>
              <a:gs pos="100000">
                <a:srgbClr val="0090B0"/>
              </a:gs>
            </a:gsLst>
            <a:lin ang="2700000" scaled="1"/>
          </a:gradFill>
          <a:ln/>
          <a:effectLst>
            <a:outerShdw blurRad="143510" dist="29210" dir="5400000" algn="bl" rotWithShape="0">
              <a:srgbClr val="00B4D8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785" y="357485"/>
            <a:ext cx="171450" cy="171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9270" y="319385"/>
            <a:ext cx="421763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90" kern="0" spc="-2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Comprehensive Network Security Strategy</a:t>
            </a:r>
            <a:endParaRPr lang="en-US" sz="1690"/>
          </a:p>
        </p:txBody>
      </p:sp>
      <p:sp>
        <p:nvSpPr>
          <p:cNvPr id="15" name="Text 12"/>
          <p:cNvSpPr/>
          <p:nvPr/>
        </p:nvSpPr>
        <p:spPr>
          <a:xfrm>
            <a:off x="400050" y="657820"/>
            <a:ext cx="8343900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50000">
                <a:srgbClr val="00B4D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0050" y="808881"/>
            <a:ext cx="4100215" cy="1311027"/>
          </a:xfrm>
          <a:prstGeom prst="roundRect">
            <a:avLst>
              <a:gd name="adj" fmla="val 5425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7716" y="94029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861" y="1004441"/>
            <a:ext cx="157460" cy="1574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23776" y="932706"/>
            <a:ext cx="37827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Firewalls</a:t>
            </a:r>
            <a:endParaRPr lang="en-US" sz="840"/>
          </a:p>
        </p:txBody>
      </p:sp>
      <p:sp>
        <p:nvSpPr>
          <p:cNvPr id="20" name="Text 16"/>
          <p:cNvSpPr/>
          <p:nvPr/>
        </p:nvSpPr>
        <p:spPr>
          <a:xfrm>
            <a:off x="923776" y="1076176"/>
            <a:ext cx="3507599" cy="27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firewalls at each site perimeter with stateful packet inspection, IDS/IPS, and DMZ for public-facing services</a:t>
            </a:r>
            <a:endParaRPr lang="en-US" sz="720"/>
          </a:p>
        </p:txBody>
      </p:sp>
      <p:sp>
        <p:nvSpPr>
          <p:cNvPr id="21" name="Text 17"/>
          <p:cNvSpPr/>
          <p:nvPr/>
        </p:nvSpPr>
        <p:spPr>
          <a:xfrm>
            <a:off x="4643735" y="808881"/>
            <a:ext cx="4100215" cy="1311027"/>
          </a:xfrm>
          <a:prstGeom prst="roundRect">
            <a:avLst>
              <a:gd name="adj" fmla="val 5425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81401" y="94029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5546" y="1004441"/>
            <a:ext cx="157460" cy="157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67461" y="932706"/>
            <a:ext cx="37827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 Security</a:t>
            </a:r>
            <a:endParaRPr lang="en-US" sz="840"/>
          </a:p>
        </p:txBody>
      </p:sp>
      <p:sp>
        <p:nvSpPr>
          <p:cNvPr id="25" name="Text 20"/>
          <p:cNvSpPr/>
          <p:nvPr/>
        </p:nvSpPr>
        <p:spPr>
          <a:xfrm>
            <a:off x="5167461" y="1076176"/>
            <a:ext cx="3507599" cy="27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port-based network access control, MAC address filtering, unused switchport shutdown, VLAN assignment enforcement</a:t>
            </a:r>
            <a:endParaRPr lang="en-US" sz="720"/>
          </a:p>
        </p:txBody>
      </p:sp>
      <p:sp>
        <p:nvSpPr>
          <p:cNvPr id="26" name="Text 21"/>
          <p:cNvSpPr/>
          <p:nvPr/>
        </p:nvSpPr>
        <p:spPr>
          <a:xfrm>
            <a:off x="400050" y="2206228"/>
            <a:ext cx="4100215" cy="1311176"/>
          </a:xfrm>
          <a:prstGeom prst="roundRect">
            <a:avLst>
              <a:gd name="adj" fmla="val 5424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37716" y="233764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861" y="2401788"/>
            <a:ext cx="157460" cy="157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3776" y="2330053"/>
            <a:ext cx="37827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Monitoring &amp; Event Logs</a:t>
            </a:r>
            <a:endParaRPr lang="en-US" sz="840"/>
          </a:p>
        </p:txBody>
      </p:sp>
      <p:sp>
        <p:nvSpPr>
          <p:cNvPr id="30" name="Text 24"/>
          <p:cNvSpPr/>
          <p:nvPr/>
        </p:nvSpPr>
        <p:spPr>
          <a:xfrm>
            <a:off x="923776" y="2473523"/>
            <a:ext cx="3507599" cy="27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SIEM for log aggregation from all 7 sites, real-time alerting, Windows Event Log auditing on every server</a:t>
            </a:r>
            <a:endParaRPr lang="en-US" sz="720"/>
          </a:p>
        </p:txBody>
      </p:sp>
      <p:sp>
        <p:nvSpPr>
          <p:cNvPr id="31" name="Text 25"/>
          <p:cNvSpPr/>
          <p:nvPr/>
        </p:nvSpPr>
        <p:spPr>
          <a:xfrm>
            <a:off x="4643735" y="2206228"/>
            <a:ext cx="4100215" cy="1311176"/>
          </a:xfrm>
          <a:prstGeom prst="roundRect">
            <a:avLst>
              <a:gd name="adj" fmla="val 5424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781401" y="233764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5546" y="2401788"/>
            <a:ext cx="157460" cy="1574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67461" y="2330053"/>
            <a:ext cx="37827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File/Folder NTFS Permissions</a:t>
            </a:r>
            <a:endParaRPr lang="en-US" sz="840"/>
          </a:p>
        </p:txBody>
      </p:sp>
      <p:sp>
        <p:nvSpPr>
          <p:cNvPr id="35" name="Text 28"/>
          <p:cNvSpPr/>
          <p:nvPr/>
        </p:nvSpPr>
        <p:spPr>
          <a:xfrm>
            <a:off x="5167461" y="2473523"/>
            <a:ext cx="3507599" cy="27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model with department-based security groups: Full Control (Admin), Modify (IT), Read/Write (Staff), Read-Only (Guest)</a:t>
            </a:r>
            <a:endParaRPr lang="en-US" sz="720"/>
          </a:p>
        </p:txBody>
      </p:sp>
      <p:sp>
        <p:nvSpPr>
          <p:cNvPr id="36" name="Text 29"/>
          <p:cNvSpPr/>
          <p:nvPr/>
        </p:nvSpPr>
        <p:spPr>
          <a:xfrm>
            <a:off x="400050" y="3603724"/>
            <a:ext cx="4100215" cy="1311176"/>
          </a:xfrm>
          <a:prstGeom prst="roundRect">
            <a:avLst>
              <a:gd name="adj" fmla="val 5424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537716" y="373513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861" y="3799284"/>
            <a:ext cx="157460" cy="1574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23776" y="3727549"/>
            <a:ext cx="37827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&amp; Data Security</a:t>
            </a:r>
            <a:endParaRPr lang="en-US" sz="840"/>
          </a:p>
        </p:txBody>
      </p:sp>
      <p:sp>
        <p:nvSpPr>
          <p:cNvPr id="40" name="Text 32"/>
          <p:cNvSpPr/>
          <p:nvPr/>
        </p:nvSpPr>
        <p:spPr>
          <a:xfrm>
            <a:off x="923776" y="3871020"/>
            <a:ext cx="3507599" cy="27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site-to-site VPN, SSL VPN for remote users, BitLocker drive encryption on all workstations, MFA for remote access</a:t>
            </a:r>
            <a:endParaRPr lang="en-US" sz="720"/>
          </a:p>
        </p:txBody>
      </p:sp>
      <p:sp>
        <p:nvSpPr>
          <p:cNvPr id="41" name="Text 33"/>
          <p:cNvSpPr/>
          <p:nvPr/>
        </p:nvSpPr>
        <p:spPr>
          <a:xfrm>
            <a:off x="4643735" y="3603724"/>
            <a:ext cx="4100215" cy="1311176"/>
          </a:xfrm>
          <a:prstGeom prst="roundRect">
            <a:avLst>
              <a:gd name="adj" fmla="val 5424"/>
            </a:avLst>
          </a:prstGeom>
          <a:solidFill>
            <a:srgbClr val="162032"/>
          </a:solidFill>
          <a:ln w="9525">
            <a:solidFill>
              <a:srgbClr val="00B4D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4781401" y="373513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5546" y="3799284"/>
            <a:ext cx="157460" cy="15746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167461" y="3727549"/>
            <a:ext cx="37827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Documentation</a:t>
            </a:r>
            <a:endParaRPr lang="en-US" sz="840"/>
          </a:p>
        </p:txBody>
      </p:sp>
      <p:sp>
        <p:nvSpPr>
          <p:cNvPr id="45" name="Text 36"/>
          <p:cNvSpPr/>
          <p:nvPr/>
        </p:nvSpPr>
        <p:spPr>
          <a:xfrm>
            <a:off x="5167461" y="3871020"/>
            <a:ext cx="3507599" cy="27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7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security policy manual, network diagrams, incident response procedures, and compliance documentation</a:t>
            </a:r>
            <a:endParaRPr lang="en-US" sz="72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1302693" cy="227558"/>
          </a:xfrm>
          <a:prstGeom prst="roundRect">
            <a:avLst>
              <a:gd name="adj" fmla="val 63065"/>
            </a:avLst>
          </a:prstGeom>
          <a:solidFill>
            <a:srgbClr val="00B4D8">
              <a:alpha val="8000"/>
            </a:srgbClr>
          </a:solidFill>
          <a:ln w="9525">
            <a:solidFill>
              <a:srgbClr val="00B4D8">
                <a:alpha val="1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68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170" y="322817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50" y="563612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spcAft>
                <a:spcPts val="340"/>
              </a:spcAft>
              <a:buNone/>
            </a:pPr>
            <a:r>
              <a:rPr lang="en-US" sz="2030" b="1" kern="0" spc="-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Backup, Disaster Recovery &amp; Business Continuity</a:t>
            </a:r>
            <a:endParaRPr lang="en-US" sz="2030"/>
          </a:p>
        </p:txBody>
      </p:sp>
      <p:sp>
        <p:nvSpPr>
          <p:cNvPr id="5" name="Text 2"/>
          <p:cNvSpPr/>
          <p:nvPr/>
        </p:nvSpPr>
        <p:spPr>
          <a:xfrm>
            <a:off x="400050" y="903089"/>
            <a:ext cx="917829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1580"/>
              </a:spcAft>
              <a:buNone/>
            </a:pPr>
            <a:r>
              <a:rPr lang="en-US" sz="9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resilience ensuring data integrity, rapid recovery, and uninterrupted operations</a:t>
            </a:r>
            <a:endParaRPr lang="en-US" sz="900"/>
          </a:p>
        </p:txBody>
      </p:sp>
      <p:sp>
        <p:nvSpPr>
          <p:cNvPr id="6" name="Text 3"/>
          <p:cNvSpPr/>
          <p:nvPr/>
        </p:nvSpPr>
        <p:spPr>
          <a:xfrm>
            <a:off x="400050" y="1275159"/>
            <a:ext cx="1978372" cy="3136850"/>
          </a:xfrm>
          <a:prstGeom prst="roundRect">
            <a:avLst>
              <a:gd name="adj" fmla="val 5071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1025" y="14853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982" y="1573262"/>
            <a:ext cx="139005" cy="1390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1025" y="1900535"/>
            <a:ext cx="1648751" cy="273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Backup Strategy</a:t>
            </a:r>
            <a:br/>
            <a:r>
              <a:rPr lang="en-US" sz="680" b="1" kern="0" spc="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(3-2-1 Rule)</a:t>
            </a:r>
            <a:endParaRPr lang="en-US" sz="960"/>
          </a:p>
        </p:txBody>
      </p:sp>
      <p:sp>
        <p:nvSpPr>
          <p:cNvPr id="10" name="Text 6"/>
          <p:cNvSpPr/>
          <p:nvPr/>
        </p:nvSpPr>
        <p:spPr>
          <a:xfrm>
            <a:off x="709295" y="2247007"/>
            <a:ext cx="163696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of all data</a:t>
            </a:r>
            <a:endParaRPr lang="en-US" sz="760"/>
          </a:p>
        </p:txBody>
      </p:sp>
      <p:sp>
        <p:nvSpPr>
          <p:cNvPr id="11" name="Text 7"/>
          <p:cNvSpPr/>
          <p:nvPr/>
        </p:nvSpPr>
        <p:spPr>
          <a:xfrm>
            <a:off x="709295" y="2436465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different storage media (local disk + offsite)</a:t>
            </a:r>
            <a:endParaRPr lang="en-US" sz="760"/>
          </a:p>
        </p:txBody>
      </p:sp>
      <p:sp>
        <p:nvSpPr>
          <p:cNvPr id="12" name="Text 8"/>
          <p:cNvSpPr/>
          <p:nvPr/>
        </p:nvSpPr>
        <p:spPr>
          <a:xfrm>
            <a:off x="709295" y="2765971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offsite copy replicated to alternate data center</a:t>
            </a:r>
            <a:endParaRPr lang="en-US" sz="760"/>
          </a:p>
        </p:txBody>
      </p:sp>
      <p:sp>
        <p:nvSpPr>
          <p:cNvPr id="13" name="Text 9"/>
          <p:cNvSpPr/>
          <p:nvPr/>
        </p:nvSpPr>
        <p:spPr>
          <a:xfrm>
            <a:off x="709295" y="3095476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Backup + SQL Server backup agents</a:t>
            </a:r>
            <a:endParaRPr lang="en-US" sz="760"/>
          </a:p>
        </p:txBody>
      </p:sp>
      <p:sp>
        <p:nvSpPr>
          <p:cNvPr id="14" name="Text 10"/>
          <p:cNvSpPr/>
          <p:nvPr/>
        </p:nvSpPr>
        <p:spPr>
          <a:xfrm>
            <a:off x="709295" y="3424982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incremental, weekly full backups</a:t>
            </a:r>
            <a:endParaRPr lang="en-US" sz="760"/>
          </a:p>
        </p:txBody>
      </p:sp>
      <p:sp>
        <p:nvSpPr>
          <p:cNvPr id="15" name="Text 11"/>
          <p:cNvSpPr/>
          <p:nvPr/>
        </p:nvSpPr>
        <p:spPr>
          <a:xfrm>
            <a:off x="2521893" y="1275159"/>
            <a:ext cx="1978372" cy="3136850"/>
          </a:xfrm>
          <a:prstGeom prst="roundRect">
            <a:avLst>
              <a:gd name="adj" fmla="val 5071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02868" y="14853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FBBF2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0825" y="1573262"/>
            <a:ext cx="139005" cy="1390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02868" y="1900535"/>
            <a:ext cx="177806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Disaster Recovery Plan</a:t>
            </a:r>
            <a:endParaRPr lang="en-US" sz="960"/>
          </a:p>
        </p:txBody>
      </p:sp>
      <p:sp>
        <p:nvSpPr>
          <p:cNvPr id="19" name="Text 14"/>
          <p:cNvSpPr/>
          <p:nvPr/>
        </p:nvSpPr>
        <p:spPr>
          <a:xfrm>
            <a:off x="2831138" y="2139107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data centers: Seattle &amp; Atlanta for geographic redundancy</a:t>
            </a:r>
            <a:endParaRPr lang="en-US" sz="760"/>
          </a:p>
        </p:txBody>
      </p:sp>
      <p:sp>
        <p:nvSpPr>
          <p:cNvPr id="20" name="Text 15"/>
          <p:cNvSpPr/>
          <p:nvPr/>
        </p:nvSpPr>
        <p:spPr>
          <a:xfrm>
            <a:off x="2831138" y="2468612"/>
            <a:ext cx="163696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RPO:</a:t>
            </a: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hour (max data loss)</a:t>
            </a:r>
            <a:endParaRPr lang="en-US" sz="760"/>
          </a:p>
        </p:txBody>
      </p:sp>
      <p:sp>
        <p:nvSpPr>
          <p:cNvPr id="21" name="Text 16"/>
          <p:cNvSpPr/>
          <p:nvPr/>
        </p:nvSpPr>
        <p:spPr>
          <a:xfrm>
            <a:off x="2831138" y="2658070"/>
            <a:ext cx="1636967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RTO:</a:t>
            </a: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hours (max downtime)</a:t>
            </a:r>
            <a:endParaRPr lang="en-US" sz="760"/>
          </a:p>
        </p:txBody>
      </p:sp>
      <p:sp>
        <p:nvSpPr>
          <p:cNvPr id="22" name="Text 17"/>
          <p:cNvSpPr/>
          <p:nvPr/>
        </p:nvSpPr>
        <p:spPr>
          <a:xfrm>
            <a:off x="2831138" y="2847529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replication ensures domain services restored quickly</a:t>
            </a:r>
            <a:endParaRPr lang="en-US" sz="760"/>
          </a:p>
        </p:txBody>
      </p:sp>
      <p:sp>
        <p:nvSpPr>
          <p:cNvPr id="23" name="Text 18"/>
          <p:cNvSpPr/>
          <p:nvPr/>
        </p:nvSpPr>
        <p:spPr>
          <a:xfrm>
            <a:off x="2831138" y="3177034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failover procedures for each critical system</a:t>
            </a:r>
            <a:endParaRPr lang="en-US" sz="760"/>
          </a:p>
        </p:txBody>
      </p:sp>
      <p:sp>
        <p:nvSpPr>
          <p:cNvPr id="24" name="Text 19"/>
          <p:cNvSpPr/>
          <p:nvPr/>
        </p:nvSpPr>
        <p:spPr>
          <a:xfrm>
            <a:off x="4643735" y="1275159"/>
            <a:ext cx="1978372" cy="3136850"/>
          </a:xfrm>
          <a:prstGeom prst="roundRect">
            <a:avLst>
              <a:gd name="adj" fmla="val 5071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824710" y="14853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2668" y="1573262"/>
            <a:ext cx="139005" cy="13900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24710" y="1900535"/>
            <a:ext cx="1648751" cy="27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Continuity Plan </a:t>
            </a:r>
            <a:r>
              <a:rPr lang="en-US" sz="680" b="1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(BCP)</a:t>
            </a:r>
            <a:endParaRPr lang="en-US" sz="960"/>
          </a:p>
        </p:txBody>
      </p:sp>
      <p:sp>
        <p:nvSpPr>
          <p:cNvPr id="28" name="Text 22"/>
          <p:cNvSpPr/>
          <p:nvPr/>
        </p:nvSpPr>
        <p:spPr>
          <a:xfrm>
            <a:off x="4952980" y="2247007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VPN access enables staff to work from any location</a:t>
            </a:r>
            <a:endParaRPr lang="en-US" sz="760"/>
          </a:p>
        </p:txBody>
      </p:sp>
      <p:sp>
        <p:nvSpPr>
          <p:cNvPr id="29" name="Text 23"/>
          <p:cNvSpPr/>
          <p:nvPr/>
        </p:nvSpPr>
        <p:spPr>
          <a:xfrm>
            <a:off x="4952980" y="2576513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services hosted across both data centers</a:t>
            </a:r>
            <a:endParaRPr lang="en-US" sz="760"/>
          </a:p>
        </p:txBody>
      </p:sp>
      <p:sp>
        <p:nvSpPr>
          <p:cNvPr id="30" name="Text 24"/>
          <p:cNvSpPr/>
          <p:nvPr/>
        </p:nvSpPr>
        <p:spPr>
          <a:xfrm>
            <a:off x="4952980" y="2906018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plan for staff notification during outages</a:t>
            </a:r>
            <a:endParaRPr lang="en-US" sz="760"/>
          </a:p>
        </p:txBody>
      </p:sp>
      <p:sp>
        <p:nvSpPr>
          <p:cNvPr id="31" name="Text 25"/>
          <p:cNvSpPr/>
          <p:nvPr/>
        </p:nvSpPr>
        <p:spPr>
          <a:xfrm>
            <a:off x="4952980" y="3235523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BCP testing and tabletop exercises</a:t>
            </a:r>
            <a:endParaRPr lang="en-US" sz="760"/>
          </a:p>
        </p:txBody>
      </p:sp>
      <p:sp>
        <p:nvSpPr>
          <p:cNvPr id="32" name="Text 26"/>
          <p:cNvSpPr/>
          <p:nvPr/>
        </p:nvSpPr>
        <p:spPr>
          <a:xfrm>
            <a:off x="4952980" y="3565029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roles &amp; responsibilities during incidents</a:t>
            </a:r>
            <a:endParaRPr lang="en-US" sz="760"/>
          </a:p>
        </p:txBody>
      </p:sp>
      <p:sp>
        <p:nvSpPr>
          <p:cNvPr id="33" name="Text 27"/>
          <p:cNvSpPr/>
          <p:nvPr/>
        </p:nvSpPr>
        <p:spPr>
          <a:xfrm>
            <a:off x="6765578" y="1275159"/>
            <a:ext cx="1978372" cy="3136850"/>
          </a:xfrm>
          <a:prstGeom prst="roundRect">
            <a:avLst>
              <a:gd name="adj" fmla="val 5071"/>
            </a:avLst>
          </a:prstGeom>
          <a:solidFill>
            <a:srgbClr val="162032"/>
          </a:solidFill>
          <a:ln w="9525">
            <a:solidFill>
              <a:srgbClr val="00B4D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6946553" y="148530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A78BFA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4510" y="1573262"/>
            <a:ext cx="139005" cy="1390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946553" y="1900535"/>
            <a:ext cx="177806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Testing &amp; Validation</a:t>
            </a:r>
            <a:endParaRPr lang="en-US" sz="960"/>
          </a:p>
        </p:txBody>
      </p:sp>
      <p:sp>
        <p:nvSpPr>
          <p:cNvPr id="37" name="Text 30"/>
          <p:cNvSpPr/>
          <p:nvPr/>
        </p:nvSpPr>
        <p:spPr>
          <a:xfrm>
            <a:off x="7074823" y="2139107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backup restoration tests to verify data integrity</a:t>
            </a:r>
            <a:endParaRPr lang="en-US" sz="760"/>
          </a:p>
        </p:txBody>
      </p:sp>
      <p:sp>
        <p:nvSpPr>
          <p:cNvPr id="38" name="Text 31"/>
          <p:cNvSpPr/>
          <p:nvPr/>
        </p:nvSpPr>
        <p:spPr>
          <a:xfrm>
            <a:off x="7074823" y="2468612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DR failover drills between Seattle &amp; Atlanta</a:t>
            </a:r>
            <a:endParaRPr lang="en-US" sz="760"/>
          </a:p>
        </p:txBody>
      </p:sp>
      <p:sp>
        <p:nvSpPr>
          <p:cNvPr id="39" name="Text 32"/>
          <p:cNvSpPr/>
          <p:nvPr/>
        </p:nvSpPr>
        <p:spPr>
          <a:xfrm>
            <a:off x="7074823" y="2798118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test results and remediation actions</a:t>
            </a:r>
            <a:endParaRPr lang="en-US" sz="760"/>
          </a:p>
        </p:txBody>
      </p:sp>
      <p:sp>
        <p:nvSpPr>
          <p:cNvPr id="40" name="Text 33"/>
          <p:cNvSpPr/>
          <p:nvPr/>
        </p:nvSpPr>
        <p:spPr>
          <a:xfrm>
            <a:off x="7074823" y="3127623"/>
            <a:ext cx="151791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backup verification script runs nightly &amp; logs results</a:t>
            </a:r>
            <a:endParaRPr lang="en-US" sz="760"/>
          </a:p>
        </p:txBody>
      </p:sp>
      <p:sp>
        <p:nvSpPr>
          <p:cNvPr id="41" name="Text 34"/>
          <p:cNvSpPr/>
          <p:nvPr/>
        </p:nvSpPr>
        <p:spPr>
          <a:xfrm>
            <a:off x="400050" y="4569470"/>
            <a:ext cx="8343900" cy="9525"/>
          </a:xfrm>
          <a:prstGeom prst="rect">
            <a:avLst/>
          </a:prstGeom>
          <a:solidFill>
            <a:srgbClr val="8899B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853827" y="4760863"/>
            <a:ext cx="57150" cy="57150"/>
          </a:xfrm>
          <a:prstGeom prst="ellipse">
            <a:avLst/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981968" y="4719935"/>
            <a:ext cx="2206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730"/>
          </a:p>
        </p:txBody>
      </p:sp>
      <p:sp>
        <p:nvSpPr>
          <p:cNvPr id="44" name="Text 37"/>
          <p:cNvSpPr/>
          <p:nvPr/>
        </p:nvSpPr>
        <p:spPr>
          <a:xfrm>
            <a:off x="1253579" y="4693295"/>
            <a:ext cx="44644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Hour</a:t>
            </a:r>
            <a:endParaRPr lang="en-US" sz="1010"/>
          </a:p>
        </p:txBody>
      </p:sp>
      <p:sp>
        <p:nvSpPr>
          <p:cNvPr id="45" name="Text 38"/>
          <p:cNvSpPr/>
          <p:nvPr/>
        </p:nvSpPr>
        <p:spPr>
          <a:xfrm>
            <a:off x="2002334" y="4703713"/>
            <a:ext cx="7590" cy="171450"/>
          </a:xfrm>
          <a:prstGeom prst="rect">
            <a:avLst/>
          </a:prstGeom>
          <a:solidFill>
            <a:srgbClr val="8899B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6" name="Text 39"/>
          <p:cNvSpPr/>
          <p:nvPr/>
        </p:nvSpPr>
        <p:spPr>
          <a:xfrm>
            <a:off x="2352824" y="4760863"/>
            <a:ext cx="57150" cy="57150"/>
          </a:xfrm>
          <a:prstGeom prst="ellipse">
            <a:avLst/>
          </a:prstGeom>
          <a:solidFill>
            <a:srgbClr val="FBBF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2480965" y="4719935"/>
            <a:ext cx="21135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730"/>
          </a:p>
        </p:txBody>
      </p:sp>
      <p:sp>
        <p:nvSpPr>
          <p:cNvPr id="48" name="Text 41"/>
          <p:cNvSpPr/>
          <p:nvPr/>
        </p:nvSpPr>
        <p:spPr>
          <a:xfrm>
            <a:off x="2744093" y="4693295"/>
            <a:ext cx="52485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Hours</a:t>
            </a:r>
            <a:endParaRPr lang="en-US" sz="1010"/>
          </a:p>
        </p:txBody>
      </p:sp>
      <p:sp>
        <p:nvSpPr>
          <p:cNvPr id="49" name="Text 42"/>
          <p:cNvSpPr/>
          <p:nvPr/>
        </p:nvSpPr>
        <p:spPr>
          <a:xfrm>
            <a:off x="3564136" y="4703713"/>
            <a:ext cx="7590" cy="171450"/>
          </a:xfrm>
          <a:prstGeom prst="rect">
            <a:avLst/>
          </a:prstGeom>
          <a:solidFill>
            <a:srgbClr val="8899B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3914626" y="4760863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4042767" y="4719935"/>
            <a:ext cx="60000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</a:t>
            </a:r>
            <a:endParaRPr lang="en-US" sz="730"/>
          </a:p>
        </p:txBody>
      </p:sp>
      <p:sp>
        <p:nvSpPr>
          <p:cNvPr id="52" name="Text 45"/>
          <p:cNvSpPr/>
          <p:nvPr/>
        </p:nvSpPr>
        <p:spPr>
          <a:xfrm>
            <a:off x="4659213" y="4693295"/>
            <a:ext cx="1114871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Seattle &amp; Atlanta</a:t>
            </a:r>
            <a:endParaRPr lang="en-US" sz="1010"/>
          </a:p>
        </p:txBody>
      </p:sp>
      <p:sp>
        <p:nvSpPr>
          <p:cNvPr id="53" name="Text 46"/>
          <p:cNvSpPr/>
          <p:nvPr/>
        </p:nvSpPr>
        <p:spPr>
          <a:xfrm>
            <a:off x="6015633" y="4703713"/>
            <a:ext cx="7590" cy="171450"/>
          </a:xfrm>
          <a:prstGeom prst="rect">
            <a:avLst/>
          </a:prstGeom>
          <a:solidFill>
            <a:srgbClr val="8899B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6366123" y="4760863"/>
            <a:ext cx="57150" cy="57150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6494264" y="4719935"/>
            <a:ext cx="7756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Cadence</a:t>
            </a:r>
            <a:endParaRPr lang="en-US" sz="730"/>
          </a:p>
        </p:txBody>
      </p:sp>
      <p:sp>
        <p:nvSpPr>
          <p:cNvPr id="56" name="Text 49"/>
          <p:cNvSpPr/>
          <p:nvPr/>
        </p:nvSpPr>
        <p:spPr>
          <a:xfrm>
            <a:off x="7270403" y="4693295"/>
            <a:ext cx="1121584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Nightly + Weekly</a:t>
            </a:r>
            <a:endParaRPr lang="en-US" sz="1010"/>
          </a:p>
        </p:txBody>
      </p:sp>
      <p:sp>
        <p:nvSpPr>
          <p:cNvPr id="57" name="Text 50"/>
          <p:cNvSpPr/>
          <p:nvPr/>
        </p:nvSpPr>
        <p:spPr>
          <a:xfrm>
            <a:off x="409575" y="1284684"/>
            <a:ext cx="1959321" cy="21580"/>
          </a:xfrm>
          <a:custGeom>
            <a:avLst/>
            <a:gdLst/>
            <a:ahLst/>
            <a:cxnLst/>
            <a:rect l="l" t="t" r="r" b="b"/>
            <a:pathLst>
              <a:path w="1959321" h="21580">
                <a:moveTo>
                  <a:pt x="100330" y="0"/>
                </a:moveTo>
                <a:lnTo>
                  <a:pt x="1858991" y="0"/>
                </a:lnTo>
                <a:lnTo>
                  <a:pt x="1882100" y="2698"/>
                </a:lnTo>
                <a:lnTo>
                  <a:pt x="1891448" y="5395"/>
                </a:lnTo>
                <a:lnTo>
                  <a:pt x="1898467" y="8093"/>
                </a:lnTo>
                <a:lnTo>
                  <a:pt x="1904254" y="10790"/>
                </a:lnTo>
                <a:lnTo>
                  <a:pt x="1909236" y="13488"/>
                </a:lnTo>
                <a:lnTo>
                  <a:pt x="1913633" y="16185"/>
                </a:lnTo>
                <a:lnTo>
                  <a:pt x="1917578" y="18883"/>
                </a:lnTo>
                <a:lnTo>
                  <a:pt x="1921157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8" name="Text 51"/>
          <p:cNvSpPr/>
          <p:nvPr/>
        </p:nvSpPr>
        <p:spPr>
          <a:xfrm>
            <a:off x="581025" y="2296537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9" name="Text 52"/>
          <p:cNvSpPr/>
          <p:nvPr/>
        </p:nvSpPr>
        <p:spPr>
          <a:xfrm>
            <a:off x="581025" y="2485995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0" name="Text 53"/>
          <p:cNvSpPr/>
          <p:nvPr/>
        </p:nvSpPr>
        <p:spPr>
          <a:xfrm>
            <a:off x="581025" y="2815501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581025" y="3145006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2" name="Text 55"/>
          <p:cNvSpPr/>
          <p:nvPr/>
        </p:nvSpPr>
        <p:spPr>
          <a:xfrm>
            <a:off x="581025" y="3474512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3" name="Text 56"/>
          <p:cNvSpPr/>
          <p:nvPr/>
        </p:nvSpPr>
        <p:spPr>
          <a:xfrm>
            <a:off x="2531418" y="1284684"/>
            <a:ext cx="1959321" cy="21580"/>
          </a:xfrm>
          <a:custGeom>
            <a:avLst/>
            <a:gdLst/>
            <a:ahLst/>
            <a:cxnLst/>
            <a:rect l="l" t="t" r="r" b="b"/>
            <a:pathLst>
              <a:path w="1959321" h="21580">
                <a:moveTo>
                  <a:pt x="100330" y="0"/>
                </a:moveTo>
                <a:lnTo>
                  <a:pt x="1858991" y="0"/>
                </a:lnTo>
                <a:lnTo>
                  <a:pt x="1882100" y="2698"/>
                </a:lnTo>
                <a:lnTo>
                  <a:pt x="1891448" y="5395"/>
                </a:lnTo>
                <a:lnTo>
                  <a:pt x="1898467" y="8093"/>
                </a:lnTo>
                <a:lnTo>
                  <a:pt x="1904254" y="10790"/>
                </a:lnTo>
                <a:lnTo>
                  <a:pt x="1909236" y="13488"/>
                </a:lnTo>
                <a:lnTo>
                  <a:pt x="1913633" y="16185"/>
                </a:lnTo>
                <a:lnTo>
                  <a:pt x="1917578" y="18883"/>
                </a:lnTo>
                <a:lnTo>
                  <a:pt x="1921157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4" name="Text 57"/>
          <p:cNvSpPr/>
          <p:nvPr/>
        </p:nvSpPr>
        <p:spPr>
          <a:xfrm>
            <a:off x="2702868" y="2188637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5" name="Text 58"/>
          <p:cNvSpPr/>
          <p:nvPr/>
        </p:nvSpPr>
        <p:spPr>
          <a:xfrm>
            <a:off x="2702868" y="2518142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6" name="Text 59"/>
          <p:cNvSpPr/>
          <p:nvPr/>
        </p:nvSpPr>
        <p:spPr>
          <a:xfrm>
            <a:off x="2702868" y="2707600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7" name="Text 60"/>
          <p:cNvSpPr/>
          <p:nvPr/>
        </p:nvSpPr>
        <p:spPr>
          <a:xfrm>
            <a:off x="2702868" y="2897059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8" name="Text 61"/>
          <p:cNvSpPr/>
          <p:nvPr/>
        </p:nvSpPr>
        <p:spPr>
          <a:xfrm>
            <a:off x="2702868" y="3226564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9" name="Text 62"/>
          <p:cNvSpPr/>
          <p:nvPr/>
        </p:nvSpPr>
        <p:spPr>
          <a:xfrm>
            <a:off x="4653260" y="1284684"/>
            <a:ext cx="1959321" cy="21580"/>
          </a:xfrm>
          <a:custGeom>
            <a:avLst/>
            <a:gdLst/>
            <a:ahLst/>
            <a:cxnLst/>
            <a:rect l="l" t="t" r="r" b="b"/>
            <a:pathLst>
              <a:path w="1959321" h="21580">
                <a:moveTo>
                  <a:pt x="100330" y="0"/>
                </a:moveTo>
                <a:lnTo>
                  <a:pt x="1858991" y="0"/>
                </a:lnTo>
                <a:lnTo>
                  <a:pt x="1882100" y="2698"/>
                </a:lnTo>
                <a:lnTo>
                  <a:pt x="1891448" y="5395"/>
                </a:lnTo>
                <a:lnTo>
                  <a:pt x="1898467" y="8093"/>
                </a:lnTo>
                <a:lnTo>
                  <a:pt x="1904254" y="10790"/>
                </a:lnTo>
                <a:lnTo>
                  <a:pt x="1909236" y="13488"/>
                </a:lnTo>
                <a:lnTo>
                  <a:pt x="1913633" y="16185"/>
                </a:lnTo>
                <a:lnTo>
                  <a:pt x="1917578" y="18883"/>
                </a:lnTo>
                <a:lnTo>
                  <a:pt x="1921157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0" name="Text 63"/>
          <p:cNvSpPr/>
          <p:nvPr/>
        </p:nvSpPr>
        <p:spPr>
          <a:xfrm>
            <a:off x="4824710" y="2296537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1" name="Text 64"/>
          <p:cNvSpPr/>
          <p:nvPr/>
        </p:nvSpPr>
        <p:spPr>
          <a:xfrm>
            <a:off x="4824710" y="2626042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2" name="Text 65"/>
          <p:cNvSpPr/>
          <p:nvPr/>
        </p:nvSpPr>
        <p:spPr>
          <a:xfrm>
            <a:off x="4824710" y="2955548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3" name="Text 66"/>
          <p:cNvSpPr/>
          <p:nvPr/>
        </p:nvSpPr>
        <p:spPr>
          <a:xfrm>
            <a:off x="4824710" y="3285053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4" name="Text 67"/>
          <p:cNvSpPr/>
          <p:nvPr/>
        </p:nvSpPr>
        <p:spPr>
          <a:xfrm>
            <a:off x="4824710" y="3614559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5" name="Text 68"/>
          <p:cNvSpPr/>
          <p:nvPr/>
        </p:nvSpPr>
        <p:spPr>
          <a:xfrm>
            <a:off x="6775103" y="1284684"/>
            <a:ext cx="1959321" cy="21580"/>
          </a:xfrm>
          <a:custGeom>
            <a:avLst/>
            <a:gdLst/>
            <a:ahLst/>
            <a:cxnLst/>
            <a:rect l="l" t="t" r="r" b="b"/>
            <a:pathLst>
              <a:path w="1959321" h="21580">
                <a:moveTo>
                  <a:pt x="100330" y="0"/>
                </a:moveTo>
                <a:lnTo>
                  <a:pt x="1858991" y="0"/>
                </a:lnTo>
                <a:lnTo>
                  <a:pt x="1882100" y="2698"/>
                </a:lnTo>
                <a:lnTo>
                  <a:pt x="1891448" y="5395"/>
                </a:lnTo>
                <a:lnTo>
                  <a:pt x="1898467" y="8093"/>
                </a:lnTo>
                <a:lnTo>
                  <a:pt x="1904254" y="10790"/>
                </a:lnTo>
                <a:lnTo>
                  <a:pt x="1909236" y="13488"/>
                </a:lnTo>
                <a:lnTo>
                  <a:pt x="1913633" y="16185"/>
                </a:lnTo>
                <a:lnTo>
                  <a:pt x="1917578" y="18883"/>
                </a:lnTo>
                <a:lnTo>
                  <a:pt x="1921157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00B4D8"/>
              </a:gs>
              <a:gs pos="100000">
                <a:srgbClr val="00B4D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6" name="Text 69"/>
          <p:cNvSpPr/>
          <p:nvPr/>
        </p:nvSpPr>
        <p:spPr>
          <a:xfrm>
            <a:off x="6946553" y="2188637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7" name="Text 70"/>
          <p:cNvSpPr/>
          <p:nvPr/>
        </p:nvSpPr>
        <p:spPr>
          <a:xfrm>
            <a:off x="6946553" y="2518142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8" name="Text 71"/>
          <p:cNvSpPr/>
          <p:nvPr/>
        </p:nvSpPr>
        <p:spPr>
          <a:xfrm>
            <a:off x="6946553" y="2847648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9" name="Text 72"/>
          <p:cNvSpPr/>
          <p:nvPr/>
        </p:nvSpPr>
        <p:spPr>
          <a:xfrm>
            <a:off x="6946553" y="3177153"/>
            <a:ext cx="43160" cy="431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A5D38-D804-4455-CB41-6B72B7CF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53259EE-ED76-95C9-4066-62410C9B89B9}"/>
              </a:ext>
            </a:extLst>
          </p:cNvPr>
          <p:cNvSpPr/>
          <p:nvPr/>
        </p:nvSpPr>
        <p:spPr>
          <a:xfrm>
            <a:off x="400050" y="511076"/>
            <a:ext cx="8927973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buNone/>
            </a:pPr>
            <a:r>
              <a:rPr lang="en-US" sz="20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Disaster Recovery</a:t>
            </a:r>
            <a:endParaRPr lang="en-US" sz="203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07E36E-EEEF-3DD8-71EA-56DB036D4C3D}"/>
              </a:ext>
            </a:extLst>
          </p:cNvPr>
          <p:cNvSpPr/>
          <p:nvPr/>
        </p:nvSpPr>
        <p:spPr>
          <a:xfrm>
            <a:off x="400050" y="893713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A665E68E-B3DA-5B6E-6851-28E06E30719E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76806B81-6492-FED4-068A-5A026CEFA737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68430-C5F9-2DA9-9678-EDD4A93E2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13" y="903892"/>
            <a:ext cx="6728227" cy="382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10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B7001-F961-2753-7FD0-A1F1BC2C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27">
            <a:extLst>
              <a:ext uri="{FF2B5EF4-FFF2-40B4-BE49-F238E27FC236}">
                <a16:creationId xmlns:a16="http://schemas.microsoft.com/office/drawing/2014/main" id="{9B11D179-145B-8704-E83F-4FECC57FE879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CDA1DE7-472A-EA19-5513-80D3F3009D11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796A0-E7E2-FE42-69CB-F0247FA07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15" y="346771"/>
            <a:ext cx="8675761" cy="460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4512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117A1-C68D-26DA-1B3B-7779462E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27">
            <a:extLst>
              <a:ext uri="{FF2B5EF4-FFF2-40B4-BE49-F238E27FC236}">
                <a16:creationId xmlns:a16="http://schemas.microsoft.com/office/drawing/2014/main" id="{71F06C7C-A193-6FA2-8B5D-E8C69AA33DE9}"/>
              </a:ext>
            </a:extLst>
          </p:cNvPr>
          <p:cNvSpPr/>
          <p:nvPr/>
        </p:nvSpPr>
        <p:spPr>
          <a:xfrm>
            <a:off x="400050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E74EDD9-FD6F-0066-4101-F33A20629EE5}"/>
              </a:ext>
            </a:extLst>
          </p:cNvPr>
          <p:cNvSpPr/>
          <p:nvPr/>
        </p:nvSpPr>
        <p:spPr>
          <a:xfrm>
            <a:off x="5771555" y="4789140"/>
            <a:ext cx="2972395" cy="759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1C5D6C-9E3A-EB00-DBF0-E0B16ACED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42" y="209315"/>
            <a:ext cx="7567316" cy="457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62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35421" cy="257770"/>
          </a:xfrm>
          <a:prstGeom prst="roundRect">
            <a:avLst>
              <a:gd name="adj" fmla="val 60953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92621" y="233660"/>
            <a:ext cx="32433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90" kern="0" spc="3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Workplan — </a:t>
            </a:r>
            <a:r>
              <a:rPr lang="en-US" sz="1690" kern="0" spc="3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 1–5</a:t>
            </a:r>
            <a:endParaRPr lang="en-US" sz="1690"/>
          </a:p>
        </p:txBody>
      </p:sp>
      <p:sp>
        <p:nvSpPr>
          <p:cNvPr id="4" name="Text 2"/>
          <p:cNvSpPr/>
          <p:nvPr/>
        </p:nvSpPr>
        <p:spPr>
          <a:xfrm>
            <a:off x="500360" y="614511"/>
            <a:ext cx="582626" cy="157460"/>
          </a:xfrm>
          <a:prstGeom prst="roundRect">
            <a:avLst>
              <a:gd name="adj" fmla="val 91141"/>
            </a:avLst>
          </a:prstGeom>
          <a:solidFill>
            <a:srgbClr val="00B4D8">
              <a:alpha val="12000"/>
            </a:srgbClr>
          </a:solidFill>
          <a:ln w="9525">
            <a:solidFill>
              <a:srgbClr val="00B4D8">
                <a:alpha val="25000"/>
              </a:srgbClr>
            </a:solidFill>
          </a:ln>
        </p:spPr>
        <p:txBody>
          <a:bodyPr wrap="none" lIns="86360" tIns="21590" rIns="86360" bIns="21590" rtlCol="0" anchor="t"/>
          <a:lstStyle/>
          <a:p>
            <a:pPr marL="0" indent="0" algn="l">
              <a:buNone/>
            </a:pPr>
            <a:r>
              <a:rPr lang="en-US" sz="650" b="1" kern="0" spc="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650"/>
          </a:p>
        </p:txBody>
      </p:sp>
      <p:sp>
        <p:nvSpPr>
          <p:cNvPr id="5" name="Text 3"/>
          <p:cNvSpPr/>
          <p:nvPr/>
        </p:nvSpPr>
        <p:spPr>
          <a:xfrm>
            <a:off x="1199704" y="645616"/>
            <a:ext cx="219994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Size: 6 Members  ·  All Statuses: Not Started</a:t>
            </a:r>
            <a:endParaRPr lang="en-US" sz="700"/>
          </a:p>
        </p:txBody>
      </p:sp>
      <p:sp>
        <p:nvSpPr>
          <p:cNvPr id="6" name="Text 4"/>
          <p:cNvSpPr/>
          <p:nvPr/>
        </p:nvSpPr>
        <p:spPr>
          <a:xfrm>
            <a:off x="342900" y="887462"/>
            <a:ext cx="8458200" cy="620762"/>
          </a:xfrm>
          <a:prstGeom prst="roundRect">
            <a:avLst>
              <a:gd name="adj" fmla="val 11457"/>
            </a:avLst>
          </a:prstGeom>
          <a:solidFill>
            <a:srgbClr val="162032"/>
          </a:solidFill>
          <a:ln w="9525">
            <a:solidFill>
              <a:srgbClr val="8899B0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5895" y="1011138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625" y="1089868"/>
            <a:ext cx="157460" cy="157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5116" y="1006376"/>
            <a:ext cx="19265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</a:t>
            </a:r>
            <a:r>
              <a:rPr lang="en-US" sz="840" b="1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Organization Chart</a:t>
            </a:r>
            <a:endParaRPr lang="en-US" sz="840"/>
          </a:p>
        </p:txBody>
      </p:sp>
      <p:sp>
        <p:nvSpPr>
          <p:cNvPr id="10" name="Text 7"/>
          <p:cNvSpPr/>
          <p:nvPr/>
        </p:nvSpPr>
        <p:spPr>
          <a:xfrm>
            <a:off x="7917656" y="997297"/>
            <a:ext cx="745057" cy="132457"/>
          </a:xfrm>
          <a:prstGeom prst="roundRect">
            <a:avLst>
              <a:gd name="adj" fmla="val 65199"/>
            </a:avLst>
          </a:prstGeom>
          <a:solidFill>
            <a:srgbClr val="8899B0">
              <a:alpha val="12000"/>
            </a:srgbClr>
          </a:solidFill>
          <a:ln w="9525">
            <a:solidFill>
              <a:srgbClr val="8899B0">
                <a:alpha val="20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560" b="1" kern="0" spc="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560"/>
          </a:p>
        </p:txBody>
      </p:sp>
      <p:sp>
        <p:nvSpPr>
          <p:cNvPr id="11" name="Text 8"/>
          <p:cNvSpPr/>
          <p:nvPr/>
        </p:nvSpPr>
        <p:spPr>
          <a:xfrm>
            <a:off x="1046857" y="1151186"/>
            <a:ext cx="27405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Achraf</a:t>
            </a:r>
            <a:endParaRPr lang="en-US" sz="68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982" y="1132517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61207" y="1151186"/>
            <a:ext cx="92234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 – Apr 17, 2026</a:t>
            </a:r>
            <a:endParaRPr lang="en-US" sz="68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6332" y="1132517"/>
            <a:ext cx="132588" cy="132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43175" y="1151186"/>
            <a:ext cx="94002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</a:t>
            </a: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None</a:t>
            </a:r>
            <a:endParaRPr lang="en-US" sz="680"/>
          </a:p>
        </p:txBody>
      </p:sp>
      <p:sp>
        <p:nvSpPr>
          <p:cNvPr id="16" name="Text 11"/>
          <p:cNvSpPr/>
          <p:nvPr/>
        </p:nvSpPr>
        <p:spPr>
          <a:xfrm>
            <a:off x="925116" y="1274118"/>
            <a:ext cx="849528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>
                <a:solidFill>
                  <a:srgbClr val="E8EDF5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high-level org chart in PowerPoint</a:t>
            </a:r>
            <a:endParaRPr lang="en-US" sz="700"/>
          </a:p>
        </p:txBody>
      </p:sp>
      <p:sp>
        <p:nvSpPr>
          <p:cNvPr id="17" name="Text 12"/>
          <p:cNvSpPr/>
          <p:nvPr/>
        </p:nvSpPr>
        <p:spPr>
          <a:xfrm>
            <a:off x="342900" y="1565374"/>
            <a:ext cx="8458200" cy="620762"/>
          </a:xfrm>
          <a:prstGeom prst="roundRect">
            <a:avLst>
              <a:gd name="adj" fmla="val 11457"/>
            </a:avLst>
          </a:prstGeom>
          <a:solidFill>
            <a:srgbClr val="162032"/>
          </a:solidFill>
          <a:ln w="9525">
            <a:solidFill>
              <a:srgbClr val="8899B0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95895" y="168905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4625" y="1767780"/>
            <a:ext cx="157460" cy="157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5116" y="1684288"/>
            <a:ext cx="23870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</a:t>
            </a:r>
            <a:r>
              <a:rPr lang="en-US" sz="840" b="1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Identify Departments per Location</a:t>
            </a:r>
            <a:endParaRPr lang="en-US" sz="840"/>
          </a:p>
        </p:txBody>
      </p:sp>
      <p:sp>
        <p:nvSpPr>
          <p:cNvPr id="21" name="Text 15"/>
          <p:cNvSpPr/>
          <p:nvPr/>
        </p:nvSpPr>
        <p:spPr>
          <a:xfrm>
            <a:off x="7917656" y="1675209"/>
            <a:ext cx="745057" cy="132457"/>
          </a:xfrm>
          <a:prstGeom prst="roundRect">
            <a:avLst>
              <a:gd name="adj" fmla="val 65199"/>
            </a:avLst>
          </a:prstGeom>
          <a:solidFill>
            <a:srgbClr val="8899B0">
              <a:alpha val="12000"/>
            </a:srgbClr>
          </a:solidFill>
          <a:ln w="9525">
            <a:solidFill>
              <a:srgbClr val="8899B0">
                <a:alpha val="20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560" b="1" kern="0" spc="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560"/>
          </a:p>
        </p:txBody>
      </p:sp>
      <p:sp>
        <p:nvSpPr>
          <p:cNvPr id="22" name="Text 16"/>
          <p:cNvSpPr/>
          <p:nvPr/>
        </p:nvSpPr>
        <p:spPr>
          <a:xfrm>
            <a:off x="1046857" y="1829098"/>
            <a:ext cx="27405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Achraf</a:t>
            </a:r>
            <a:endParaRPr lang="en-US" sz="68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1982" y="1810429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61207" y="1829098"/>
            <a:ext cx="92234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 – Apr 18, 2026</a:t>
            </a:r>
            <a:endParaRPr lang="en-US" sz="68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6332" y="1810429"/>
            <a:ext cx="132588" cy="1325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43175" y="1829098"/>
            <a:ext cx="94002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</a:t>
            </a: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None</a:t>
            </a:r>
            <a:endParaRPr lang="en-US" sz="680"/>
          </a:p>
        </p:txBody>
      </p:sp>
      <p:sp>
        <p:nvSpPr>
          <p:cNvPr id="27" name="Text 19"/>
          <p:cNvSpPr/>
          <p:nvPr/>
        </p:nvSpPr>
        <p:spPr>
          <a:xfrm>
            <a:off x="925116" y="1952030"/>
            <a:ext cx="849528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>
                <a:solidFill>
                  <a:srgbClr val="E8EDF5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departments for Dallas, Chicago, Milwaukee, Atlanta, SF, Seattle, Austin</a:t>
            </a:r>
            <a:endParaRPr lang="en-US" sz="700"/>
          </a:p>
        </p:txBody>
      </p:sp>
      <p:sp>
        <p:nvSpPr>
          <p:cNvPr id="28" name="Text 20"/>
          <p:cNvSpPr/>
          <p:nvPr/>
        </p:nvSpPr>
        <p:spPr>
          <a:xfrm>
            <a:off x="342900" y="2243286"/>
            <a:ext cx="8458200" cy="620762"/>
          </a:xfrm>
          <a:prstGeom prst="roundRect">
            <a:avLst>
              <a:gd name="adj" fmla="val 11457"/>
            </a:avLst>
          </a:prstGeom>
          <a:solidFill>
            <a:srgbClr val="162032"/>
          </a:solidFill>
          <a:ln w="9525">
            <a:solidFill>
              <a:srgbClr val="8899B0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495895" y="236696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4625" y="2445693"/>
            <a:ext cx="157460" cy="157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25116" y="2362200"/>
            <a:ext cx="241702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</a:t>
            </a:r>
            <a:r>
              <a:rPr lang="en-US" sz="840" b="1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Project Timeline / Workplan</a:t>
            </a:r>
            <a:endParaRPr lang="en-US" sz="840"/>
          </a:p>
        </p:txBody>
      </p:sp>
      <p:sp>
        <p:nvSpPr>
          <p:cNvPr id="32" name="Text 23"/>
          <p:cNvSpPr/>
          <p:nvPr/>
        </p:nvSpPr>
        <p:spPr>
          <a:xfrm>
            <a:off x="7917656" y="2353121"/>
            <a:ext cx="745057" cy="132457"/>
          </a:xfrm>
          <a:prstGeom prst="roundRect">
            <a:avLst>
              <a:gd name="adj" fmla="val 65199"/>
            </a:avLst>
          </a:prstGeom>
          <a:solidFill>
            <a:srgbClr val="8899B0">
              <a:alpha val="12000"/>
            </a:srgbClr>
          </a:solidFill>
          <a:ln w="9525">
            <a:solidFill>
              <a:srgbClr val="8899B0">
                <a:alpha val="20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560" b="1" kern="0" spc="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560"/>
          </a:p>
        </p:txBody>
      </p:sp>
      <p:sp>
        <p:nvSpPr>
          <p:cNvPr id="33" name="Text 24"/>
          <p:cNvSpPr/>
          <p:nvPr/>
        </p:nvSpPr>
        <p:spPr>
          <a:xfrm>
            <a:off x="1046857" y="2507010"/>
            <a:ext cx="25309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68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1982" y="2488341"/>
            <a:ext cx="132588" cy="1325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542157" y="2507010"/>
            <a:ext cx="92234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 – Apr 19, 2026</a:t>
            </a:r>
            <a:endParaRPr lang="en-US" sz="68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7282" y="2488341"/>
            <a:ext cx="132588" cy="13258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2524125" y="2507010"/>
            <a:ext cx="94002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</a:t>
            </a: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None</a:t>
            </a:r>
            <a:endParaRPr lang="en-US" sz="680"/>
          </a:p>
        </p:txBody>
      </p:sp>
      <p:sp>
        <p:nvSpPr>
          <p:cNvPr id="38" name="Text 27"/>
          <p:cNvSpPr/>
          <p:nvPr/>
        </p:nvSpPr>
        <p:spPr>
          <a:xfrm>
            <a:off x="925116" y="2629942"/>
            <a:ext cx="849528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>
                <a:solidFill>
                  <a:srgbClr val="E8EDF5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full project timeline and workplan document</a:t>
            </a:r>
            <a:endParaRPr lang="en-US" sz="700"/>
          </a:p>
        </p:txBody>
      </p:sp>
      <p:sp>
        <p:nvSpPr>
          <p:cNvPr id="39" name="Text 28"/>
          <p:cNvSpPr/>
          <p:nvPr/>
        </p:nvSpPr>
        <p:spPr>
          <a:xfrm>
            <a:off x="342900" y="2921198"/>
            <a:ext cx="8458200" cy="620762"/>
          </a:xfrm>
          <a:prstGeom prst="roundRect">
            <a:avLst>
              <a:gd name="adj" fmla="val 11457"/>
            </a:avLst>
          </a:prstGeom>
          <a:solidFill>
            <a:srgbClr val="162032"/>
          </a:solidFill>
          <a:ln w="9525">
            <a:solidFill>
              <a:srgbClr val="8899B0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0" name="Text 29"/>
          <p:cNvSpPr/>
          <p:nvPr/>
        </p:nvSpPr>
        <p:spPr>
          <a:xfrm>
            <a:off x="495895" y="3044875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4625" y="3123605"/>
            <a:ext cx="157460" cy="15746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25116" y="3040112"/>
            <a:ext cx="185746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</a:t>
            </a:r>
            <a:r>
              <a:rPr lang="en-US" sz="840" b="1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 Network Diagram</a:t>
            </a:r>
            <a:endParaRPr lang="en-US" sz="840"/>
          </a:p>
        </p:txBody>
      </p:sp>
      <p:sp>
        <p:nvSpPr>
          <p:cNvPr id="43" name="Text 31"/>
          <p:cNvSpPr/>
          <p:nvPr/>
        </p:nvSpPr>
        <p:spPr>
          <a:xfrm>
            <a:off x="7917656" y="3031034"/>
            <a:ext cx="745057" cy="132457"/>
          </a:xfrm>
          <a:prstGeom prst="roundRect">
            <a:avLst>
              <a:gd name="adj" fmla="val 65199"/>
            </a:avLst>
          </a:prstGeom>
          <a:solidFill>
            <a:srgbClr val="8899B0">
              <a:alpha val="12000"/>
            </a:srgbClr>
          </a:solidFill>
          <a:ln w="9525">
            <a:solidFill>
              <a:srgbClr val="8899B0">
                <a:alpha val="20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560" b="1" kern="0" spc="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560"/>
          </a:p>
        </p:txBody>
      </p:sp>
      <p:sp>
        <p:nvSpPr>
          <p:cNvPr id="44" name="Text 32"/>
          <p:cNvSpPr/>
          <p:nvPr/>
        </p:nvSpPr>
        <p:spPr>
          <a:xfrm>
            <a:off x="1046857" y="3184922"/>
            <a:ext cx="25309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68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1982" y="3166253"/>
            <a:ext cx="132588" cy="132588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1542157" y="3184922"/>
            <a:ext cx="92234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 – Apr 24, 2026</a:t>
            </a:r>
            <a:endParaRPr lang="en-US" sz="68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97282" y="3166253"/>
            <a:ext cx="132588" cy="13258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2524125" y="3184922"/>
            <a:ext cx="98734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</a:t>
            </a: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 2</a:t>
            </a:r>
            <a:endParaRPr lang="en-US" sz="680"/>
          </a:p>
        </p:txBody>
      </p:sp>
      <p:sp>
        <p:nvSpPr>
          <p:cNvPr id="49" name="Text 35"/>
          <p:cNvSpPr/>
          <p:nvPr/>
        </p:nvSpPr>
        <p:spPr>
          <a:xfrm>
            <a:off x="925116" y="3307854"/>
            <a:ext cx="849528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>
                <a:solidFill>
                  <a:srgbClr val="E8EDF5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network segmentation, IP scheme, firewalls, security, monitoring, DR/BCP</a:t>
            </a:r>
            <a:endParaRPr lang="en-US" sz="700"/>
          </a:p>
        </p:txBody>
      </p:sp>
      <p:sp>
        <p:nvSpPr>
          <p:cNvPr id="50" name="Text 36"/>
          <p:cNvSpPr/>
          <p:nvPr/>
        </p:nvSpPr>
        <p:spPr>
          <a:xfrm>
            <a:off x="342900" y="3599111"/>
            <a:ext cx="8458200" cy="592782"/>
          </a:xfrm>
          <a:prstGeom prst="roundRect">
            <a:avLst>
              <a:gd name="adj" fmla="val 11998"/>
            </a:avLst>
          </a:prstGeom>
          <a:solidFill>
            <a:srgbClr val="162032"/>
          </a:solidFill>
          <a:ln w="9525">
            <a:solidFill>
              <a:srgbClr val="8899B0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1" name="Text 37"/>
          <p:cNvSpPr/>
          <p:nvPr/>
        </p:nvSpPr>
        <p:spPr>
          <a:xfrm>
            <a:off x="495895" y="3708797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4625" y="3787527"/>
            <a:ext cx="157460" cy="15746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925116" y="3704034"/>
            <a:ext cx="206095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40" b="1" kern="0" spc="1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</a:t>
            </a:r>
            <a:r>
              <a:rPr lang="en-US" sz="840" b="1" kern="0" spc="1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 Network Infrastructure</a:t>
            </a:r>
            <a:endParaRPr lang="en-US" sz="840"/>
          </a:p>
        </p:txBody>
      </p:sp>
      <p:sp>
        <p:nvSpPr>
          <p:cNvPr id="54" name="Text 39"/>
          <p:cNvSpPr/>
          <p:nvPr/>
        </p:nvSpPr>
        <p:spPr>
          <a:xfrm>
            <a:off x="7917656" y="3694956"/>
            <a:ext cx="745057" cy="132457"/>
          </a:xfrm>
          <a:prstGeom prst="roundRect">
            <a:avLst>
              <a:gd name="adj" fmla="val 65199"/>
            </a:avLst>
          </a:prstGeom>
          <a:solidFill>
            <a:srgbClr val="8899B0">
              <a:alpha val="12000"/>
            </a:srgbClr>
          </a:solidFill>
          <a:ln w="9525">
            <a:solidFill>
              <a:srgbClr val="8899B0">
                <a:alpha val="20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560" b="1" kern="0" spc="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560"/>
          </a:p>
        </p:txBody>
      </p:sp>
      <p:sp>
        <p:nvSpPr>
          <p:cNvPr id="55" name="Text 40"/>
          <p:cNvSpPr/>
          <p:nvPr/>
        </p:nvSpPr>
        <p:spPr>
          <a:xfrm>
            <a:off x="1046857" y="3848844"/>
            <a:ext cx="48311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&amp; Calib</a:t>
            </a:r>
            <a:endParaRPr lang="en-US" sz="68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1982" y="3830175"/>
            <a:ext cx="132588" cy="132588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1751261" y="3848844"/>
            <a:ext cx="92234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 – Apr 28, 2026</a:t>
            </a:r>
            <a:endParaRPr lang="en-US" sz="680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06385" y="3830175"/>
            <a:ext cx="132588" cy="132588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2733229" y="3848844"/>
            <a:ext cx="98734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68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</a:t>
            </a:r>
            <a:r>
              <a:rPr lang="en-US" sz="68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 4</a:t>
            </a:r>
            <a:endParaRPr lang="en-US" sz="680"/>
          </a:p>
        </p:txBody>
      </p:sp>
      <p:sp>
        <p:nvSpPr>
          <p:cNvPr id="60" name="Text 43"/>
          <p:cNvSpPr/>
          <p:nvPr/>
        </p:nvSpPr>
        <p:spPr>
          <a:xfrm>
            <a:off x="925116" y="3971776"/>
            <a:ext cx="849528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>
                <a:solidFill>
                  <a:srgbClr val="E8EDF5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Calib: Dallas, Seattle, Atlanta  |  Jeff: Austin, Chicago, Milwaukee, San Francisco  ·  AD, DHCP, GPOs, PowerShell scripts, users/groups, NTFS permissions, security</a:t>
            </a:r>
            <a:endParaRPr lang="en-US" sz="700"/>
          </a:p>
        </p:txBody>
      </p:sp>
      <p:sp>
        <p:nvSpPr>
          <p:cNvPr id="61" name="Text 44"/>
          <p:cNvSpPr/>
          <p:nvPr/>
        </p:nvSpPr>
        <p:spPr>
          <a:xfrm>
            <a:off x="352425" y="896987"/>
            <a:ext cx="21580" cy="601712"/>
          </a:xfrm>
          <a:custGeom>
            <a:avLst/>
            <a:gdLst/>
            <a:ahLst/>
            <a:cxnLst/>
            <a:rect l="l" t="t" r="r" b="b"/>
            <a:pathLst>
              <a:path w="21580" h="60171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81620"/>
                </a:lnTo>
                <a:lnTo>
                  <a:pt x="18883" y="578855"/>
                </a:lnTo>
                <a:lnTo>
                  <a:pt x="16185" y="575761"/>
                </a:lnTo>
                <a:lnTo>
                  <a:pt x="13488" y="572264"/>
                </a:lnTo>
                <a:lnTo>
                  <a:pt x="10790" y="568253"/>
                </a:lnTo>
                <a:lnTo>
                  <a:pt x="8093" y="563541"/>
                </a:lnTo>
                <a:lnTo>
                  <a:pt x="5395" y="557764"/>
                </a:lnTo>
                <a:lnTo>
                  <a:pt x="2698" y="549994"/>
                </a:lnTo>
                <a:lnTo>
                  <a:pt x="0" y="530592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2" name="Text 45"/>
          <p:cNvSpPr/>
          <p:nvPr/>
        </p:nvSpPr>
        <p:spPr>
          <a:xfrm>
            <a:off x="352425" y="1574899"/>
            <a:ext cx="21580" cy="601712"/>
          </a:xfrm>
          <a:custGeom>
            <a:avLst/>
            <a:gdLst/>
            <a:ahLst/>
            <a:cxnLst/>
            <a:rect l="l" t="t" r="r" b="b"/>
            <a:pathLst>
              <a:path w="21580" h="60171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81620"/>
                </a:lnTo>
                <a:lnTo>
                  <a:pt x="18883" y="578855"/>
                </a:lnTo>
                <a:lnTo>
                  <a:pt x="16185" y="575761"/>
                </a:lnTo>
                <a:lnTo>
                  <a:pt x="13488" y="572264"/>
                </a:lnTo>
                <a:lnTo>
                  <a:pt x="10790" y="568253"/>
                </a:lnTo>
                <a:lnTo>
                  <a:pt x="8093" y="563541"/>
                </a:lnTo>
                <a:lnTo>
                  <a:pt x="5395" y="557764"/>
                </a:lnTo>
                <a:lnTo>
                  <a:pt x="2698" y="549994"/>
                </a:lnTo>
                <a:lnTo>
                  <a:pt x="0" y="530592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3" name="Text 46"/>
          <p:cNvSpPr/>
          <p:nvPr/>
        </p:nvSpPr>
        <p:spPr>
          <a:xfrm>
            <a:off x="352425" y="2252811"/>
            <a:ext cx="21580" cy="601712"/>
          </a:xfrm>
          <a:custGeom>
            <a:avLst/>
            <a:gdLst/>
            <a:ahLst/>
            <a:cxnLst/>
            <a:rect l="l" t="t" r="r" b="b"/>
            <a:pathLst>
              <a:path w="21580" h="60171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81620"/>
                </a:lnTo>
                <a:lnTo>
                  <a:pt x="18883" y="578855"/>
                </a:lnTo>
                <a:lnTo>
                  <a:pt x="16185" y="575761"/>
                </a:lnTo>
                <a:lnTo>
                  <a:pt x="13488" y="572264"/>
                </a:lnTo>
                <a:lnTo>
                  <a:pt x="10790" y="568253"/>
                </a:lnTo>
                <a:lnTo>
                  <a:pt x="8093" y="563541"/>
                </a:lnTo>
                <a:lnTo>
                  <a:pt x="5395" y="557764"/>
                </a:lnTo>
                <a:lnTo>
                  <a:pt x="2698" y="549994"/>
                </a:lnTo>
                <a:lnTo>
                  <a:pt x="0" y="530592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4" name="Text 47"/>
          <p:cNvSpPr/>
          <p:nvPr/>
        </p:nvSpPr>
        <p:spPr>
          <a:xfrm>
            <a:off x="352425" y="2930723"/>
            <a:ext cx="21580" cy="601712"/>
          </a:xfrm>
          <a:custGeom>
            <a:avLst/>
            <a:gdLst/>
            <a:ahLst/>
            <a:cxnLst/>
            <a:rect l="l" t="t" r="r" b="b"/>
            <a:pathLst>
              <a:path w="21580" h="60171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81620"/>
                </a:lnTo>
                <a:lnTo>
                  <a:pt x="18883" y="578855"/>
                </a:lnTo>
                <a:lnTo>
                  <a:pt x="16185" y="575761"/>
                </a:lnTo>
                <a:lnTo>
                  <a:pt x="13488" y="572264"/>
                </a:lnTo>
                <a:lnTo>
                  <a:pt x="10790" y="568253"/>
                </a:lnTo>
                <a:lnTo>
                  <a:pt x="8093" y="563541"/>
                </a:lnTo>
                <a:lnTo>
                  <a:pt x="5395" y="557764"/>
                </a:lnTo>
                <a:lnTo>
                  <a:pt x="2698" y="549994"/>
                </a:lnTo>
                <a:lnTo>
                  <a:pt x="0" y="530592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5" name="Text 48"/>
          <p:cNvSpPr/>
          <p:nvPr/>
        </p:nvSpPr>
        <p:spPr>
          <a:xfrm>
            <a:off x="352425" y="3608636"/>
            <a:ext cx="21580" cy="573733"/>
          </a:xfrm>
          <a:custGeom>
            <a:avLst/>
            <a:gdLst/>
            <a:ahLst/>
            <a:cxnLst/>
            <a:rect l="l" t="t" r="r" b="b"/>
            <a:pathLst>
              <a:path w="21580" h="57373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53641"/>
                </a:lnTo>
                <a:lnTo>
                  <a:pt x="18883" y="550875"/>
                </a:lnTo>
                <a:lnTo>
                  <a:pt x="16185" y="547781"/>
                </a:lnTo>
                <a:lnTo>
                  <a:pt x="13488" y="544285"/>
                </a:lnTo>
                <a:lnTo>
                  <a:pt x="10790" y="540274"/>
                </a:lnTo>
                <a:lnTo>
                  <a:pt x="8093" y="535561"/>
                </a:lnTo>
                <a:lnTo>
                  <a:pt x="5395" y="529784"/>
                </a:lnTo>
                <a:lnTo>
                  <a:pt x="2698" y="522014"/>
                </a:lnTo>
                <a:lnTo>
                  <a:pt x="0" y="502613"/>
                </a:lnTo>
                <a:close/>
              </a:path>
            </a:pathLst>
          </a:custGeom>
          <a:solidFill>
            <a:srgbClr val="00B4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9172575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kern="0" spc="-2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Workplan — </a:t>
            </a:r>
            <a:r>
              <a:rPr lang="en-US" sz="1460" kern="0" spc="-2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 6–9</a:t>
            </a:r>
            <a:r>
              <a:rPr lang="en-US" sz="1460" kern="0" spc="-20">
                <a:solidFill>
                  <a:srgbClr val="E8ED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Timeline Summary</a:t>
            </a:r>
            <a:endParaRPr lang="en-US" sz="1460"/>
          </a:p>
        </p:txBody>
      </p:sp>
      <p:sp>
        <p:nvSpPr>
          <p:cNvPr id="3" name="Text 1"/>
          <p:cNvSpPr/>
          <p:nvPr/>
        </p:nvSpPr>
        <p:spPr>
          <a:xfrm>
            <a:off x="285750" y="563910"/>
            <a:ext cx="429220" cy="21580"/>
          </a:xfrm>
          <a:prstGeom prst="roundRect">
            <a:avLst>
              <a:gd name="adj" fmla="val 64736"/>
            </a:avLst>
          </a:prstGeom>
          <a:solidFill>
            <a:srgbClr val="00B4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85750" y="728960"/>
            <a:ext cx="4269659" cy="226665"/>
          </a:xfrm>
          <a:prstGeom prst="rect">
            <a:avLst/>
          </a:prstGeom>
          <a:noFill/>
          <a:ln/>
        </p:spPr>
        <p:txBody>
          <a:bodyPr wrap="none" lIns="153293" tIns="0" rIns="0" bIns="57150" rtlCol="0" anchor="ctr"/>
          <a:lstStyle/>
          <a:p>
            <a:pPr marL="0" indent="0" algn="l">
              <a:buNone/>
            </a:pPr>
            <a:r>
              <a:rPr lang="en-US" sz="84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Tasks</a:t>
            </a:r>
            <a:endParaRPr lang="en-US" sz="840"/>
          </a:p>
        </p:txBody>
      </p:sp>
      <p:sp>
        <p:nvSpPr>
          <p:cNvPr id="5" name="Text 3"/>
          <p:cNvSpPr/>
          <p:nvPr/>
        </p:nvSpPr>
        <p:spPr>
          <a:xfrm>
            <a:off x="285750" y="946100"/>
            <a:ext cx="4185940" cy="9525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527" y="742587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5750" y="1041946"/>
            <a:ext cx="4185940" cy="653355"/>
          </a:xfrm>
          <a:prstGeom prst="roundRect">
            <a:avLst>
              <a:gd name="adj" fmla="val 8747"/>
            </a:avLst>
          </a:prstGeom>
          <a:solidFill>
            <a:srgbClr val="162032">
              <a:alpha val="70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595" y="1122462"/>
            <a:ext cx="228600" cy="228600"/>
          </a:xfrm>
          <a:prstGeom prst="roundRect">
            <a:avLst>
              <a:gd name="adj" fmla="val 1888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601" y="1170468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186" y="1122462"/>
            <a:ext cx="2482513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Build Operations Database</a:t>
            </a:r>
            <a:endParaRPr lang="en-US" sz="730"/>
          </a:p>
        </p:txBody>
      </p:sp>
      <p:sp>
        <p:nvSpPr>
          <p:cNvPr id="11" name="Text 7"/>
          <p:cNvSpPr/>
          <p:nvPr/>
        </p:nvSpPr>
        <p:spPr>
          <a:xfrm>
            <a:off x="681186" y="1256705"/>
            <a:ext cx="248251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To: </a:t>
            </a: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Samiratou Boro</a:t>
            </a: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Apr 18 – Apr 26, 2026</a:t>
            </a:r>
            <a:endParaRPr lang="en-US" sz="620"/>
          </a:p>
        </p:txBody>
      </p:sp>
      <p:sp>
        <p:nvSpPr>
          <p:cNvPr id="12" name="Text 8"/>
          <p:cNvSpPr/>
          <p:nvPr/>
        </p:nvSpPr>
        <p:spPr>
          <a:xfrm>
            <a:off x="681186" y="1380679"/>
            <a:ext cx="248251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database, tables, relationships, security, populate records</a:t>
            </a:r>
            <a:endParaRPr lang="en-US" sz="620"/>
          </a:p>
        </p:txBody>
      </p:sp>
      <p:sp>
        <p:nvSpPr>
          <p:cNvPr id="13" name="Text 9"/>
          <p:cNvSpPr/>
          <p:nvPr/>
        </p:nvSpPr>
        <p:spPr>
          <a:xfrm>
            <a:off x="681186" y="1504652"/>
            <a:ext cx="2482513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00B4D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Task 2</a:t>
            </a:r>
            <a:endParaRPr lang="en-US" sz="620"/>
          </a:p>
        </p:txBody>
      </p:sp>
      <p:sp>
        <p:nvSpPr>
          <p:cNvPr id="14" name="Text 10"/>
          <p:cNvSpPr/>
          <p:nvPr/>
        </p:nvSpPr>
        <p:spPr>
          <a:xfrm>
            <a:off x="285750" y="1766292"/>
            <a:ext cx="4185940" cy="653355"/>
          </a:xfrm>
          <a:prstGeom prst="roundRect">
            <a:avLst>
              <a:gd name="adj" fmla="val 8747"/>
            </a:avLst>
          </a:prstGeom>
          <a:solidFill>
            <a:srgbClr val="162032">
              <a:alpha val="70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81595" y="1846808"/>
            <a:ext cx="228600" cy="228600"/>
          </a:xfrm>
          <a:prstGeom prst="roundRect">
            <a:avLst>
              <a:gd name="adj" fmla="val 1888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601" y="1894814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186" y="1846808"/>
            <a:ext cx="2988379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7: Testing &amp; Instructor Sign-off</a:t>
            </a:r>
            <a:endParaRPr lang="en-US" sz="730"/>
          </a:p>
        </p:txBody>
      </p:sp>
      <p:sp>
        <p:nvSpPr>
          <p:cNvPr id="18" name="Text 13"/>
          <p:cNvSpPr/>
          <p:nvPr/>
        </p:nvSpPr>
        <p:spPr>
          <a:xfrm>
            <a:off x="681186" y="1981051"/>
            <a:ext cx="29883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To: </a:t>
            </a: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Apr 29 – May 2, 2026</a:t>
            </a:r>
            <a:endParaRPr lang="en-US" sz="620"/>
          </a:p>
        </p:txBody>
      </p:sp>
      <p:sp>
        <p:nvSpPr>
          <p:cNvPr id="19" name="Text 14"/>
          <p:cNvSpPr/>
          <p:nvPr/>
        </p:nvSpPr>
        <p:spPr>
          <a:xfrm>
            <a:off x="681186" y="2105025"/>
            <a:ext cx="29883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AD, scripts, GPOs, database, network diagram; obtain instructor approval</a:t>
            </a:r>
            <a:endParaRPr lang="en-US" sz="620"/>
          </a:p>
        </p:txBody>
      </p:sp>
      <p:sp>
        <p:nvSpPr>
          <p:cNvPr id="20" name="Text 15"/>
          <p:cNvSpPr/>
          <p:nvPr/>
        </p:nvSpPr>
        <p:spPr>
          <a:xfrm>
            <a:off x="681186" y="2228999"/>
            <a:ext cx="29883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00B4D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Tasks 5 &amp; 6</a:t>
            </a:r>
            <a:endParaRPr lang="en-US" sz="620"/>
          </a:p>
        </p:txBody>
      </p:sp>
      <p:sp>
        <p:nvSpPr>
          <p:cNvPr id="21" name="Text 16"/>
          <p:cNvSpPr/>
          <p:nvPr/>
        </p:nvSpPr>
        <p:spPr>
          <a:xfrm>
            <a:off x="285750" y="2490639"/>
            <a:ext cx="4185940" cy="653355"/>
          </a:xfrm>
          <a:prstGeom prst="roundRect">
            <a:avLst>
              <a:gd name="adj" fmla="val 8747"/>
            </a:avLst>
          </a:prstGeom>
          <a:solidFill>
            <a:srgbClr val="162032">
              <a:alpha val="70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81595" y="2571155"/>
            <a:ext cx="228600" cy="228600"/>
          </a:xfrm>
          <a:prstGeom prst="roundRect">
            <a:avLst>
              <a:gd name="adj" fmla="val 1888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601" y="2619161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1186" y="2571155"/>
            <a:ext cx="173320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8: Prepare Presentation</a:t>
            </a:r>
            <a:endParaRPr lang="en-US" sz="730"/>
          </a:p>
        </p:txBody>
      </p:sp>
      <p:sp>
        <p:nvSpPr>
          <p:cNvPr id="25" name="Text 19"/>
          <p:cNvSpPr/>
          <p:nvPr/>
        </p:nvSpPr>
        <p:spPr>
          <a:xfrm>
            <a:off x="681186" y="2705398"/>
            <a:ext cx="173320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To: </a:t>
            </a: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Apr 29 – May 4, 2026</a:t>
            </a:r>
            <a:endParaRPr lang="en-US" sz="620"/>
          </a:p>
        </p:txBody>
      </p:sp>
      <p:sp>
        <p:nvSpPr>
          <p:cNvPr id="26" name="Text 20"/>
          <p:cNvSpPr/>
          <p:nvPr/>
        </p:nvSpPr>
        <p:spPr>
          <a:xfrm>
            <a:off x="681186" y="2829371"/>
            <a:ext cx="173320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slides, rehearse, finalize content</a:t>
            </a:r>
            <a:endParaRPr lang="en-US" sz="620"/>
          </a:p>
        </p:txBody>
      </p:sp>
      <p:sp>
        <p:nvSpPr>
          <p:cNvPr id="27" name="Text 21"/>
          <p:cNvSpPr/>
          <p:nvPr/>
        </p:nvSpPr>
        <p:spPr>
          <a:xfrm>
            <a:off x="681186" y="2953345"/>
            <a:ext cx="173320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00B4D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Tasks 1–6</a:t>
            </a:r>
            <a:endParaRPr lang="en-US" sz="620"/>
          </a:p>
        </p:txBody>
      </p:sp>
      <p:sp>
        <p:nvSpPr>
          <p:cNvPr id="28" name="Text 22"/>
          <p:cNvSpPr/>
          <p:nvPr/>
        </p:nvSpPr>
        <p:spPr>
          <a:xfrm>
            <a:off x="285750" y="3214985"/>
            <a:ext cx="4185940" cy="653355"/>
          </a:xfrm>
          <a:prstGeom prst="roundRect">
            <a:avLst>
              <a:gd name="adj" fmla="val 8747"/>
            </a:avLst>
          </a:prstGeom>
          <a:solidFill>
            <a:srgbClr val="162032">
              <a:alpha val="70000"/>
            </a:srgbClr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81595" y="3295501"/>
            <a:ext cx="228600" cy="228600"/>
          </a:xfrm>
          <a:prstGeom prst="roundRect">
            <a:avLst>
              <a:gd name="adj" fmla="val 18889"/>
            </a:avLst>
          </a:prstGeom>
          <a:solidFill>
            <a:srgbClr val="00B4D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601" y="3343507"/>
            <a:ext cx="132588" cy="1325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1186" y="3295501"/>
            <a:ext cx="1827669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9: Final Presentation</a:t>
            </a:r>
            <a:endParaRPr lang="en-US" sz="730"/>
          </a:p>
        </p:txBody>
      </p:sp>
      <p:sp>
        <p:nvSpPr>
          <p:cNvPr id="32" name="Text 25"/>
          <p:cNvSpPr/>
          <p:nvPr/>
        </p:nvSpPr>
        <p:spPr>
          <a:xfrm>
            <a:off x="681186" y="3429744"/>
            <a:ext cx="182766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To: </a:t>
            </a:r>
            <a:r>
              <a:rPr lang="en-US" sz="62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Members</a:t>
            </a: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May 5, 2026</a:t>
            </a:r>
            <a:endParaRPr lang="en-US" sz="620"/>
          </a:p>
        </p:txBody>
      </p:sp>
      <p:sp>
        <p:nvSpPr>
          <p:cNvPr id="33" name="Text 26"/>
          <p:cNvSpPr/>
          <p:nvPr/>
        </p:nvSpPr>
        <p:spPr>
          <a:xfrm>
            <a:off x="681186" y="3553718"/>
            <a:ext cx="182766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15-minute presentation in class</a:t>
            </a:r>
            <a:endParaRPr lang="en-US" sz="620"/>
          </a:p>
        </p:txBody>
      </p:sp>
      <p:sp>
        <p:nvSpPr>
          <p:cNvPr id="34" name="Text 27"/>
          <p:cNvSpPr/>
          <p:nvPr/>
        </p:nvSpPr>
        <p:spPr>
          <a:xfrm>
            <a:off x="681186" y="3677692"/>
            <a:ext cx="182766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>
                <a:solidFill>
                  <a:srgbClr val="00B4D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Task 8</a:t>
            </a:r>
            <a:endParaRPr lang="en-US" sz="620"/>
          </a:p>
        </p:txBody>
      </p:sp>
      <p:sp>
        <p:nvSpPr>
          <p:cNvPr id="35" name="Text 28"/>
          <p:cNvSpPr/>
          <p:nvPr/>
        </p:nvSpPr>
        <p:spPr>
          <a:xfrm>
            <a:off x="4672310" y="728960"/>
            <a:ext cx="4269659" cy="226665"/>
          </a:xfrm>
          <a:prstGeom prst="rect">
            <a:avLst/>
          </a:prstGeom>
          <a:noFill/>
          <a:ln/>
        </p:spPr>
        <p:txBody>
          <a:bodyPr wrap="none" lIns="153293" tIns="0" rIns="0" bIns="57150" rtlCol="0" anchor="ctr"/>
          <a:lstStyle/>
          <a:p>
            <a:pPr marL="0" indent="0" algn="l">
              <a:buNone/>
            </a:pPr>
            <a:r>
              <a:rPr lang="en-US" sz="84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Summary (Apr 15 – May 5)</a:t>
            </a:r>
            <a:endParaRPr lang="en-US" sz="840"/>
          </a:p>
        </p:txBody>
      </p:sp>
      <p:sp>
        <p:nvSpPr>
          <p:cNvPr id="36" name="Text 29"/>
          <p:cNvSpPr/>
          <p:nvPr/>
        </p:nvSpPr>
        <p:spPr>
          <a:xfrm>
            <a:off x="4672310" y="946100"/>
            <a:ext cx="4185940" cy="9525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4088" y="742587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672310" y="1041946"/>
            <a:ext cx="4185940" cy="1923455"/>
          </a:xfrm>
          <a:prstGeom prst="roundRect">
            <a:avLst>
              <a:gd name="adj" fmla="val 3698"/>
            </a:avLst>
          </a:prstGeom>
          <a:solidFill>
            <a:srgbClr val="162032"/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4681835" y="1051471"/>
            <a:ext cx="1550837" cy="194072"/>
          </a:xfrm>
          <a:prstGeom prst="roundRect">
            <a:avLst>
              <a:gd name="adj" fmla="val 22249"/>
            </a:avLst>
          </a:prstGeom>
          <a:solidFill>
            <a:srgbClr val="00B4D8">
              <a:alpha val="10000"/>
            </a:srgbClr>
          </a:solidFill>
          <a:ln/>
        </p:spPr>
        <p:txBody>
          <a:bodyPr wrap="none" lIns="57150" tIns="49530" rIns="57150" bIns="49530" rtlCol="0" anchor="t"/>
          <a:lstStyle/>
          <a:p>
            <a:pPr marL="0" indent="0" algn="l">
              <a:buNone/>
            </a:pPr>
            <a:r>
              <a:rPr lang="en-US" sz="620" b="1" kern="0" spc="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620"/>
          </a:p>
        </p:txBody>
      </p:sp>
      <p:sp>
        <p:nvSpPr>
          <p:cNvPr id="40" name="Text 32"/>
          <p:cNvSpPr/>
          <p:nvPr/>
        </p:nvSpPr>
        <p:spPr>
          <a:xfrm>
            <a:off x="4681835" y="1236018"/>
            <a:ext cx="1520428" cy="9525"/>
          </a:xfrm>
          <a:custGeom>
            <a:avLst/>
            <a:gdLst/>
            <a:ahLst/>
            <a:cxnLst/>
            <a:rect l="l" t="t" r="r" b="b"/>
            <a:pathLst>
              <a:path w="1520428" h="9525">
                <a:moveTo>
                  <a:pt x="16127" y="0"/>
                </a:moveTo>
                <a:lnTo>
                  <a:pt x="17679" y="1191"/>
                </a:lnTo>
                <a:lnTo>
                  <a:pt x="19391" y="2381"/>
                </a:lnTo>
                <a:lnTo>
                  <a:pt x="21301" y="3572"/>
                </a:lnTo>
                <a:lnTo>
                  <a:pt x="23467" y="4763"/>
                </a:lnTo>
                <a:lnTo>
                  <a:pt x="25984" y="5953"/>
                </a:lnTo>
                <a:lnTo>
                  <a:pt x="29039" y="7144"/>
                </a:lnTo>
                <a:lnTo>
                  <a:pt x="33110" y="8334"/>
                </a:lnTo>
                <a:lnTo>
                  <a:pt x="43180" y="9525"/>
                </a:lnTo>
                <a:lnTo>
                  <a:pt x="1477248" y="9525"/>
                </a:lnTo>
                <a:lnTo>
                  <a:pt x="1487318" y="8334"/>
                </a:lnTo>
                <a:lnTo>
                  <a:pt x="1491389" y="7144"/>
                </a:lnTo>
                <a:lnTo>
                  <a:pt x="1494444" y="5953"/>
                </a:lnTo>
                <a:lnTo>
                  <a:pt x="1496961" y="4763"/>
                </a:lnTo>
                <a:lnTo>
                  <a:pt x="1499127" y="3572"/>
                </a:lnTo>
                <a:lnTo>
                  <a:pt x="1501037" y="2381"/>
                </a:lnTo>
                <a:lnTo>
                  <a:pt x="1502749" y="1191"/>
                </a:lnTo>
                <a:lnTo>
                  <a:pt x="1504301" y="0"/>
                </a:ln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6202263" y="1051471"/>
            <a:ext cx="1302181" cy="194072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  <p:txBody>
          <a:bodyPr wrap="none" lIns="57150" tIns="49530" rIns="57150" bIns="49530" rtlCol="0" anchor="t"/>
          <a:lstStyle/>
          <a:p>
            <a:pPr marL="0" indent="0" algn="l">
              <a:buNone/>
            </a:pPr>
            <a:r>
              <a:rPr lang="en-US" sz="620" b="1" kern="0" spc="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</a:t>
            </a:r>
            <a:endParaRPr lang="en-US" sz="620"/>
          </a:p>
        </p:txBody>
      </p:sp>
      <p:sp>
        <p:nvSpPr>
          <p:cNvPr id="42" name="Text 34"/>
          <p:cNvSpPr/>
          <p:nvPr/>
        </p:nvSpPr>
        <p:spPr>
          <a:xfrm>
            <a:off x="6202263" y="1236018"/>
            <a:ext cx="1276648" cy="9525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7478911" y="1051471"/>
            <a:ext cx="728511" cy="194072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  <p:txBody>
          <a:bodyPr wrap="none" lIns="57150" tIns="49530" rIns="57150" bIns="49530" rtlCol="0" anchor="t"/>
          <a:lstStyle/>
          <a:p>
            <a:pPr marL="0" indent="0" algn="l">
              <a:buNone/>
            </a:pPr>
            <a:r>
              <a:rPr lang="en-US" sz="620" b="1" kern="0" spc="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620"/>
          </a:p>
        </p:txBody>
      </p:sp>
      <p:sp>
        <p:nvSpPr>
          <p:cNvPr id="44" name="Text 36"/>
          <p:cNvSpPr/>
          <p:nvPr/>
        </p:nvSpPr>
        <p:spPr>
          <a:xfrm>
            <a:off x="7478911" y="1236018"/>
            <a:ext cx="714226" cy="9525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8193137" y="1051471"/>
            <a:ext cx="668700" cy="194072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  <p:txBody>
          <a:bodyPr wrap="none" lIns="57150" tIns="49530" rIns="57150" bIns="49530" rtlCol="0" anchor="t"/>
          <a:lstStyle/>
          <a:p>
            <a:pPr marL="0" indent="0" algn="l">
              <a:buNone/>
            </a:pPr>
            <a:r>
              <a:rPr lang="en-US" sz="620" b="1" kern="0" spc="3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620"/>
          </a:p>
        </p:txBody>
      </p:sp>
      <p:sp>
        <p:nvSpPr>
          <p:cNvPr id="46" name="Text 38"/>
          <p:cNvSpPr/>
          <p:nvPr/>
        </p:nvSpPr>
        <p:spPr>
          <a:xfrm>
            <a:off x="8193137" y="1236018"/>
            <a:ext cx="655588" cy="9525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7" name="Text 39"/>
          <p:cNvSpPr/>
          <p:nvPr/>
        </p:nvSpPr>
        <p:spPr>
          <a:xfrm>
            <a:off x="4681835" y="1245543"/>
            <a:ext cx="1550837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</a:t>
            </a:r>
            <a:endParaRPr lang="en-US" sz="650"/>
          </a:p>
        </p:txBody>
      </p:sp>
      <p:sp>
        <p:nvSpPr>
          <p:cNvPr id="48" name="Text 40"/>
          <p:cNvSpPr/>
          <p:nvPr/>
        </p:nvSpPr>
        <p:spPr>
          <a:xfrm>
            <a:off x="4681835" y="1427113"/>
            <a:ext cx="152042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6202263" y="1245543"/>
            <a:ext cx="1302181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Achraf</a:t>
            </a:r>
            <a:endParaRPr lang="en-US" sz="650"/>
          </a:p>
        </p:txBody>
      </p:sp>
      <p:sp>
        <p:nvSpPr>
          <p:cNvPr id="50" name="Text 42"/>
          <p:cNvSpPr/>
          <p:nvPr/>
        </p:nvSpPr>
        <p:spPr>
          <a:xfrm>
            <a:off x="6202263" y="1427113"/>
            <a:ext cx="127664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1" name="Text 43"/>
          <p:cNvSpPr/>
          <p:nvPr/>
        </p:nvSpPr>
        <p:spPr>
          <a:xfrm>
            <a:off x="7478911" y="1245543"/>
            <a:ext cx="728511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</a:t>
            </a:r>
            <a:endParaRPr lang="en-US" sz="650"/>
          </a:p>
        </p:txBody>
      </p:sp>
      <p:sp>
        <p:nvSpPr>
          <p:cNvPr id="52" name="Text 44"/>
          <p:cNvSpPr/>
          <p:nvPr/>
        </p:nvSpPr>
        <p:spPr>
          <a:xfrm>
            <a:off x="7478911" y="1427113"/>
            <a:ext cx="714226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3" name="Text 45"/>
          <p:cNvSpPr/>
          <p:nvPr/>
        </p:nvSpPr>
        <p:spPr>
          <a:xfrm>
            <a:off x="8193137" y="1245543"/>
            <a:ext cx="668700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17</a:t>
            </a:r>
            <a:endParaRPr lang="en-US" sz="650"/>
          </a:p>
        </p:txBody>
      </p:sp>
      <p:sp>
        <p:nvSpPr>
          <p:cNvPr id="54" name="Text 46"/>
          <p:cNvSpPr/>
          <p:nvPr/>
        </p:nvSpPr>
        <p:spPr>
          <a:xfrm>
            <a:off x="8193137" y="1427113"/>
            <a:ext cx="65558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5" name="Text 47"/>
          <p:cNvSpPr/>
          <p:nvPr/>
        </p:nvSpPr>
        <p:spPr>
          <a:xfrm>
            <a:off x="4681835" y="1436638"/>
            <a:ext cx="1550837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650"/>
          </a:p>
        </p:txBody>
      </p:sp>
      <p:sp>
        <p:nvSpPr>
          <p:cNvPr id="56" name="Text 48"/>
          <p:cNvSpPr/>
          <p:nvPr/>
        </p:nvSpPr>
        <p:spPr>
          <a:xfrm>
            <a:off x="4681835" y="1618208"/>
            <a:ext cx="152042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7" name="Text 49"/>
          <p:cNvSpPr/>
          <p:nvPr/>
        </p:nvSpPr>
        <p:spPr>
          <a:xfrm>
            <a:off x="6202263" y="1436638"/>
            <a:ext cx="1302181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Achraf</a:t>
            </a:r>
            <a:endParaRPr lang="en-US" sz="650"/>
          </a:p>
        </p:txBody>
      </p:sp>
      <p:sp>
        <p:nvSpPr>
          <p:cNvPr id="58" name="Text 50"/>
          <p:cNvSpPr/>
          <p:nvPr/>
        </p:nvSpPr>
        <p:spPr>
          <a:xfrm>
            <a:off x="6202263" y="1618208"/>
            <a:ext cx="127664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9" name="Text 51"/>
          <p:cNvSpPr/>
          <p:nvPr/>
        </p:nvSpPr>
        <p:spPr>
          <a:xfrm>
            <a:off x="7478911" y="1436638"/>
            <a:ext cx="728511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</a:t>
            </a:r>
            <a:endParaRPr lang="en-US" sz="650"/>
          </a:p>
        </p:txBody>
      </p:sp>
      <p:sp>
        <p:nvSpPr>
          <p:cNvPr id="60" name="Text 52"/>
          <p:cNvSpPr/>
          <p:nvPr/>
        </p:nvSpPr>
        <p:spPr>
          <a:xfrm>
            <a:off x="7478911" y="1618208"/>
            <a:ext cx="714226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1" name="Text 53"/>
          <p:cNvSpPr/>
          <p:nvPr/>
        </p:nvSpPr>
        <p:spPr>
          <a:xfrm>
            <a:off x="8193137" y="1436638"/>
            <a:ext cx="668700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</a:t>
            </a:r>
            <a:endParaRPr lang="en-US" sz="650"/>
          </a:p>
        </p:txBody>
      </p:sp>
      <p:sp>
        <p:nvSpPr>
          <p:cNvPr id="62" name="Text 54"/>
          <p:cNvSpPr/>
          <p:nvPr/>
        </p:nvSpPr>
        <p:spPr>
          <a:xfrm>
            <a:off x="8193137" y="1618208"/>
            <a:ext cx="65558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3" name="Text 55"/>
          <p:cNvSpPr/>
          <p:nvPr/>
        </p:nvSpPr>
        <p:spPr>
          <a:xfrm>
            <a:off x="4681835" y="1627733"/>
            <a:ext cx="1550837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650"/>
          </a:p>
        </p:txBody>
      </p:sp>
      <p:sp>
        <p:nvSpPr>
          <p:cNvPr id="64" name="Text 56"/>
          <p:cNvSpPr/>
          <p:nvPr/>
        </p:nvSpPr>
        <p:spPr>
          <a:xfrm>
            <a:off x="4681835" y="1809304"/>
            <a:ext cx="152042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5" name="Text 57"/>
          <p:cNvSpPr/>
          <p:nvPr/>
        </p:nvSpPr>
        <p:spPr>
          <a:xfrm>
            <a:off x="6202263" y="1627733"/>
            <a:ext cx="1302181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650"/>
          </a:p>
        </p:txBody>
      </p:sp>
      <p:sp>
        <p:nvSpPr>
          <p:cNvPr id="66" name="Text 58"/>
          <p:cNvSpPr/>
          <p:nvPr/>
        </p:nvSpPr>
        <p:spPr>
          <a:xfrm>
            <a:off x="6202263" y="1809304"/>
            <a:ext cx="127664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7" name="Text 59"/>
          <p:cNvSpPr/>
          <p:nvPr/>
        </p:nvSpPr>
        <p:spPr>
          <a:xfrm>
            <a:off x="7478911" y="1627733"/>
            <a:ext cx="728511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</a:t>
            </a:r>
            <a:endParaRPr lang="en-US" sz="650"/>
          </a:p>
        </p:txBody>
      </p:sp>
      <p:sp>
        <p:nvSpPr>
          <p:cNvPr id="68" name="Text 60"/>
          <p:cNvSpPr/>
          <p:nvPr/>
        </p:nvSpPr>
        <p:spPr>
          <a:xfrm>
            <a:off x="7478911" y="1809304"/>
            <a:ext cx="714226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9" name="Text 61"/>
          <p:cNvSpPr/>
          <p:nvPr/>
        </p:nvSpPr>
        <p:spPr>
          <a:xfrm>
            <a:off x="8193137" y="1627733"/>
            <a:ext cx="668700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19</a:t>
            </a:r>
            <a:endParaRPr lang="en-US" sz="650"/>
          </a:p>
        </p:txBody>
      </p:sp>
      <p:sp>
        <p:nvSpPr>
          <p:cNvPr id="70" name="Text 62"/>
          <p:cNvSpPr/>
          <p:nvPr/>
        </p:nvSpPr>
        <p:spPr>
          <a:xfrm>
            <a:off x="8193137" y="1809304"/>
            <a:ext cx="65558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1" name="Text 63"/>
          <p:cNvSpPr/>
          <p:nvPr/>
        </p:nvSpPr>
        <p:spPr>
          <a:xfrm>
            <a:off x="4681835" y="1818829"/>
            <a:ext cx="1550837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Diagram</a:t>
            </a:r>
            <a:endParaRPr lang="en-US" sz="650"/>
          </a:p>
        </p:txBody>
      </p:sp>
      <p:sp>
        <p:nvSpPr>
          <p:cNvPr id="72" name="Text 64"/>
          <p:cNvSpPr/>
          <p:nvPr/>
        </p:nvSpPr>
        <p:spPr>
          <a:xfrm>
            <a:off x="4681835" y="2000399"/>
            <a:ext cx="152042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3" name="Text 65"/>
          <p:cNvSpPr/>
          <p:nvPr/>
        </p:nvSpPr>
        <p:spPr>
          <a:xfrm>
            <a:off x="6202263" y="1818829"/>
            <a:ext cx="1302181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650"/>
          </a:p>
        </p:txBody>
      </p:sp>
      <p:sp>
        <p:nvSpPr>
          <p:cNvPr id="74" name="Text 66"/>
          <p:cNvSpPr/>
          <p:nvPr/>
        </p:nvSpPr>
        <p:spPr>
          <a:xfrm>
            <a:off x="6202263" y="2000399"/>
            <a:ext cx="127664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5" name="Text 67"/>
          <p:cNvSpPr/>
          <p:nvPr/>
        </p:nvSpPr>
        <p:spPr>
          <a:xfrm>
            <a:off x="7478911" y="1818829"/>
            <a:ext cx="728511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</a:t>
            </a:r>
            <a:endParaRPr lang="en-US" sz="650"/>
          </a:p>
        </p:txBody>
      </p:sp>
      <p:sp>
        <p:nvSpPr>
          <p:cNvPr id="76" name="Text 68"/>
          <p:cNvSpPr/>
          <p:nvPr/>
        </p:nvSpPr>
        <p:spPr>
          <a:xfrm>
            <a:off x="7478911" y="2000399"/>
            <a:ext cx="714226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7" name="Text 69"/>
          <p:cNvSpPr/>
          <p:nvPr/>
        </p:nvSpPr>
        <p:spPr>
          <a:xfrm>
            <a:off x="8193137" y="1818829"/>
            <a:ext cx="668700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24</a:t>
            </a:r>
            <a:endParaRPr lang="en-US" sz="650"/>
          </a:p>
        </p:txBody>
      </p:sp>
      <p:sp>
        <p:nvSpPr>
          <p:cNvPr id="78" name="Text 70"/>
          <p:cNvSpPr/>
          <p:nvPr/>
        </p:nvSpPr>
        <p:spPr>
          <a:xfrm>
            <a:off x="8193137" y="2000399"/>
            <a:ext cx="65558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9" name="Text 71"/>
          <p:cNvSpPr/>
          <p:nvPr/>
        </p:nvSpPr>
        <p:spPr>
          <a:xfrm>
            <a:off x="4681835" y="2009924"/>
            <a:ext cx="1550837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</a:t>
            </a:r>
            <a:endParaRPr lang="en-US" sz="650"/>
          </a:p>
        </p:txBody>
      </p:sp>
      <p:sp>
        <p:nvSpPr>
          <p:cNvPr id="80" name="Text 72"/>
          <p:cNvSpPr/>
          <p:nvPr/>
        </p:nvSpPr>
        <p:spPr>
          <a:xfrm>
            <a:off x="4681835" y="2191494"/>
            <a:ext cx="152042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1" name="Text 73"/>
          <p:cNvSpPr/>
          <p:nvPr/>
        </p:nvSpPr>
        <p:spPr>
          <a:xfrm>
            <a:off x="6202263" y="2009924"/>
            <a:ext cx="1302181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&amp; Calib</a:t>
            </a:r>
            <a:endParaRPr lang="en-US" sz="650"/>
          </a:p>
        </p:txBody>
      </p:sp>
      <p:sp>
        <p:nvSpPr>
          <p:cNvPr id="82" name="Text 74"/>
          <p:cNvSpPr/>
          <p:nvPr/>
        </p:nvSpPr>
        <p:spPr>
          <a:xfrm>
            <a:off x="6202263" y="2191494"/>
            <a:ext cx="127664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3" name="Text 75"/>
          <p:cNvSpPr/>
          <p:nvPr/>
        </p:nvSpPr>
        <p:spPr>
          <a:xfrm>
            <a:off x="7478911" y="2009924"/>
            <a:ext cx="728511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</a:t>
            </a:r>
            <a:endParaRPr lang="en-US" sz="650"/>
          </a:p>
        </p:txBody>
      </p:sp>
      <p:sp>
        <p:nvSpPr>
          <p:cNvPr id="84" name="Text 76"/>
          <p:cNvSpPr/>
          <p:nvPr/>
        </p:nvSpPr>
        <p:spPr>
          <a:xfrm>
            <a:off x="7478911" y="2191494"/>
            <a:ext cx="714226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5" name="Text 77"/>
          <p:cNvSpPr/>
          <p:nvPr/>
        </p:nvSpPr>
        <p:spPr>
          <a:xfrm>
            <a:off x="8193137" y="2009924"/>
            <a:ext cx="668700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</a:t>
            </a:r>
            <a:endParaRPr lang="en-US" sz="650"/>
          </a:p>
        </p:txBody>
      </p:sp>
      <p:sp>
        <p:nvSpPr>
          <p:cNvPr id="86" name="Text 78"/>
          <p:cNvSpPr/>
          <p:nvPr/>
        </p:nvSpPr>
        <p:spPr>
          <a:xfrm>
            <a:off x="8193137" y="2191494"/>
            <a:ext cx="65558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7" name="Text 79"/>
          <p:cNvSpPr/>
          <p:nvPr/>
        </p:nvSpPr>
        <p:spPr>
          <a:xfrm>
            <a:off x="4681835" y="2201019"/>
            <a:ext cx="1550837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Build</a:t>
            </a:r>
            <a:endParaRPr lang="en-US" sz="650"/>
          </a:p>
        </p:txBody>
      </p:sp>
      <p:sp>
        <p:nvSpPr>
          <p:cNvPr id="88" name="Text 80"/>
          <p:cNvSpPr/>
          <p:nvPr/>
        </p:nvSpPr>
        <p:spPr>
          <a:xfrm>
            <a:off x="4681835" y="2382589"/>
            <a:ext cx="152042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9" name="Text 81"/>
          <p:cNvSpPr/>
          <p:nvPr/>
        </p:nvSpPr>
        <p:spPr>
          <a:xfrm>
            <a:off x="6202263" y="2201019"/>
            <a:ext cx="1302181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Samiratou</a:t>
            </a:r>
            <a:endParaRPr lang="en-US" sz="650"/>
          </a:p>
        </p:txBody>
      </p:sp>
      <p:sp>
        <p:nvSpPr>
          <p:cNvPr id="90" name="Text 82"/>
          <p:cNvSpPr/>
          <p:nvPr/>
        </p:nvSpPr>
        <p:spPr>
          <a:xfrm>
            <a:off x="6202263" y="2382589"/>
            <a:ext cx="127664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1" name="Text 83"/>
          <p:cNvSpPr/>
          <p:nvPr/>
        </p:nvSpPr>
        <p:spPr>
          <a:xfrm>
            <a:off x="7478911" y="2201019"/>
            <a:ext cx="728511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</a:t>
            </a:r>
            <a:endParaRPr lang="en-US" sz="650"/>
          </a:p>
        </p:txBody>
      </p:sp>
      <p:sp>
        <p:nvSpPr>
          <p:cNvPr id="92" name="Text 84"/>
          <p:cNvSpPr/>
          <p:nvPr/>
        </p:nvSpPr>
        <p:spPr>
          <a:xfrm>
            <a:off x="7478911" y="2382589"/>
            <a:ext cx="714226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3" name="Text 85"/>
          <p:cNvSpPr/>
          <p:nvPr/>
        </p:nvSpPr>
        <p:spPr>
          <a:xfrm>
            <a:off x="8193137" y="2201019"/>
            <a:ext cx="668700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26</a:t>
            </a:r>
            <a:endParaRPr lang="en-US" sz="650"/>
          </a:p>
        </p:txBody>
      </p:sp>
      <p:sp>
        <p:nvSpPr>
          <p:cNvPr id="94" name="Text 86"/>
          <p:cNvSpPr/>
          <p:nvPr/>
        </p:nvSpPr>
        <p:spPr>
          <a:xfrm>
            <a:off x="8193137" y="2382589"/>
            <a:ext cx="65558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5" name="Text 87"/>
          <p:cNvSpPr/>
          <p:nvPr/>
        </p:nvSpPr>
        <p:spPr>
          <a:xfrm>
            <a:off x="4681835" y="2392114"/>
            <a:ext cx="1550837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Sign-off</a:t>
            </a:r>
            <a:endParaRPr lang="en-US" sz="650"/>
          </a:p>
        </p:txBody>
      </p:sp>
      <p:sp>
        <p:nvSpPr>
          <p:cNvPr id="96" name="Text 88"/>
          <p:cNvSpPr/>
          <p:nvPr/>
        </p:nvSpPr>
        <p:spPr>
          <a:xfrm>
            <a:off x="4681835" y="2573685"/>
            <a:ext cx="152042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7" name="Text 89"/>
          <p:cNvSpPr/>
          <p:nvPr/>
        </p:nvSpPr>
        <p:spPr>
          <a:xfrm>
            <a:off x="6202263" y="2392114"/>
            <a:ext cx="1302181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650"/>
          </a:p>
        </p:txBody>
      </p:sp>
      <p:sp>
        <p:nvSpPr>
          <p:cNvPr id="98" name="Text 90"/>
          <p:cNvSpPr/>
          <p:nvPr/>
        </p:nvSpPr>
        <p:spPr>
          <a:xfrm>
            <a:off x="6202263" y="2573685"/>
            <a:ext cx="127664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99" name="Text 91"/>
          <p:cNvSpPr/>
          <p:nvPr/>
        </p:nvSpPr>
        <p:spPr>
          <a:xfrm>
            <a:off x="7478911" y="2392114"/>
            <a:ext cx="728511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29</a:t>
            </a:r>
            <a:endParaRPr lang="en-US" sz="650"/>
          </a:p>
        </p:txBody>
      </p:sp>
      <p:sp>
        <p:nvSpPr>
          <p:cNvPr id="100" name="Text 92"/>
          <p:cNvSpPr/>
          <p:nvPr/>
        </p:nvSpPr>
        <p:spPr>
          <a:xfrm>
            <a:off x="7478911" y="2573685"/>
            <a:ext cx="714226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8193137" y="2392114"/>
            <a:ext cx="668700" cy="191095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</a:t>
            </a:r>
            <a:endParaRPr lang="en-US" sz="650"/>
          </a:p>
        </p:txBody>
      </p:sp>
      <p:sp>
        <p:nvSpPr>
          <p:cNvPr id="102" name="Text 94"/>
          <p:cNvSpPr/>
          <p:nvPr/>
        </p:nvSpPr>
        <p:spPr>
          <a:xfrm>
            <a:off x="8193137" y="2573685"/>
            <a:ext cx="65558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3" name="Text 95"/>
          <p:cNvSpPr/>
          <p:nvPr/>
        </p:nvSpPr>
        <p:spPr>
          <a:xfrm>
            <a:off x="4681835" y="2583210"/>
            <a:ext cx="1550837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</a:t>
            </a:r>
            <a:endParaRPr lang="en-US" sz="650"/>
          </a:p>
        </p:txBody>
      </p:sp>
      <p:sp>
        <p:nvSpPr>
          <p:cNvPr id="104" name="Text 96"/>
          <p:cNvSpPr/>
          <p:nvPr/>
        </p:nvSpPr>
        <p:spPr>
          <a:xfrm>
            <a:off x="4681835" y="2764780"/>
            <a:ext cx="152042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5" name="Text 97"/>
          <p:cNvSpPr/>
          <p:nvPr/>
        </p:nvSpPr>
        <p:spPr>
          <a:xfrm>
            <a:off x="6202263" y="2583210"/>
            <a:ext cx="1302181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</a:t>
            </a:r>
            <a:endParaRPr lang="en-US" sz="650"/>
          </a:p>
        </p:txBody>
      </p:sp>
      <p:sp>
        <p:nvSpPr>
          <p:cNvPr id="106" name="Text 98"/>
          <p:cNvSpPr/>
          <p:nvPr/>
        </p:nvSpPr>
        <p:spPr>
          <a:xfrm>
            <a:off x="6202263" y="2764780"/>
            <a:ext cx="127664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7" name="Text 99"/>
          <p:cNvSpPr/>
          <p:nvPr/>
        </p:nvSpPr>
        <p:spPr>
          <a:xfrm>
            <a:off x="7478911" y="2583210"/>
            <a:ext cx="728511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29</a:t>
            </a:r>
            <a:endParaRPr lang="en-US" sz="650"/>
          </a:p>
        </p:txBody>
      </p:sp>
      <p:sp>
        <p:nvSpPr>
          <p:cNvPr id="108" name="Text 100"/>
          <p:cNvSpPr/>
          <p:nvPr/>
        </p:nvSpPr>
        <p:spPr>
          <a:xfrm>
            <a:off x="7478911" y="2764780"/>
            <a:ext cx="714226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9" name="Text 101"/>
          <p:cNvSpPr/>
          <p:nvPr/>
        </p:nvSpPr>
        <p:spPr>
          <a:xfrm>
            <a:off x="8193137" y="2583210"/>
            <a:ext cx="668700" cy="191095"/>
          </a:xfrm>
          <a:prstGeom prst="rect">
            <a:avLst/>
          </a:prstGeom>
          <a:solidFill>
            <a:srgbClr val="162032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</a:t>
            </a:r>
            <a:endParaRPr lang="en-US" sz="650"/>
          </a:p>
        </p:txBody>
      </p:sp>
      <p:sp>
        <p:nvSpPr>
          <p:cNvPr id="110" name="Text 102"/>
          <p:cNvSpPr/>
          <p:nvPr/>
        </p:nvSpPr>
        <p:spPr>
          <a:xfrm>
            <a:off x="8193137" y="2764780"/>
            <a:ext cx="655588" cy="9525"/>
          </a:xfrm>
          <a:prstGeom prst="rect">
            <a:avLst/>
          </a:prstGeom>
          <a:solidFill>
            <a:srgbClr val="8899B0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1" name="Text 103"/>
          <p:cNvSpPr/>
          <p:nvPr/>
        </p:nvSpPr>
        <p:spPr>
          <a:xfrm>
            <a:off x="4681835" y="2774305"/>
            <a:ext cx="1550837" cy="18157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650"/>
          </a:p>
        </p:txBody>
      </p:sp>
      <p:sp>
        <p:nvSpPr>
          <p:cNvPr id="112" name="Text 104"/>
          <p:cNvSpPr/>
          <p:nvPr/>
        </p:nvSpPr>
        <p:spPr>
          <a:xfrm>
            <a:off x="6202263" y="2774305"/>
            <a:ext cx="1302181" cy="18157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</a:t>
            </a:r>
            <a:endParaRPr lang="en-US" sz="650"/>
          </a:p>
        </p:txBody>
      </p:sp>
      <p:sp>
        <p:nvSpPr>
          <p:cNvPr id="113" name="Text 105"/>
          <p:cNvSpPr/>
          <p:nvPr/>
        </p:nvSpPr>
        <p:spPr>
          <a:xfrm>
            <a:off x="7478911" y="2774305"/>
            <a:ext cx="728511" cy="18157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650"/>
          </a:p>
        </p:txBody>
      </p:sp>
      <p:sp>
        <p:nvSpPr>
          <p:cNvPr id="114" name="Text 106"/>
          <p:cNvSpPr/>
          <p:nvPr/>
        </p:nvSpPr>
        <p:spPr>
          <a:xfrm>
            <a:off x="8193137" y="2774305"/>
            <a:ext cx="668700" cy="18157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6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650"/>
          </a:p>
        </p:txBody>
      </p:sp>
      <p:sp>
        <p:nvSpPr>
          <p:cNvPr id="115" name="Text 107"/>
          <p:cNvSpPr/>
          <p:nvPr/>
        </p:nvSpPr>
        <p:spPr>
          <a:xfrm>
            <a:off x="4672310" y="3065711"/>
            <a:ext cx="4185940" cy="623441"/>
          </a:xfrm>
          <a:prstGeom prst="roundRect">
            <a:avLst>
              <a:gd name="adj" fmla="val 9167"/>
            </a:avLst>
          </a:prstGeom>
          <a:solidFill>
            <a:srgbClr val="162032"/>
          </a:solidFill>
          <a:ln w="9525">
            <a:solidFill>
              <a:srgbClr val="00B4D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6" name="Text 108"/>
          <p:cNvSpPr/>
          <p:nvPr/>
        </p:nvSpPr>
        <p:spPr>
          <a:xfrm>
            <a:off x="4782145" y="3161556"/>
            <a:ext cx="43628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DURATION</a:t>
            </a:r>
            <a:endParaRPr lang="en-US" sz="560"/>
          </a:p>
        </p:txBody>
      </p:sp>
      <p:sp>
        <p:nvSpPr>
          <p:cNvPr id="117" name="Text 109"/>
          <p:cNvSpPr/>
          <p:nvPr/>
        </p:nvSpPr>
        <p:spPr>
          <a:xfrm>
            <a:off x="4782145" y="3325416"/>
            <a:ext cx="2547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</a:t>
            </a:r>
            <a:endParaRPr lang="en-US" sz="620"/>
          </a:p>
        </p:txBody>
      </p:sp>
      <p:sp>
        <p:nvSpPr>
          <p:cNvPr id="118" name="Text 110"/>
          <p:cNvSpPr/>
          <p:nvPr/>
        </p:nvSpPr>
        <p:spPr>
          <a:xfrm>
            <a:off x="5070872" y="3355777"/>
            <a:ext cx="3406378" cy="57150"/>
          </a:xfrm>
          <a:prstGeom prst="roundRect">
            <a:avLst>
              <a:gd name="adj" fmla="val 51111"/>
            </a:avLst>
          </a:prstGeom>
          <a:solidFill>
            <a:srgbClr val="8899B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9" name="Text 111"/>
          <p:cNvSpPr/>
          <p:nvPr/>
        </p:nvSpPr>
        <p:spPr>
          <a:xfrm>
            <a:off x="5070872" y="3355777"/>
            <a:ext cx="2214116" cy="57150"/>
          </a:xfrm>
          <a:prstGeom prst="roundRect">
            <a:avLst>
              <a:gd name="adj" fmla="val 51111"/>
            </a:avLst>
          </a:prstGeom>
          <a:gradFill rotWithShape="1">
            <a:gsLst>
              <a:gs pos="0">
                <a:srgbClr val="00B4D8"/>
              </a:gs>
              <a:gs pos="100000">
                <a:srgbClr val="0077B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0" name="Text 112"/>
          <p:cNvSpPr/>
          <p:nvPr/>
        </p:nvSpPr>
        <p:spPr>
          <a:xfrm>
            <a:off x="7284988" y="3355777"/>
            <a:ext cx="170259" cy="5715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1" name="Text 113"/>
          <p:cNvSpPr/>
          <p:nvPr/>
        </p:nvSpPr>
        <p:spPr>
          <a:xfrm>
            <a:off x="8534400" y="3325416"/>
            <a:ext cx="23541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</a:t>
            </a:r>
            <a:endParaRPr lang="en-US" sz="620"/>
          </a:p>
        </p:txBody>
      </p:sp>
      <p:sp>
        <p:nvSpPr>
          <p:cNvPr id="122" name="Text 114"/>
          <p:cNvSpPr/>
          <p:nvPr/>
        </p:nvSpPr>
        <p:spPr>
          <a:xfrm>
            <a:off x="4782145" y="3486596"/>
            <a:ext cx="63994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Today (Apr 28)</a:t>
            </a:r>
            <a:endParaRPr lang="en-US" sz="560"/>
          </a:p>
        </p:txBody>
      </p:sp>
      <p:sp>
        <p:nvSpPr>
          <p:cNvPr id="123" name="Text 115"/>
          <p:cNvSpPr/>
          <p:nvPr/>
        </p:nvSpPr>
        <p:spPr>
          <a:xfrm>
            <a:off x="7911703" y="3486596"/>
            <a:ext cx="92038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 total · 7 remaining</a:t>
            </a:r>
            <a:endParaRPr lang="en-US" sz="5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35</Slides>
  <Notes>34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revision>2</cp:revision>
  <dcterms:created xsi:type="dcterms:W3CDTF">2026-04-28T23:29:23Z</dcterms:created>
  <dcterms:modified xsi:type="dcterms:W3CDTF">2026-09-29T22:32:33Z</dcterms:modified>
</cp:coreProperties>
</file>